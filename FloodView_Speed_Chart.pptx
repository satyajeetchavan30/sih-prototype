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 practice</c:v>
                </c:pt>
              </c:strCache>
            </c:strRef>
          </c:tx>
          <c:spPr>
            <a:solidFill>
              <a:srgbClr val="7A879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52514E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DEM + data preparation</c:v>
                  </c:pt>
                  <c:pt idx="1">
                    <c:v>Grid / mesh setup</c:v>
                  </c:pt>
                  <c:pt idx="2">
                    <c:v>Simulation run</c:v>
                  </c:pt>
                  <c:pt idx="3">
                    <c:v>Export + map products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360</c:v>
                </c:pt>
                <c:pt idx="1">
                  <c:v>240</c:v>
                </c:pt>
                <c:pt idx="2">
                  <c:v>240</c:v>
                </c:pt>
                <c:pt idx="3">
                  <c:v>120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FloodView</c:v>
                </c:pt>
              </c:strCache>
            </c:strRef>
          </c:tx>
          <c:spPr>
            <a:solidFill>
              <a:srgbClr val="1C5CA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52514E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DEM + data preparation</c:v>
                  </c:pt>
                  <c:pt idx="1">
                    <c:v>Grid / mesh setup</c:v>
                  </c:pt>
                  <c:pt idx="2">
                    <c:v>Simulation run</c:v>
                  </c:pt>
                  <c:pt idx="3">
                    <c:v>Export + map products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12</c:v>
                </c:pt>
                <c:pt idx="1">
                  <c:v>3</c:v>
                </c:pt>
                <c:pt idx="2">
                  <c:v>35</c:v>
                </c:pt>
                <c:pt idx="3">
                  <c:v>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52514E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B0B0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1E0D9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850" b="0" i="0" u="none" strike="noStrike">
                    <a:solidFill>
                      <a:srgbClr val="898781"/>
                    </a:solidFill>
                    <a:latin typeface="Arial"/>
                  </a:defRPr>
                </a:pPr>
                <a:r>
                  <a:rPr sz="850" b="0" i="0" u="none" strike="noStrike">
                    <a:solidFill>
                      <a:srgbClr val="898781"/>
                    </a:solidFill>
                    <a:latin typeface="Arial"/>
                  </a:rPr>
                  <a:t>Minutes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98781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00">
              <a:solidFill>
                <a:srgbClr val="52514E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65176" y="237744"/>
            <a:ext cx="6144768" cy="3886200"/>
          </a:xfrm>
          <a:prstGeom prst="roundRect">
            <a:avLst>
              <a:gd name="adj" fmla="val 941"/>
            </a:avLst>
          </a:prstGeom>
          <a:solidFill>
            <a:srgbClr val="FFFFFF"/>
          </a:solidFill>
          <a:ln w="15875">
            <a:solidFill>
              <a:srgbClr val="D6DEE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36576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a decision-ready flood map</a:t>
            </a:r>
            <a:endParaRPr lang="en-US" sz="1350" dirty="0"/>
          </a:p>
        </p:txBody>
      </p:sp>
      <p:sp>
        <p:nvSpPr>
          <p:cNvPr id="4" name="Text 2"/>
          <p:cNvSpPr txBox="1"/>
          <p:nvPr/>
        </p:nvSpPr>
        <p:spPr>
          <a:xfrm>
            <a:off x="411480" y="603504"/>
            <a:ext cx="5852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 per stage — 60 km domain, single dam</a:t>
            </a:r>
            <a:endParaRPr lang="en-US" sz="8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56616" y="841248"/>
          <a:ext cx="5943600" cy="248716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411480" y="3364992"/>
            <a:ext cx="5852160" cy="0"/>
          </a:xfrm>
          <a:prstGeom prst="line">
            <a:avLst/>
          </a:prstGeom>
          <a:noFill/>
          <a:ln w="9525">
            <a:solidFill>
              <a:srgbClr val="E1E0D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11480" y="3438144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 </a:t>
            </a:r>
            <a:pPr algn="l" indent="0" marL="0">
              <a:buNone/>
            </a:pPr>
            <a:r>
              <a:rPr lang="en-US" sz="1300" b="1" dirty="0">
                <a:solidFill>
                  <a:srgbClr val="7A87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hours</a:t>
            </a:r>
            <a:pPr algn="l" indent="0" marL="0">
              <a:buNone/>
            </a:pPr>
            <a:r>
              <a:rPr lang="en-US" sz="1200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 </a:t>
            </a:r>
            <a:pPr algn="l" indent="0" marL="0">
              <a:buNone/>
            </a:pPr>
            <a:r>
              <a:rPr lang="en-US" sz="1500" b="1" dirty="0">
                <a:solidFill>
                  <a:srgbClr val="1C5C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 minutes</a:t>
            </a:r>
            <a:pPr algn="l" indent="0" marL="0">
              <a:buNone/>
            </a:pPr>
            <a:r>
              <a:rPr lang="en-US" sz="9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17× faster end to end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411480" y="374904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700" i="1" dirty="0">
                <a:solidFill>
                  <a:srgbClr val="8987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Current-practice figures are mid-range setup and runtime for Delft3D FM / HEC-RAS 2D on an equivalent domain; FloodView figures are measured on the prototype.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Time to a decision-ready flood map</dc:title>
  <dc:subject>PptxGenJS Presentation</dc:subject>
  <dc:creator>PptxGenJS</dc:creator>
  <cp:lastModifiedBy>PptxGenJS</cp:lastModifiedBy>
  <cp:revision>1</cp:revision>
  <dcterms:created xsi:type="dcterms:W3CDTF">2026-09-04T12:36:58Z</dcterms:created>
  <dcterms:modified xsi:type="dcterms:W3CDTF">2026-09-04T12:36:58Z</dcterms:modified>
</cp:coreProperties>
</file>