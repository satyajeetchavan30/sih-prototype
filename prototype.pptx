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300" b="1" i="0" dirty="0">
                <a:solidFill>
                  <a:srgbClr val="1F2933"/>
                </a:solidFill>
                <a:latin typeface="Calibri"/>
              </a:rPr>
              <a:t>Problem Statement ID —</a:t>
            </a:r>
            <a:r>
              <a:rPr sz="1300" b="0" i="0" dirty="0">
                <a:solidFill>
                  <a:srgbClr val="1F2933"/>
                </a:solidFill>
                <a:latin typeface="Calibri"/>
              </a:rPr>
              <a:t>  26161</a:t>
            </a:r>
            <a:endParaRPr lang="en-US" dirty="0"/>
          </a:p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300" b="1" i="0" dirty="0">
                <a:solidFill>
                  <a:srgbClr val="1F2933"/>
                </a:solidFill>
                <a:latin typeface="Calibri"/>
              </a:rPr>
              <a:t>Problem Statement Title —</a:t>
            </a:r>
            <a:r>
              <a:rPr sz="1300" b="0" i="0" dirty="0">
                <a:solidFill>
                  <a:srgbClr val="1F2933"/>
                </a:solidFill>
                <a:latin typeface="Calibri"/>
              </a:rPr>
              <a:t>  Dam Break Inundation Modelling Using Hydrodynamic Modelling of any River</a:t>
            </a:r>
          </a:p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300" b="1" i="0" dirty="0">
                <a:solidFill>
                  <a:srgbClr val="1F2933"/>
                </a:solidFill>
                <a:latin typeface="Calibri"/>
              </a:rPr>
              <a:t>Theme —</a:t>
            </a:r>
            <a:r>
              <a:rPr sz="1300" b="0" i="0" dirty="0">
                <a:solidFill>
                  <a:srgbClr val="1F2933"/>
                </a:solidFill>
                <a:latin typeface="Calibri"/>
              </a:rPr>
              <a:t>  Disaster Management</a:t>
            </a:r>
          </a:p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300" b="1" i="0" dirty="0">
                <a:solidFill>
                  <a:srgbClr val="1F2933"/>
                </a:solidFill>
                <a:latin typeface="Calibri"/>
              </a:rPr>
              <a:t>PS Category —</a:t>
            </a:r>
            <a:r>
              <a:rPr sz="1300" b="0" i="0" dirty="0">
                <a:solidFill>
                  <a:srgbClr val="1F2933"/>
                </a:solidFill>
                <a:latin typeface="Calibri"/>
              </a:rPr>
              <a:t>  Software</a:t>
            </a:r>
          </a:p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300" b="1" i="0" dirty="0">
                <a:solidFill>
                  <a:srgbClr val="1F2933"/>
                </a:solidFill>
                <a:latin typeface="Calibri"/>
              </a:rPr>
              <a:t>Team ID —</a:t>
            </a:r>
            <a:r>
              <a:rPr sz="1300" b="0" i="0" dirty="0">
                <a:solidFill>
                  <a:srgbClr val="1F2933"/>
                </a:solidFill>
                <a:latin typeface="Calibri"/>
              </a:rPr>
              <a:t>  &lt;Team ID from SIH portal&gt;</a:t>
            </a:r>
          </a:p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300" b="1" i="0" dirty="0">
                <a:solidFill>
                  <a:srgbClr val="1F2933"/>
                </a:solidFill>
                <a:latin typeface="Calibri"/>
              </a:rPr>
              <a:t>Team Name (Registered on portal) —</a:t>
            </a:r>
            <a:r>
              <a:rPr sz="1300" b="0" i="0" dirty="0">
                <a:solidFill>
                  <a:srgbClr val="1F2933"/>
                </a:solidFill>
                <a:latin typeface="Calibri"/>
              </a:rPr>
              <a:t>  &lt;TEAM NAME&gt;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365760" y="1060704"/>
            <a:ext cx="749808" cy="749808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ouble Wave 38"/>
          <p:cNvSpPr/>
          <p:nvPr/>
        </p:nvSpPr>
        <p:spPr>
          <a:xfrm>
            <a:off x="463235" y="1435607"/>
            <a:ext cx="554857" cy="224942"/>
          </a:xfrm>
          <a:prstGeom prst="doubleWav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03173" y="1210665"/>
            <a:ext cx="74980" cy="3449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25296" y="1162074"/>
            <a:ext cx="4206240" cy="4678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lang="en-IN" sz="3200" b="1" dirty="0">
                <a:solidFill>
                  <a:srgbClr val="0F2B46"/>
                </a:solidFill>
                <a:latin typeface="Calibri"/>
              </a:rPr>
              <a:t>Project name</a:t>
            </a:r>
            <a:endParaRPr sz="3200" b="1" dirty="0">
              <a:solidFill>
                <a:srgbClr val="0E7C7B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61872" y="1591056"/>
            <a:ext cx="5120640" cy="2194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 i="1" dirty="0">
                <a:solidFill>
                  <a:srgbClr val="0E7C7B"/>
                </a:solidFill>
                <a:latin typeface="Calibri"/>
              </a:rPr>
              <a:t>Dam-break screening you can check.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" y="5623560"/>
            <a:ext cx="5852160" cy="8686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50"/>
              </a:spcAft>
            </a:pPr>
            <a:r>
              <a:rPr sz="1050" b="1" i="0">
                <a:solidFill>
                  <a:srgbClr val="5A6672"/>
                </a:solidFill>
                <a:latin typeface="Calibri"/>
              </a:rPr>
              <a:t>Near-field SPH × far-field 2D shallow water, cross-checked against a real Delft3D FM kernel</a:t>
            </a:r>
            <a:r>
              <a:rPr sz="1050" b="0" i="0">
                <a:solidFill>
                  <a:srgbClr val="5A6672"/>
                </a:solidFill>
                <a:latin typeface="Calibri"/>
              </a:rPr>
              <a:t> — arrival-time maps for any Indian dam from nothing but lat/lon, height and storage. Open data only. No ground survey.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37360" y="0"/>
            <a:ext cx="7909560" cy="1143000"/>
          </a:xfrm>
        </p:spPr>
        <p:txBody>
          <a:bodyPr/>
          <a:lstStyle/>
          <a:p>
            <a:pPr eaLnBrk="1" hangingPunct="1"/>
            <a:r>
              <a:rPr lang="en-IN" sz="2100" b="1" dirty="0">
                <a:latin typeface="Times New Roman"/>
              </a:rPr>
              <a:t>Project name </a:t>
            </a:r>
            <a:r>
              <a:rPr sz="2100" b="1" dirty="0">
                <a:latin typeface="Times New Roman"/>
              </a:rPr>
              <a:t> — dam-break screening, with the model checked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72425" y="6159272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i="0">
                <a:solidFill>
                  <a:srgbClr val="1F2933"/>
                </a:solidFill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48590" y="1197849"/>
            <a:ext cx="2852928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Detailed explanation of the proposed solution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100583" y="1459876"/>
            <a:ext cx="2852928" cy="4645152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5364" name="TextBox 15363"/>
          <p:cNvSpPr txBox="1"/>
          <p:nvPr/>
        </p:nvSpPr>
        <p:spPr>
          <a:xfrm>
            <a:off x="210311" y="1645920"/>
            <a:ext cx="2633472" cy="44439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850"/>
              </a:spcAft>
            </a:pPr>
            <a:r>
              <a:rPr sz="990" b="0" i="0" dirty="0">
                <a:solidFill>
                  <a:srgbClr val="1F2933"/>
                </a:solidFill>
                <a:latin typeface="Calibri"/>
              </a:rPr>
              <a:t>▪ </a:t>
            </a:r>
            <a:r>
              <a:rPr sz="990" b="1" i="0" dirty="0">
                <a:solidFill>
                  <a:srgbClr val="1F2933"/>
                </a:solidFill>
                <a:latin typeface="Calibri"/>
              </a:rPr>
              <a:t>Operator enters four things</a:t>
            </a:r>
            <a:r>
              <a:rPr sz="990" b="0" i="0" dirty="0">
                <a:solidFill>
                  <a:srgbClr val="1F2933"/>
                </a:solidFill>
                <a:latin typeface="Calibri"/>
              </a:rPr>
              <a:t> — </a:t>
            </a:r>
            <a:r>
              <a:rPr sz="990" b="0" i="0" dirty="0" err="1">
                <a:solidFill>
                  <a:srgbClr val="1F2933"/>
                </a:solidFill>
                <a:latin typeface="Calibri"/>
              </a:rPr>
              <a:t>lat</a:t>
            </a:r>
            <a:r>
              <a:rPr sz="990" b="0" i="0" dirty="0">
                <a:solidFill>
                  <a:srgbClr val="1F2933"/>
                </a:solidFill>
                <a:latin typeface="Calibri"/>
              </a:rPr>
              <a:t>/</a:t>
            </a:r>
            <a:r>
              <a:rPr sz="990" b="0" i="0" dirty="0" err="1">
                <a:solidFill>
                  <a:srgbClr val="1F2933"/>
                </a:solidFill>
                <a:latin typeface="Calibri"/>
              </a:rPr>
              <a:t>lon</a:t>
            </a:r>
            <a:r>
              <a:rPr sz="990" b="0" i="0" dirty="0">
                <a:solidFill>
                  <a:srgbClr val="1F2933"/>
                </a:solidFill>
                <a:latin typeface="Calibri"/>
              </a:rPr>
              <a:t>, dam height, gross storage, breach mode. Nothing else.</a:t>
            </a:r>
          </a:p>
          <a:p>
            <a:pPr algn="l">
              <a:lnSpc>
                <a:spcPct val="95000"/>
              </a:lnSpc>
              <a:spcAft>
                <a:spcPts val="850"/>
              </a:spcAft>
            </a:pPr>
            <a:r>
              <a:rPr sz="990" b="0" i="0" dirty="0">
                <a:solidFill>
                  <a:srgbClr val="1F2933"/>
                </a:solidFill>
                <a:latin typeface="Calibri"/>
              </a:rPr>
              <a:t>▪ </a:t>
            </a:r>
            <a:r>
              <a:rPr sz="990" b="1" i="0" dirty="0">
                <a:solidFill>
                  <a:srgbClr val="1F2933"/>
                </a:solidFill>
                <a:latin typeface="Calibri"/>
              </a:rPr>
              <a:t>Data fetches itself:</a:t>
            </a:r>
            <a:r>
              <a:rPr sz="990" b="0" i="0" dirty="0">
                <a:solidFill>
                  <a:srgbClr val="1F2933"/>
                </a:solidFill>
                <a:latin typeface="Calibri"/>
              </a:rPr>
              <a:t> Copernicus GLO-30 DEM from public AWS COGs, GHSL population, Sentinel-1 SAR via Earth Engine, ESA </a:t>
            </a:r>
            <a:r>
              <a:rPr sz="990" b="0" i="0" dirty="0" err="1">
                <a:solidFill>
                  <a:srgbClr val="1F2933"/>
                </a:solidFill>
                <a:latin typeface="Calibri"/>
              </a:rPr>
              <a:t>WorldCover</a:t>
            </a:r>
            <a:r>
              <a:rPr sz="990" b="0" i="0" dirty="0">
                <a:solidFill>
                  <a:srgbClr val="1F2933"/>
                </a:solidFill>
                <a:latin typeface="Calibri"/>
              </a:rPr>
              <a:t> roughness.</a:t>
            </a:r>
          </a:p>
          <a:p>
            <a:pPr algn="l">
              <a:lnSpc>
                <a:spcPct val="95000"/>
              </a:lnSpc>
              <a:spcAft>
                <a:spcPts val="850"/>
              </a:spcAft>
            </a:pPr>
            <a:r>
              <a:rPr sz="990" b="0" i="0" dirty="0">
                <a:solidFill>
                  <a:srgbClr val="1F2933"/>
                </a:solidFill>
                <a:latin typeface="Calibri"/>
              </a:rPr>
              <a:t>▪ </a:t>
            </a:r>
            <a:r>
              <a:rPr sz="990" b="1" i="0" dirty="0">
                <a:solidFill>
                  <a:srgbClr val="1F2933"/>
                </a:solidFill>
                <a:latin typeface="Calibri"/>
              </a:rPr>
              <a:t>Breach hydrograph</a:t>
            </a:r>
            <a:r>
              <a:rPr sz="990" b="0" i="0" dirty="0">
                <a:solidFill>
                  <a:srgbClr val="1F2933"/>
                </a:solidFill>
                <a:latin typeface="Calibri"/>
              </a:rPr>
              <a:t> from a 4-regression Monte-Carlo ensemble — Costa 1985, Froehlich 1995, MacDonald–Langridge 1984, Von Thun–Gillette 1990.</a:t>
            </a:r>
          </a:p>
          <a:p>
            <a:pPr algn="l">
              <a:lnSpc>
                <a:spcPct val="95000"/>
              </a:lnSpc>
              <a:spcAft>
                <a:spcPts val="850"/>
              </a:spcAft>
            </a:pPr>
            <a:r>
              <a:rPr sz="990" b="0" i="0" dirty="0">
                <a:solidFill>
                  <a:srgbClr val="1F2933"/>
                </a:solidFill>
                <a:latin typeface="Calibri"/>
              </a:rPr>
              <a:t>▪ </a:t>
            </a:r>
            <a:r>
              <a:rPr sz="990" b="1" i="0" dirty="0">
                <a:solidFill>
                  <a:srgbClr val="1F2933"/>
                </a:solidFill>
                <a:latin typeface="Calibri"/>
              </a:rPr>
              <a:t>Far field:</a:t>
            </a:r>
            <a:r>
              <a:rPr sz="990" b="0" i="0" dirty="0">
                <a:solidFill>
                  <a:srgbClr val="1F2933"/>
                </a:solidFill>
                <a:latin typeface="Calibri"/>
              </a:rPr>
              <a:t> in-house 2D shallow-water finite volume — HLLC Riemann solver, </a:t>
            </a:r>
            <a:r>
              <a:rPr sz="990" b="0" i="0" dirty="0" err="1">
                <a:solidFill>
                  <a:srgbClr val="1F2933"/>
                </a:solidFill>
                <a:latin typeface="Calibri"/>
              </a:rPr>
              <a:t>Audusse</a:t>
            </a:r>
            <a:r>
              <a:rPr sz="990" b="0" i="0" dirty="0">
                <a:solidFill>
                  <a:srgbClr val="1F2933"/>
                </a:solidFill>
                <a:latin typeface="Calibri"/>
              </a:rPr>
              <a:t> hydrostatic reconstruction, MUSCL, wetting and drying.</a:t>
            </a:r>
          </a:p>
          <a:p>
            <a:pPr algn="l">
              <a:lnSpc>
                <a:spcPct val="95000"/>
              </a:lnSpc>
              <a:spcAft>
                <a:spcPts val="850"/>
              </a:spcAft>
            </a:pPr>
            <a:r>
              <a:rPr sz="990" b="0" i="0" dirty="0">
                <a:solidFill>
                  <a:srgbClr val="1F2933"/>
                </a:solidFill>
                <a:latin typeface="Calibri"/>
              </a:rPr>
              <a:t>▪ </a:t>
            </a:r>
            <a:r>
              <a:rPr sz="990" b="1" i="0" dirty="0">
                <a:solidFill>
                  <a:srgbClr val="1F2933"/>
                </a:solidFill>
                <a:latin typeface="Calibri"/>
              </a:rPr>
              <a:t>Near field:</a:t>
            </a:r>
            <a:r>
              <a:rPr sz="990" b="0" i="0" dirty="0">
                <a:solidFill>
                  <a:srgbClr val="1F2933"/>
                </a:solidFill>
                <a:latin typeface="Calibri"/>
              </a:rPr>
              <a:t> Smoothed Particle Hydrodynamics resolves the non-hydrostatic breach jet, where depth-averaging is invalid. One-way handoff, ~600 m over 15 s.</a:t>
            </a:r>
          </a:p>
          <a:p>
            <a:pPr algn="l">
              <a:lnSpc>
                <a:spcPct val="95000"/>
              </a:lnSpc>
              <a:spcAft>
                <a:spcPts val="850"/>
              </a:spcAft>
            </a:pPr>
            <a:r>
              <a:rPr sz="990" b="0" i="0" dirty="0">
                <a:solidFill>
                  <a:srgbClr val="1F2933"/>
                </a:solidFill>
                <a:latin typeface="Calibri"/>
              </a:rPr>
              <a:t>▪ </a:t>
            </a:r>
            <a:r>
              <a:rPr sz="990" b="1" i="0" dirty="0">
                <a:solidFill>
                  <a:srgbClr val="1F2933"/>
                </a:solidFill>
                <a:latin typeface="Calibri"/>
              </a:rPr>
              <a:t>Outputs</a:t>
            </a:r>
            <a:r>
              <a:rPr sz="990" b="0" i="0" dirty="0">
                <a:solidFill>
                  <a:srgbClr val="1F2933"/>
                </a:solidFill>
                <a:latin typeface="Calibri"/>
              </a:rPr>
              <a:t> depth, velocity and arrival-time rasters to a browser dashboard, plus </a:t>
            </a:r>
            <a:r>
              <a:rPr sz="990" b="0" i="0" dirty="0" err="1">
                <a:solidFill>
                  <a:srgbClr val="1F2933"/>
                </a:solidFill>
                <a:latin typeface="Calibri"/>
              </a:rPr>
              <a:t>GeoTIFF</a:t>
            </a:r>
            <a:r>
              <a:rPr sz="990" b="0" i="0" dirty="0">
                <a:solidFill>
                  <a:srgbClr val="1F2933"/>
                </a:solidFill>
                <a:latin typeface="Calibri"/>
              </a:rPr>
              <a:t>, .SHP and .KML/KMZ.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049524" y="1197849"/>
            <a:ext cx="5285232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 dirty="0">
                <a:solidFill>
                  <a:srgbClr val="0F2B46"/>
                </a:solidFill>
                <a:latin typeface="Calibri"/>
              </a:rPr>
              <a:t>The prototype, running</a:t>
            </a:r>
          </a:p>
        </p:txBody>
      </p:sp>
      <p:pic>
        <p:nvPicPr>
          <p:cNvPr id="15366" name="Picture 15365" descr="worksp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524" y="1554480"/>
            <a:ext cx="5285232" cy="3458977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3049524" y="5080009"/>
            <a:ext cx="5285232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780" b="0" i="0" dirty="0">
                <a:solidFill>
                  <a:srgbClr val="5A6672"/>
                </a:solidFill>
                <a:latin typeface="Calibri"/>
              </a:rPr>
              <a:t>Live dashboard — Tehri (260 m, 3,540 MCM). Left: Leaflet inundation envelope with hazard classes over the Bhagirathi. Right: the same envelope on Cesium 3D over Copernicus terrain, with gauges labelled by downstream distance. 600×600 cells at 200 m, 60 km radius, 3 h simulated, EPSG:32644.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8439913" y="1028215"/>
            <a:ext cx="3136392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8430769" y="1275088"/>
            <a:ext cx="3136392" cy="205803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5370" name="TextBox 15369"/>
          <p:cNvSpPr txBox="1"/>
          <p:nvPr/>
        </p:nvSpPr>
        <p:spPr>
          <a:xfrm>
            <a:off x="8540496" y="1366527"/>
            <a:ext cx="2916936" cy="144065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900" b="0" i="0" dirty="0">
                <a:solidFill>
                  <a:srgbClr val="1F2933"/>
                </a:solidFill>
                <a:latin typeface="Calibri"/>
              </a:rPr>
              <a:t>▪ Engineered dam break </a:t>
            </a:r>
            <a:r>
              <a:rPr sz="900" b="1" i="0" dirty="0">
                <a:solidFill>
                  <a:srgbClr val="1F2933"/>
                </a:solidFill>
                <a:latin typeface="Calibri"/>
              </a:rPr>
              <a:t>and</a:t>
            </a:r>
            <a:r>
              <a:rPr sz="900" b="0" i="0" dirty="0">
                <a:solidFill>
                  <a:srgbClr val="1F2933"/>
                </a:solidFill>
                <a:latin typeface="Calibri"/>
              </a:rPr>
              <a:t> natural landslide-dam blockage</a:t>
            </a:r>
            <a:r>
              <a:rPr lang="en-IN" sz="900" b="0" i="0" dirty="0">
                <a:solidFill>
                  <a:srgbClr val="1F2933"/>
                </a:solidFill>
                <a:latin typeface="Calibri"/>
              </a:rPr>
              <a:t> and river blockage</a:t>
            </a:r>
            <a:r>
              <a:rPr sz="900" b="0" i="0" dirty="0">
                <a:solidFill>
                  <a:srgbClr val="1F2933"/>
                </a:solidFill>
                <a:latin typeface="Calibri"/>
              </a:rPr>
              <a:t>, one pipeline.</a:t>
            </a:r>
          </a:p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900" b="0" i="0" dirty="0">
                <a:solidFill>
                  <a:srgbClr val="1F2933"/>
                </a:solidFill>
                <a:latin typeface="Calibri"/>
              </a:rPr>
              <a:t>▪ GUI for input and tiled output; </a:t>
            </a:r>
            <a:r>
              <a:rPr sz="900" b="1" i="0" dirty="0">
                <a:solidFill>
                  <a:srgbClr val="1F2933"/>
                </a:solidFill>
                <a:latin typeface="Calibri"/>
              </a:rPr>
              <a:t>.</a:t>
            </a:r>
            <a:r>
              <a:rPr sz="900" b="1" i="0" dirty="0" err="1">
                <a:solidFill>
                  <a:srgbClr val="1F2933"/>
                </a:solidFill>
                <a:latin typeface="Calibri"/>
              </a:rPr>
              <a:t>shp</a:t>
            </a:r>
            <a:r>
              <a:rPr sz="900" b="1" i="0" dirty="0">
                <a:solidFill>
                  <a:srgbClr val="1F2933"/>
                </a:solidFill>
                <a:latin typeface="Calibri"/>
              </a:rPr>
              <a:t> / .</a:t>
            </a:r>
            <a:r>
              <a:rPr sz="900" b="1" i="0" dirty="0" err="1">
                <a:solidFill>
                  <a:srgbClr val="1F2933"/>
                </a:solidFill>
                <a:latin typeface="Calibri"/>
              </a:rPr>
              <a:t>kml</a:t>
            </a:r>
            <a:r>
              <a:rPr sz="900" b="1" i="0" dirty="0">
                <a:solidFill>
                  <a:srgbClr val="1F2933"/>
                </a:solidFill>
                <a:latin typeface="Calibri"/>
              </a:rPr>
              <a:t> export</a:t>
            </a:r>
            <a:r>
              <a:rPr sz="900" b="0" i="0" dirty="0">
                <a:solidFill>
                  <a:srgbClr val="1F2933"/>
                </a:solidFill>
                <a:latin typeface="Calibri"/>
              </a:rPr>
              <a:t> .</a:t>
            </a:r>
          </a:p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900" b="0" i="0" dirty="0">
                <a:solidFill>
                  <a:srgbClr val="1F2933"/>
                </a:solidFill>
                <a:latin typeface="Calibri"/>
              </a:rPr>
              <a:t>▪ Any DEM, any AOI, any Indian dam — five presets plus custom coordinates.</a:t>
            </a:r>
          </a:p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900" b="0" i="0" dirty="0">
                <a:solidFill>
                  <a:srgbClr val="1F2933"/>
                </a:solidFill>
                <a:latin typeface="Calibri"/>
              </a:rPr>
              <a:t>▪ Sentinel-1 SAR loop scores simulated extent against </a:t>
            </a:r>
            <a:r>
              <a:rPr sz="900" b="1" i="0" dirty="0">
                <a:solidFill>
                  <a:srgbClr val="1F2933"/>
                </a:solidFill>
                <a:latin typeface="Calibri"/>
              </a:rPr>
              <a:t>observed</a:t>
            </a:r>
            <a:r>
              <a:rPr sz="900" b="0" i="0" dirty="0">
                <a:solidFill>
                  <a:srgbClr val="1F2933"/>
                </a:solidFill>
                <a:latin typeface="Calibri"/>
              </a:rPr>
              <a:t> flood extent.</a:t>
            </a:r>
          </a:p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900" b="0" i="0" dirty="0">
                <a:solidFill>
                  <a:srgbClr val="1F2933"/>
                </a:solidFill>
                <a:latin typeface="Calibri"/>
              </a:rPr>
              <a:t>▪ Runs </a:t>
            </a:r>
            <a:r>
              <a:rPr sz="900" b="1" i="0" dirty="0">
                <a:solidFill>
                  <a:srgbClr val="1F2933"/>
                </a:solidFill>
                <a:latin typeface="Calibri"/>
              </a:rPr>
              <a:t>offline from cache</a:t>
            </a:r>
            <a:r>
              <a:rPr sz="900" b="0" i="0" dirty="0">
                <a:solidFill>
                  <a:srgbClr val="1F2933"/>
                </a:solidFill>
                <a:latin typeface="Calibri"/>
              </a:rPr>
              <a:t> after first fetch — demo-day networks assumed hostile.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8430769" y="3469647"/>
            <a:ext cx="3136392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8439913" y="3753127"/>
            <a:ext cx="3136392" cy="2395728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11430">
            <a:solidFill>
              <a:srgbClr val="ECD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5373" name="TextBox 15372"/>
          <p:cNvSpPr txBox="1"/>
          <p:nvPr/>
        </p:nvSpPr>
        <p:spPr>
          <a:xfrm>
            <a:off x="8540496" y="3828808"/>
            <a:ext cx="2916936" cy="12279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IN" sz="840" dirty="0">
                <a:solidFill>
                  <a:srgbClr val="1F2933"/>
                </a:solidFill>
                <a:latin typeface="Calibri"/>
              </a:rPr>
              <a:t>Comparison </a:t>
            </a:r>
            <a:r>
              <a:rPr sz="840" b="0" i="0" dirty="0">
                <a:solidFill>
                  <a:srgbClr val="1F2933"/>
                </a:solidFill>
                <a:latin typeface="Calibri"/>
              </a:rPr>
              <a:t>Against how Tier-1 screening is done today:</a:t>
            </a:r>
          </a:p>
        </p:txBody>
      </p:sp>
      <p:graphicFrame>
        <p:nvGraphicFramePr>
          <p:cNvPr id="15374" name="Table 153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722045"/>
              </p:ext>
            </p:extLst>
          </p:nvPr>
        </p:nvGraphicFramePr>
        <p:xfrm>
          <a:off x="8493761" y="3971624"/>
          <a:ext cx="3035807" cy="134703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1475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50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1" dirty="0">
                          <a:solidFill>
                            <a:srgbClr val="FFFFFF"/>
                          </a:solidFill>
                        </a:rPr>
                        <a:t>Current practice</a:t>
                      </a:r>
                      <a:endParaRPr sz="77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8" marR="64008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lang="en-IN" sz="770" b="1" dirty="0">
                          <a:solidFill>
                            <a:srgbClr val="FFFFFF"/>
                          </a:solidFill>
                        </a:rPr>
                        <a:t>Project name</a:t>
                      </a:r>
                      <a:endParaRPr sz="77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4008" marR="64008" marT="13716" marB="137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50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1F2933"/>
                          </a:solidFill>
                        </a:rPr>
                        <a:t>Weeks of specialist setup</a:t>
                      </a:r>
                      <a:endParaRPr sz="770" b="0" i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3716" marB="13716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1F2933"/>
                          </a:solidFill>
                        </a:rPr>
                        <a:t>Minutes, 4 inputs</a:t>
                      </a:r>
                      <a:endParaRPr sz="770" b="0" i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3716" marB="1371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50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1F2933"/>
                          </a:solidFill>
                        </a:rPr>
                        <a:t>Licence + field survey</a:t>
                      </a:r>
                      <a:endParaRPr sz="770" b="0" i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3716" marB="13716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1F2933"/>
                          </a:solidFill>
                        </a:rPr>
                        <a:t>Free data, no survey</a:t>
                      </a:r>
                      <a:endParaRPr sz="770" b="0" i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3716" marB="1371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50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1F2933"/>
                          </a:solidFill>
                        </a:rPr>
                        <a:t>No independent check</a:t>
                      </a:r>
                      <a:endParaRPr sz="770" b="0" i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3716" marB="13716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1F2933"/>
                          </a:solidFill>
                        </a:rPr>
                        <a:t>Scored vs Delft3D FM</a:t>
                      </a:r>
                      <a:endParaRPr sz="770" b="0" i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3716" marB="1371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50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1F2933"/>
                          </a:solidFill>
                        </a:rPr>
                        <a:t>One number for peak flow</a:t>
                      </a:r>
                      <a:endParaRPr sz="770" b="0" i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3716" marB="13716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1F2933"/>
                          </a:solidFill>
                        </a:rPr>
                        <a:t>p05–p95 band</a:t>
                      </a:r>
                      <a:endParaRPr sz="770" b="0" i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3716" marB="1371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505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1F2933"/>
                          </a:solidFill>
                        </a:rPr>
                        <a:t>Bad SAR scenes drawn</a:t>
                      </a:r>
                      <a:endParaRPr sz="770" b="0" i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3716" marB="13716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1F2933"/>
                          </a:solidFill>
                        </a:rPr>
                        <a:t>Refused at a 0.50 gate</a:t>
                      </a:r>
                      <a:endParaRPr sz="770" b="0" i="0" dirty="0">
                        <a:solidFill>
                          <a:srgbClr val="1F2933"/>
                        </a:solidFill>
                        <a:latin typeface="Calibri"/>
                      </a:endParaRPr>
                    </a:p>
                  </a:txBody>
                  <a:tcPr marL="64008" marR="64008" marT="13716" marB="1371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375" name="TextBox 15374"/>
          <p:cNvSpPr txBox="1"/>
          <p:nvPr/>
        </p:nvSpPr>
        <p:spPr>
          <a:xfrm>
            <a:off x="8549640" y="5417335"/>
            <a:ext cx="2916936" cy="7315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40" b="1" i="0">
                <a:solidFill>
                  <a:srgbClr val="1F2933"/>
                </a:solidFill>
                <a:latin typeface="Calibri"/>
              </a:rPr>
              <a:t>The cross-check is the product.</a:t>
            </a:r>
            <a:r>
              <a:rPr sz="840" b="0" i="0">
                <a:solidFill>
                  <a:srgbClr val="1F2933"/>
                </a:solidFill>
                <a:latin typeface="Calibri"/>
              </a:rPr>
              <a:t> The same Ritter dam-break runs through our solver and through a real Deltares kernel, and both are scored against the exact solution. Most entries have no independent check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i="0">
                <a:solidFill>
                  <a:srgbClr val="1F2933"/>
                </a:solidFill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170432"/>
            <a:ext cx="1152144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Technologies to be used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481328"/>
            <a:ext cx="11521440" cy="138988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1572768"/>
            <a:ext cx="1060704" cy="201168"/>
          </a:xfrm>
          <a:prstGeom prst="roundRect">
            <a:avLst>
              <a:gd name="adj" fmla="val 22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Calibri"/>
              </a:rPr>
              <a:t>SOLVERS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1801368"/>
            <a:ext cx="3703320" cy="47548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Calibri"/>
              </a:rPr>
              <a:t>In-house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2D shallow-water finite volume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— HLLC flux · Audusse hydrostatic reconstruction · MUSCL/minmod on η = b + h.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SPH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near field.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Delft3D FM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(dflowfm-cli) as reference kernel.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97680" y="1572768"/>
            <a:ext cx="1060704" cy="201168"/>
          </a:xfrm>
          <a:prstGeom prst="roundRect">
            <a:avLst>
              <a:gd name="adj" fmla="val 2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Calibri"/>
              </a:rPr>
              <a:t>OPEN DATA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297680" y="1801368"/>
            <a:ext cx="3703320" cy="47548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Calibri"/>
              </a:rPr>
              <a:t>Copernicus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GLO-30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from public AWS COGs ·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GHSL P2023A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·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Sentinel-1 GRD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· JRC Global Surface Water · ESA WorldCover · CWC NRLD/NRSD. None login-gated.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38160" y="1572768"/>
            <a:ext cx="1060704" cy="201168"/>
          </a:xfrm>
          <a:prstGeom prst="roundRect">
            <a:avLst>
              <a:gd name="adj" fmla="val 22000"/>
            </a:avLst>
          </a:prstGeom>
          <a:solidFill>
            <a:srgbClr val="B0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138160" y="1801368"/>
            <a:ext cx="3703320" cy="47548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Calibri"/>
              </a:rPr>
              <a:t>Monte-Carlo over four breach regressions with Wahl bands.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pytest gates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— analytical, lake-at-rest, mass conservation and the Delft3D FM cross-check, all currently passing.</a:t>
            </a:r>
          </a:p>
        </p:txBody>
      </p:sp>
      <p:pic>
        <p:nvPicPr>
          <p:cNvPr id="17418" name="Picture 17417" descr="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60" y="2340864"/>
            <a:ext cx="237744" cy="237744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457200" y="2624328"/>
            <a:ext cx="1022465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Python</a:t>
            </a:r>
          </a:p>
        </p:txBody>
      </p:sp>
      <p:pic>
        <p:nvPicPr>
          <p:cNvPr id="17420" name="Picture 17419" descr="nump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2026" y="2340864"/>
            <a:ext cx="237744" cy="237744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1479665" y="2624328"/>
            <a:ext cx="1022465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NumPy</a:t>
            </a:r>
          </a:p>
        </p:txBody>
      </p:sp>
      <p:pic>
        <p:nvPicPr>
          <p:cNvPr id="17422" name="Picture 17421" descr="num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4491" y="2340864"/>
            <a:ext cx="237744" cy="237744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2502130" y="2624328"/>
            <a:ext cx="1022465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Numba</a:t>
            </a:r>
          </a:p>
        </p:txBody>
      </p:sp>
      <p:pic>
        <p:nvPicPr>
          <p:cNvPr id="17424" name="Picture 17423" descr="gd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6957" y="2340864"/>
            <a:ext cx="237744" cy="237744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3524596" y="2624328"/>
            <a:ext cx="1022465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GDAL</a:t>
            </a:r>
          </a:p>
        </p:txBody>
      </p:sp>
      <p:pic>
        <p:nvPicPr>
          <p:cNvPr id="17426" name="Picture 17425" descr="fastap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9422" y="2340864"/>
            <a:ext cx="237744" cy="237744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4547061" y="2624328"/>
            <a:ext cx="1022465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FastAPI</a:t>
            </a:r>
          </a:p>
        </p:txBody>
      </p:sp>
      <p:pic>
        <p:nvPicPr>
          <p:cNvPr id="17428" name="Picture 17427" descr="sql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1888" y="2340864"/>
            <a:ext cx="237744" cy="237744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5569527" y="2624328"/>
            <a:ext cx="1022465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SQLite</a:t>
            </a:r>
          </a:p>
        </p:txBody>
      </p:sp>
      <p:pic>
        <p:nvPicPr>
          <p:cNvPr id="17430" name="Picture 17429" descr="reac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4353" y="2340864"/>
            <a:ext cx="237744" cy="237744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6591992" y="2624328"/>
            <a:ext cx="1022465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React</a:t>
            </a:r>
          </a:p>
        </p:txBody>
      </p:sp>
      <p:pic>
        <p:nvPicPr>
          <p:cNvPr id="17432" name="Picture 17431" descr="leafle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6818" y="2340864"/>
            <a:ext cx="237744" cy="237744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7614458" y="2624328"/>
            <a:ext cx="1022465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Leaflet</a:t>
            </a:r>
          </a:p>
        </p:txBody>
      </p:sp>
      <p:pic>
        <p:nvPicPr>
          <p:cNvPr id="17434" name="Picture 17433" descr="cesiu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9284" y="2340864"/>
            <a:ext cx="237744" cy="237744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8636923" y="2624328"/>
            <a:ext cx="1022465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Cesium</a:t>
            </a:r>
          </a:p>
        </p:txBody>
      </p:sp>
      <p:pic>
        <p:nvPicPr>
          <p:cNvPr id="17436" name="Picture 17435" descr="googleearthengin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1749" y="2340864"/>
            <a:ext cx="237744" cy="237744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9659389" y="2624328"/>
            <a:ext cx="1022465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Earth Engine</a:t>
            </a:r>
          </a:p>
        </p:txBody>
      </p:sp>
      <p:pic>
        <p:nvPicPr>
          <p:cNvPr id="17438" name="Picture 17437" descr="pytes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74215" y="2340864"/>
            <a:ext cx="237744" cy="237744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10681854" y="2624328"/>
            <a:ext cx="1022465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pytest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20040" y="2962656"/>
            <a:ext cx="1152144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Methodology and process for implementation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20040" y="3310128"/>
            <a:ext cx="2880360" cy="257860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411479" y="3364992"/>
            <a:ext cx="2697479" cy="20116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19" b="1" i="0" dirty="0">
                <a:solidFill>
                  <a:srgbClr val="0E7C7B"/>
                </a:solidFill>
                <a:latin typeface="Calibri"/>
              </a:rPr>
              <a:t>INGEST  —  open data, no login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448056" y="3602736"/>
            <a:ext cx="2624328" cy="502920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44" name="TextBox 17443"/>
          <p:cNvSpPr txBox="1"/>
          <p:nvPr/>
        </p:nvSpPr>
        <p:spPr>
          <a:xfrm>
            <a:off x="502920" y="3648456"/>
            <a:ext cx="2514600" cy="4114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Operator input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lat/lon · height · storage · breach mode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448056" y="4160520"/>
            <a:ext cx="2624328" cy="502920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502920" y="4206240"/>
            <a:ext cx="2514600" cy="4114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Copernicus GLO-30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30 m DEM, public AWS COGs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448056" y="4718304"/>
            <a:ext cx="2624328" cy="502920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48" name="TextBox 17447"/>
          <p:cNvSpPr txBox="1"/>
          <p:nvPr/>
        </p:nvSpPr>
        <p:spPr>
          <a:xfrm>
            <a:off x="502920" y="4764024"/>
            <a:ext cx="2514600" cy="4114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Google Earth Engine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Sentinel-1 · GHSL P2023A · WorldCover</a:t>
            </a:r>
          </a:p>
        </p:txBody>
      </p:sp>
      <p:sp>
        <p:nvSpPr>
          <p:cNvPr id="17449" name="Magnetic Disk 17448"/>
          <p:cNvSpPr/>
          <p:nvPr/>
        </p:nvSpPr>
        <p:spPr>
          <a:xfrm>
            <a:off x="868680" y="5276088"/>
            <a:ext cx="1783080" cy="457200"/>
          </a:xfrm>
          <a:prstGeom prst="flowChartMagneticDisk">
            <a:avLst/>
          </a:prstGeom>
          <a:solidFill>
            <a:srgbClr val="FFFFFF"/>
          </a:solidFill>
          <a:ln w="10795">
            <a:solidFill>
              <a:srgbClr val="5A6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923544" y="5321808"/>
            <a:ext cx="1673352" cy="36576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Offline cache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COG + SQLite — runs from disk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3255264" y="4498848"/>
            <a:ext cx="457200" cy="16459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2" name="Isosceles Triangle 17451"/>
          <p:cNvSpPr/>
          <p:nvPr/>
        </p:nvSpPr>
        <p:spPr>
          <a:xfrm rot="5400000">
            <a:off x="3694176" y="4424781"/>
            <a:ext cx="137160" cy="164592"/>
          </a:xfrm>
          <a:prstGeom prst="triangl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TextBox 17452"/>
          <p:cNvSpPr txBox="1"/>
          <p:nvPr/>
        </p:nvSpPr>
        <p:spPr>
          <a:xfrm>
            <a:off x="3200400" y="4169663"/>
            <a:ext cx="68580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630" b="0" i="0">
                <a:solidFill>
                  <a:srgbClr val="5A6672"/>
                </a:solidFill>
                <a:latin typeface="Calibri"/>
              </a:rPr>
              <a:t>conditioned DEM
+ Manning's n</a:t>
            </a:r>
          </a:p>
        </p:txBody>
      </p:sp>
      <p:sp>
        <p:nvSpPr>
          <p:cNvPr id="17454" name="Hexagon 17453"/>
          <p:cNvSpPr/>
          <p:nvPr/>
        </p:nvSpPr>
        <p:spPr>
          <a:xfrm>
            <a:off x="3886200" y="3968496"/>
            <a:ext cx="1325880" cy="118872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B02E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55" name="TextBox 17454"/>
          <p:cNvSpPr txBox="1"/>
          <p:nvPr/>
        </p:nvSpPr>
        <p:spPr>
          <a:xfrm>
            <a:off x="4032504" y="4014215"/>
            <a:ext cx="1033271" cy="10972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BREACH HYDROGRAPH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Monte-Carlo over 4 published
regressions — Q(t) with a
p05–p95 band, never one number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5266944" y="4498848"/>
            <a:ext cx="457200" cy="16459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7" name="Isosceles Triangle 17456"/>
          <p:cNvSpPr/>
          <p:nvPr/>
        </p:nvSpPr>
        <p:spPr>
          <a:xfrm rot="5400000">
            <a:off x="5705855" y="4424781"/>
            <a:ext cx="137160" cy="164592"/>
          </a:xfrm>
          <a:prstGeom prst="triangl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TextBox 17457"/>
          <p:cNvSpPr txBox="1"/>
          <p:nvPr/>
        </p:nvSpPr>
        <p:spPr>
          <a:xfrm>
            <a:off x="5212080" y="4169663"/>
            <a:ext cx="68580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630" b="0" i="0">
                <a:solidFill>
                  <a:srgbClr val="5A6672"/>
                </a:solidFill>
                <a:latin typeface="Calibri"/>
              </a:rPr>
              <a:t>Q(t) at the breach
229,952 m³/s median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5897880" y="3310128"/>
            <a:ext cx="2788920" cy="257860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60" name="TextBox 17459"/>
          <p:cNvSpPr txBox="1"/>
          <p:nvPr/>
        </p:nvSpPr>
        <p:spPr>
          <a:xfrm>
            <a:off x="5989320" y="3364992"/>
            <a:ext cx="2606039" cy="20116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19" b="1" i="0">
                <a:solidFill>
                  <a:srgbClr val="0F2B46"/>
                </a:solidFill>
                <a:latin typeface="Calibri"/>
              </a:rPr>
              <a:t>SOLVE  —  near field + far field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6025896" y="3602736"/>
            <a:ext cx="2532887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F2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62" name="TextBox 17461"/>
          <p:cNvSpPr txBox="1"/>
          <p:nvPr/>
        </p:nvSpPr>
        <p:spPr>
          <a:xfrm>
            <a:off x="6080759" y="3648456"/>
            <a:ext cx="2423159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Far field — 2D SWE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HLLC · Audusse · MUSCL
600×600 cells at 200 m, 3 h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6025896" y="4334256"/>
            <a:ext cx="2532887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64" name="TextBox 17463"/>
          <p:cNvSpPr txBox="1"/>
          <p:nvPr/>
        </p:nvSpPr>
        <p:spPr>
          <a:xfrm>
            <a:off x="6080759" y="4379976"/>
            <a:ext cx="2423159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Near field — SPH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Lagrangian, non-hydrostatic
~600 m over 15 s, one-way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6025896" y="5065776"/>
            <a:ext cx="2532887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B0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66" name="TextBox 17465"/>
          <p:cNvSpPr txBox="1"/>
          <p:nvPr/>
        </p:nvSpPr>
        <p:spPr>
          <a:xfrm>
            <a:off x="6080759" y="5111496"/>
            <a:ext cx="2423159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Delft3D FM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dflowfm-cli — 0.0349 m RMSE
against our 0.0317 m</a:t>
            </a:r>
          </a:p>
        </p:txBody>
      </p:sp>
      <p:sp>
        <p:nvSpPr>
          <p:cNvPr id="17467" name="Rectangle 17466"/>
          <p:cNvSpPr/>
          <p:nvPr/>
        </p:nvSpPr>
        <p:spPr>
          <a:xfrm>
            <a:off x="8741664" y="4498848"/>
            <a:ext cx="457200" cy="16459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8" name="Isosceles Triangle 17467"/>
          <p:cNvSpPr/>
          <p:nvPr/>
        </p:nvSpPr>
        <p:spPr>
          <a:xfrm rot="5400000">
            <a:off x="9180576" y="4424781"/>
            <a:ext cx="137160" cy="164592"/>
          </a:xfrm>
          <a:prstGeom prst="triangl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9" name="TextBox 17468"/>
          <p:cNvSpPr txBox="1"/>
          <p:nvPr/>
        </p:nvSpPr>
        <p:spPr>
          <a:xfrm>
            <a:off x="8686800" y="4169663"/>
            <a:ext cx="685800" cy="29260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630" b="0" i="0">
                <a:solidFill>
                  <a:srgbClr val="5A6672"/>
                </a:solidFill>
                <a:latin typeface="Calibri"/>
              </a:rPr>
              <a:t>depth · velocity
· arrival time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9372600" y="3310128"/>
            <a:ext cx="2468880" cy="257860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71" name="TextBox 17470"/>
          <p:cNvSpPr txBox="1"/>
          <p:nvPr/>
        </p:nvSpPr>
        <p:spPr>
          <a:xfrm>
            <a:off x="9464040" y="3364992"/>
            <a:ext cx="2286000" cy="20116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19" b="1" i="0">
                <a:solidFill>
                  <a:srgbClr val="0E7C7B"/>
                </a:solidFill>
                <a:latin typeface="Calibri"/>
              </a:rPr>
              <a:t>DELIVER  —  decision products</a:t>
            </a:r>
          </a:p>
        </p:txBody>
      </p:sp>
      <p:sp>
        <p:nvSpPr>
          <p:cNvPr id="17472" name="Rectangle 17471"/>
          <p:cNvSpPr/>
          <p:nvPr/>
        </p:nvSpPr>
        <p:spPr>
          <a:xfrm>
            <a:off x="9500616" y="3602736"/>
            <a:ext cx="221284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73" name="TextBox 17472"/>
          <p:cNvSpPr txBox="1"/>
          <p:nvPr/>
        </p:nvSpPr>
        <p:spPr>
          <a:xfrm>
            <a:off x="9555480" y="3648456"/>
            <a:ext cx="2103120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Impact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GHSL population at risk,
bucketed by warning lead time</a:t>
            </a:r>
          </a:p>
        </p:txBody>
      </p:sp>
      <p:sp>
        <p:nvSpPr>
          <p:cNvPr id="17474" name="Rectangle 17473"/>
          <p:cNvSpPr/>
          <p:nvPr/>
        </p:nvSpPr>
        <p:spPr>
          <a:xfrm>
            <a:off x="9500616" y="4334256"/>
            <a:ext cx="221284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75" name="TextBox 17474"/>
          <p:cNvSpPr txBox="1"/>
          <p:nvPr/>
        </p:nvSpPr>
        <p:spPr>
          <a:xfrm>
            <a:off x="9555480" y="4379976"/>
            <a:ext cx="2103120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Export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Cloud-Optimized GeoTIFF
· .SHP · .KML / KMZ</a:t>
            </a:r>
          </a:p>
        </p:txBody>
      </p:sp>
      <p:sp>
        <p:nvSpPr>
          <p:cNvPr id="17476" name="Rectangle 17475"/>
          <p:cNvSpPr/>
          <p:nvPr/>
        </p:nvSpPr>
        <p:spPr>
          <a:xfrm>
            <a:off x="9500616" y="5065776"/>
            <a:ext cx="221284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77" name="TextBox 17476"/>
          <p:cNvSpPr txBox="1"/>
          <p:nvPr/>
        </p:nvSpPr>
        <p:spPr>
          <a:xfrm>
            <a:off x="9555480" y="5111496"/>
            <a:ext cx="2103120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Dashboard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Leaflet 2D + Cesium 3D,
run picker works offline</a:t>
            </a:r>
          </a:p>
        </p:txBody>
      </p:sp>
      <p:sp>
        <p:nvSpPr>
          <p:cNvPr id="17478" name="Rectangle 17477"/>
          <p:cNvSpPr/>
          <p:nvPr/>
        </p:nvSpPr>
        <p:spPr>
          <a:xfrm>
            <a:off x="10607040" y="5888736"/>
            <a:ext cx="20116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9" name="Rectangle 17478"/>
          <p:cNvSpPr/>
          <p:nvPr/>
        </p:nvSpPr>
        <p:spPr>
          <a:xfrm>
            <a:off x="7292340" y="6035040"/>
            <a:ext cx="3314700" cy="201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0" name="Rectangle 17479"/>
          <p:cNvSpPr/>
          <p:nvPr/>
        </p:nvSpPr>
        <p:spPr>
          <a:xfrm>
            <a:off x="7292340" y="5888736"/>
            <a:ext cx="20116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1" name="Isosceles Triangle 17480"/>
          <p:cNvSpPr/>
          <p:nvPr/>
        </p:nvSpPr>
        <p:spPr>
          <a:xfrm>
            <a:off x="7210044" y="5769864"/>
            <a:ext cx="164592" cy="128016"/>
          </a:xfrm>
          <a:prstGeom prst="triangl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2" name="TextBox 17481"/>
          <p:cNvSpPr txBox="1"/>
          <p:nvPr/>
        </p:nvSpPr>
        <p:spPr>
          <a:xfrm>
            <a:off x="365760" y="5934455"/>
            <a:ext cx="6789420" cy="20116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680" b="0" i="0">
                <a:solidFill>
                  <a:srgbClr val="0E7C7B"/>
                </a:solidFill>
                <a:latin typeface="Calibri"/>
              </a:rPr>
              <a:t>GEE VALIDATION LOOP ↻  Sentinel-1 observed extent scored against the simulation; scenes below 0.50 precision against JRC water are refused, not drawn.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i="0">
                <a:solidFill>
                  <a:srgbClr val="1F2933"/>
                </a:solidFill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207008"/>
            <a:ext cx="6327648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517904"/>
            <a:ext cx="6327648" cy="2340864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429768" y="1591056"/>
            <a:ext cx="6108192" cy="40233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00" b="0" i="0">
                <a:solidFill>
                  <a:srgbClr val="1F2933"/>
                </a:solidFill>
                <a:latin typeface="Calibri"/>
              </a:rPr>
              <a:t>Not a proposal — a </a:t>
            </a:r>
            <a:r>
              <a:rPr sz="900" b="1" i="0">
                <a:solidFill>
                  <a:srgbClr val="1F2933"/>
                </a:solidFill>
                <a:latin typeface="Calibri"/>
              </a:rPr>
              <a:t>built system</a:t>
            </a:r>
            <a:r>
              <a:rPr sz="900" b="0" i="0">
                <a:solidFill>
                  <a:srgbClr val="1F2933"/>
                </a:solidFill>
                <a:latin typeface="Calibri"/>
              </a:rPr>
              <a:t>. These gates run against the live build, and are the same checks that block a merge in CI:</a:t>
            </a:r>
          </a:p>
        </p:txBody>
      </p:sp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429768" y="2011680"/>
          <a:ext cx="6108192" cy="8339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19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483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Blocking gate</a:t>
                      </a:r>
                    </a:p>
                  </a:txBody>
                  <a:tcPr marL="64008" marR="64008" marT="13716" marB="13716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64008" marR="64008" marT="13716" marB="13716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64008" marR="64008" marT="13716" marB="13716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Lake at rest — spurious velocity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5.98e-14 m/s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&lt; 1e-8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Mass conservation — volume drift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0.000000 %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&lt; 0.1 %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Ritter dam-break — RMSE vs exact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0.0317 m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&lt; 0.10 m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414" name="TextBox 17413"/>
          <p:cNvSpPr txBox="1"/>
          <p:nvPr/>
        </p:nvSpPr>
        <p:spPr>
          <a:xfrm>
            <a:off x="429768" y="2889504"/>
            <a:ext cx="6108192" cy="20116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00" b="0" i="0">
                <a:solidFill>
                  <a:srgbClr val="1F2933"/>
                </a:solidFill>
                <a:latin typeface="Calibri"/>
              </a:rPr>
              <a:t>Both engines against the exact Ritter solution, same grid, same instant:</a:t>
            </a:r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506084"/>
              </p:ext>
            </p:extLst>
          </p:nvPr>
        </p:nvGraphicFramePr>
        <p:xfrm>
          <a:off x="429768" y="3108960"/>
          <a:ext cx="6108192" cy="62544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19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483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 dirty="0">
                          <a:solidFill>
                            <a:srgbClr val="FFFFFF"/>
                          </a:solidFill>
                          <a:latin typeface="Calibri"/>
                        </a:rPr>
                        <a:t>Engine</a:t>
                      </a:r>
                    </a:p>
                  </a:txBody>
                  <a:tcPr marL="64008" marR="64008" marT="13716" marB="13716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RMSE vs exact</a:t>
                      </a:r>
                    </a:p>
                  </a:txBody>
                  <a:tcPr marL="64008" marR="64008" marT="13716" marB="13716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Depth at dam</a:t>
                      </a:r>
                    </a:p>
                  </a:txBody>
                  <a:tcPr marL="64008" marR="64008" marT="13716" marB="13716" anchor="ctr"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lang="en-IN" sz="860" b="0" i="0" dirty="0">
                          <a:solidFill>
                            <a:srgbClr val="1F2933"/>
                          </a:solidFill>
                          <a:latin typeface="Calibri"/>
                        </a:rPr>
                        <a:t>Project name</a:t>
                      </a:r>
                      <a:r>
                        <a:rPr sz="860" b="0" i="0" dirty="0">
                          <a:solidFill>
                            <a:srgbClr val="1F2933"/>
                          </a:solidFill>
                          <a:latin typeface="Calibri"/>
                        </a:rPr>
                        <a:t> 2D SWE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0.0317 m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4.532 m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483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Delft3D FM (dflowfm-cli)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0.0349 m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4.515 m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16" name="TextBox 17415"/>
          <p:cNvSpPr txBox="1"/>
          <p:nvPr/>
        </p:nvSpPr>
        <p:spPr>
          <a:xfrm>
            <a:off x="6812280" y="1207008"/>
            <a:ext cx="489204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 dirty="0">
                <a:solidFill>
                  <a:srgbClr val="0F2B46"/>
                </a:solidFill>
                <a:latin typeface="Calibri"/>
              </a:rPr>
              <a:t>The gates, run from the dashboard</a:t>
            </a:r>
          </a:p>
        </p:txBody>
      </p:sp>
      <p:pic>
        <p:nvPicPr>
          <p:cNvPr id="17417" name="Picture 17416" descr="valid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517904"/>
            <a:ext cx="4892040" cy="2325510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6812280" y="3889133"/>
            <a:ext cx="48920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780" b="0" i="0">
                <a:solidFill>
                  <a:srgbClr val="5A6672"/>
                </a:solidFill>
                <a:latin typeface="Calibri"/>
              </a:rPr>
              <a:t>All three PASS. h₀ = 10 m, t = 40 s, Δx = 10 m, frictionless flat bed; exact 4h₀/9 = 4.444 m, and the two engines agree to 0.0294 m RMSE.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20040" y="4151376"/>
            <a:ext cx="5742432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B02E2A"/>
                </a:solidFill>
                <a:latin typeface="Calibri"/>
              </a:rPr>
              <a:t>Potential challenges and risks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0040" y="4462272"/>
            <a:ext cx="5742432" cy="1773936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11430">
            <a:solidFill>
              <a:srgbClr val="ECD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429768" y="4553712"/>
            <a:ext cx="5522976" cy="15910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Wet–dry front instability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— negative depths and spurious velocities. This fails visibly in a live demo.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30 m GLO-30 is a surface model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with no reservoir bathymetry; it flattens water and puts canopy in the channel. 1–2 cells span a Himalayan gorge.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Breach regressions disagree by 3–4×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— the dominant uncertainty term, and a documented state of the art rather than a defect in this implementation.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SPH does not scale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— uniform resolution is an acknowledged limitation (SPHERIC Grand Challenge 3); it cannot span a basin.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Debris, not clear water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— Chamoli was ~80% rock by volume, and clear-water physics understates such an event.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Manning's n is uncertain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, and inundation extent is sensitive to it.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199632" y="4151376"/>
            <a:ext cx="5641848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E7C7B"/>
                </a:solidFill>
                <a:latin typeface="Calibri"/>
              </a:rPr>
              <a:t>Strategies for overcoming these challenges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199632" y="4462272"/>
            <a:ext cx="5641848" cy="1773936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6309360" y="4553712"/>
            <a:ext cx="5422392" cy="159105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Positivity-preserving scheme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— Audusse reconstruction under a CFL ≤ 1/2 bound; lake-at-rest and mass conservation gate every merge, and both pass now.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Lead with arrival time and extent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, not point depth. Every depth figure here is labelled indicative; the DEM limit is stated, not buried.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Quote the band, never the number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— Monte-Carlo over all four regressions returns p05 / median / p95 for outflow, depth and arrival time.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Confine SPH to a near-field box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(~600 m, 15 s) and hand off one-way; the far field is left to the depth-averaged solver, where it is valid.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Positioned as a Tier-1 screening layer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under CWC CDSO_GUD_DS_05: it triages which dams warrant a full Tier-2/3 study, and does not replace one.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i="0">
                <a:solidFill>
                  <a:srgbClr val="1F2933"/>
                </a:solidFill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52144"/>
            <a:ext cx="2209190" cy="896112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438912" y="1234440"/>
            <a:ext cx="1971446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F2B46"/>
                </a:solidFill>
                <a:latin typeface="Calibri"/>
              </a:rPr>
              <a:t>1,180,102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38912" y="1645920"/>
            <a:ext cx="1971446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people in the modelled domain</a:t>
            </a:r>
          </a:p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(GHSL P2023A, epoch 2020)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648102" y="1152144"/>
            <a:ext cx="2209190" cy="896112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2766974" y="1234440"/>
            <a:ext cx="1971446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B02E2A"/>
                </a:solidFill>
                <a:latin typeface="Calibri"/>
              </a:rPr>
              <a:t>1,760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766974" y="1645920"/>
            <a:ext cx="1971446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reach 0.1 m depth or more — the</a:t>
            </a:r>
          </a:p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population actually at risk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976164" y="1152144"/>
            <a:ext cx="2209190" cy="896112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5095036" y="1234440"/>
            <a:ext cx="1971446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B02E2A"/>
                </a:solidFill>
                <a:latin typeface="Calibri"/>
              </a:rPr>
              <a:t>193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095036" y="1645920"/>
            <a:ext cx="1971446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have under 15 min of warning at a</a:t>
            </a:r>
          </a:p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30 min lead-time assumption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304227" y="1152144"/>
            <a:ext cx="2209190" cy="896112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7423099" y="1234440"/>
            <a:ext cx="1971446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E7C7B"/>
                </a:solidFill>
                <a:latin typeface="Calibri"/>
              </a:rPr>
              <a:t>50.2</a:t>
            </a:r>
            <a:r>
              <a:rPr sz="950">
                <a:solidFill>
                  <a:srgbClr val="5A6672"/>
                </a:solidFill>
                <a:latin typeface="Calibri"/>
              </a:rPr>
              <a:t> min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423099" y="1645920"/>
            <a:ext cx="1971446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for the wave to reach Koteshwar,</a:t>
            </a:r>
          </a:p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13.0 km downstream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9632289" y="1152144"/>
            <a:ext cx="2209190" cy="896112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9751161" y="1234440"/>
            <a:ext cx="1971446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E7C7B"/>
                </a:solidFill>
                <a:latin typeface="Calibri"/>
              </a:rPr>
              <a:t>46.44</a:t>
            </a:r>
            <a:r>
              <a:rPr sz="950">
                <a:solidFill>
                  <a:srgbClr val="5A6672"/>
                </a:solidFill>
                <a:latin typeface="Calibri"/>
              </a:rPr>
              <a:t> km²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9751161" y="1645920"/>
            <a:ext cx="1971446" cy="32918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inundated envelope, severity</a:t>
            </a:r>
          </a:p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index 0.94 over water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20040" y="2084831"/>
            <a:ext cx="115214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780" b="0" i="0">
                <a:solidFill>
                  <a:srgbClr val="5A6672"/>
                </a:solidFill>
                <a:latin typeface="Calibri"/>
              </a:rPr>
              <a:t>One real run, not an illustration: Tehri Dam (260 m, 3,540 MCM), central breach, 600×600 cells at 200 m over a 60 km radius, 3 h simulated. Peak breach outflow 229,952 m³/s (p05–p95 117,061–353,612); breach formation 29.3 min; maximum depth anywhere 99.9 m (75.1–120.6 m). Depth on a 30 m DEM is indicative — lead with arrival time.   </a:t>
            </a:r>
            <a:r>
              <a:rPr sz="780" b="1" i="0">
                <a:solidFill>
                  <a:srgbClr val="5A6672"/>
                </a:solidFill>
                <a:latin typeface="Calibri"/>
              </a:rPr>
              <a:t>Target —</a:t>
            </a:r>
            <a:r>
              <a:rPr sz="780" b="0" i="0">
                <a:solidFill>
                  <a:srgbClr val="5A6672"/>
                </a:solidFill>
                <a:latin typeface="Calibri"/>
              </a:rPr>
              <a:t> at ~1 min per dam measured, screening all ~6,000 NRLD large dams at Tier-1 is under a week of compute; a state's worth in an afternoon.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20040" y="2377440"/>
            <a:ext cx="576072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350" b="1" i="0">
                <a:solidFill>
                  <a:srgbClr val="0F2B46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20040" y="2688336"/>
            <a:ext cx="5760720" cy="1499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F2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448056" y="2779776"/>
            <a:ext cx="5504688" cy="131673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320"/>
              </a:spcAft>
            </a:pPr>
            <a:r>
              <a:rPr sz="84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40" b="1" i="0">
                <a:solidFill>
                  <a:srgbClr val="1F2933"/>
                </a:solidFill>
                <a:latin typeface="Calibri"/>
              </a:rPr>
              <a:t>NDMA / SDMA / DDMA</a:t>
            </a:r>
            <a:r>
              <a:rPr sz="840" b="0" i="0">
                <a:solidFill>
                  <a:srgbClr val="1F2933"/>
                </a:solidFill>
                <a:latin typeface="Calibri"/>
              </a:rPr>
              <a:t> — depth, extent and arrival time are exactly what an evacuation order needs; .kml drops into the GIS they already run.</a:t>
            </a:r>
          </a:p>
          <a:p>
            <a:pPr algn="l">
              <a:lnSpc>
                <a:spcPct val="95000"/>
              </a:lnSpc>
              <a:spcAft>
                <a:spcPts val="320"/>
              </a:spcAft>
            </a:pPr>
            <a:r>
              <a:rPr sz="84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40" b="1" i="0">
                <a:solidFill>
                  <a:srgbClr val="1F2933"/>
                </a:solidFill>
                <a:latin typeface="Calibri"/>
              </a:rPr>
              <a:t>CWC / NDSA</a:t>
            </a:r>
            <a:r>
              <a:rPr sz="840" b="0" i="0">
                <a:solidFill>
                  <a:srgbClr val="1F2933"/>
                </a:solidFill>
                <a:latin typeface="Calibri"/>
              </a:rPr>
              <a:t> — a Tier-1 screening layer under CDSO_GUD_DS_05, to triage which of India's large dams warrant a full expert study first.</a:t>
            </a:r>
          </a:p>
          <a:p>
            <a:pPr algn="l">
              <a:lnSpc>
                <a:spcPct val="95000"/>
              </a:lnSpc>
              <a:spcAft>
                <a:spcPts val="320"/>
              </a:spcAft>
            </a:pPr>
            <a:r>
              <a:rPr sz="84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40" b="1" i="0">
                <a:solidFill>
                  <a:srgbClr val="1F2933"/>
                </a:solidFill>
                <a:latin typeface="Calibri"/>
              </a:rPr>
              <a:t>NTRO / HADR planners</a:t>
            </a:r>
            <a:r>
              <a:rPr sz="840" b="0" i="0">
                <a:solidFill>
                  <a:srgbClr val="1F2933"/>
                </a:solidFill>
                <a:latin typeface="Calibri"/>
              </a:rPr>
              <a:t> — scenarios for dams and landslide lakes that cannot be ground-surveyed, including reaches with no site access.</a:t>
            </a:r>
          </a:p>
          <a:p>
            <a:pPr algn="l">
              <a:lnSpc>
                <a:spcPct val="95000"/>
              </a:lnSpc>
              <a:spcAft>
                <a:spcPts val="320"/>
              </a:spcAft>
            </a:pPr>
            <a:r>
              <a:rPr sz="84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40" b="1" i="0">
                <a:solidFill>
                  <a:srgbClr val="1F2933"/>
                </a:solidFill>
                <a:latin typeface="Calibri"/>
              </a:rPr>
              <a:t>Army / BRO / NDRF</a:t>
            </a:r>
            <a:r>
              <a:rPr sz="840" b="0" i="0">
                <a:solidFill>
                  <a:srgbClr val="1F2933"/>
                </a:solidFill>
                <a:latin typeface="Calibri"/>
              </a:rPr>
              <a:t> — pre-positioning, and deliberate-breach planning of the kind executed at Phuktal in 2015.</a:t>
            </a:r>
          </a:p>
          <a:p>
            <a:pPr algn="l">
              <a:lnSpc>
                <a:spcPct val="95000"/>
              </a:lnSpc>
              <a:spcAft>
                <a:spcPts val="320"/>
              </a:spcAft>
            </a:pPr>
            <a:r>
              <a:rPr sz="84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40" b="1" i="0">
                <a:solidFill>
                  <a:srgbClr val="1F2933"/>
                </a:solidFill>
                <a:latin typeface="Calibri"/>
              </a:rPr>
              <a:t>Downstream communities</a:t>
            </a:r>
            <a:r>
              <a:rPr sz="840" b="0" i="0">
                <a:solidFill>
                  <a:srgbClr val="1F2933"/>
                </a:solidFill>
                <a:latin typeface="Calibri"/>
              </a:rPr>
              <a:t> — the people counted in the 1,760 above, who at Chamoli in 2021 received no warning at all.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20040" y="4242816"/>
            <a:ext cx="576072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350" b="1" i="0">
                <a:solidFill>
                  <a:srgbClr val="0F2B46"/>
                </a:solidFill>
                <a:latin typeface="Calibri"/>
              </a:rPr>
              <a:t>Benefits of the solution (social, economic, environmental)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20040" y="4553712"/>
            <a:ext cx="1847088" cy="1645920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411479" y="4626864"/>
            <a:ext cx="1664208" cy="21945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19" b="1" i="0">
                <a:solidFill>
                  <a:srgbClr val="B02E2A"/>
                </a:solidFill>
                <a:latin typeface="Calibri"/>
              </a:rPr>
              <a:t>SOCIAL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29768" y="4901183"/>
            <a:ext cx="1627632" cy="12252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819" b="0" i="0">
                <a:solidFill>
                  <a:srgbClr val="1F2933"/>
                </a:solidFill>
                <a:latin typeface="Calibri"/>
              </a:rPr>
              <a:t>Arrival time is lead time, and lead time is evacuation. The exposed population is split by how many minutes each group actually has — 193 of them under 15. Works for terrain that cannot be surveyed or reached at all.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2276856" y="4553712"/>
            <a:ext cx="1847088" cy="1645920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2368296" y="4626864"/>
            <a:ext cx="1664208" cy="21945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19" b="1" i="0">
                <a:solidFill>
                  <a:srgbClr val="0F2B46"/>
                </a:solidFill>
                <a:latin typeface="Calibri"/>
              </a:rPr>
              <a:t>ECONOMIC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2386584" y="4901183"/>
            <a:ext cx="1627632" cy="12252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819" b="0" i="0">
                <a:solidFill>
                  <a:srgbClr val="1F2933"/>
                </a:solidFill>
                <a:latin typeface="Calibri"/>
              </a:rPr>
              <a:t>Zero licence cost, and automation replaces weeks of specialist setup per site. .shp / .kml at the 1:50,000 and 1:10,000 scales CWC's Emergency Action Plan guidelines specify — usable, not merely viewable.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233672" y="4553712"/>
            <a:ext cx="1847088" cy="1645920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37" name="TextBox 17436"/>
          <p:cNvSpPr txBox="1"/>
          <p:nvPr/>
        </p:nvSpPr>
        <p:spPr>
          <a:xfrm>
            <a:off x="4325112" y="4626864"/>
            <a:ext cx="1664208" cy="21945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19" b="1" i="0">
                <a:solidFill>
                  <a:srgbClr val="0E7C7B"/>
                </a:solidFill>
                <a:latin typeface="Calibri"/>
              </a:rPr>
              <a:t>ENVIRONMENTAL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343400" y="4901183"/>
            <a:ext cx="1627632" cy="122529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819" b="0" i="0">
                <a:solidFill>
                  <a:srgbClr val="1F2933"/>
                </a:solidFill>
                <a:latin typeface="Calibri"/>
              </a:rPr>
              <a:t>Identifies cropland and ecosystems in the flood path, and supports scheduled controlled release over emergency release. Open and reproducible: anyone can re-run the cross-check and get these numbers.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355080" y="2377440"/>
            <a:ext cx="548640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Real terrain, real reach</a:t>
            </a:r>
          </a:p>
        </p:txBody>
      </p:sp>
      <p:pic>
        <p:nvPicPr>
          <p:cNvPr id="17440" name="Picture 17439" descr="terrain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660904"/>
            <a:ext cx="3566160" cy="2067935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6355080" y="4811135"/>
            <a:ext cx="548640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720" b="0" i="0">
                <a:solidFill>
                  <a:srgbClr val="5A6672"/>
                </a:solidFill>
                <a:latin typeface="Calibri"/>
              </a:rPr>
              <a:t>Bhagirathi valley below Tehri on Copernicus GLO-30, rendered in ParaView with the computed depth draped over it. Rishikesh and Haridwar report no arrival — Rishikesh sits 18 m above the nearest channel — reported as a null, not dropped.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355080" y="4974336"/>
            <a:ext cx="548640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Roadmap — done, now, next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6629400" y="5376672"/>
            <a:ext cx="4937760" cy="18288"/>
          </a:xfrm>
          <a:prstGeom prst="rect">
            <a:avLst/>
          </a:prstGeom>
          <a:solidFill>
            <a:srgbClr val="C9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Oval 17443"/>
          <p:cNvSpPr/>
          <p:nvPr/>
        </p:nvSpPr>
        <p:spPr>
          <a:xfrm>
            <a:off x="6501384" y="5303520"/>
            <a:ext cx="146304" cy="14630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45" name="TextBox 17444"/>
          <p:cNvSpPr txBox="1"/>
          <p:nvPr/>
        </p:nvSpPr>
        <p:spPr>
          <a:xfrm>
            <a:off x="6702552" y="5294376"/>
            <a:ext cx="1426464" cy="16459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60" b="1" i="0">
                <a:solidFill>
                  <a:srgbClr val="0E7C7B"/>
                </a:solidFill>
                <a:latin typeface="Calibri"/>
              </a:rPr>
              <a:t>DONE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501384" y="5477256"/>
            <a:ext cx="1609344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00" b="0" i="0">
                <a:solidFill>
                  <a:srgbClr val="5A6672"/>
                </a:solidFill>
                <a:latin typeface="Calibri"/>
              </a:rPr>
              <a:t>Jan – Aug 2026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501384" y="5650992"/>
            <a:ext cx="1609344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 dirty="0">
                <a:solidFill>
                  <a:srgbClr val="1F2933"/>
                </a:solidFill>
                <a:latin typeface="Calibri"/>
              </a:rPr>
              <a:t>▪ Solver + blocking gates</a:t>
            </a:r>
          </a:p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 dirty="0">
                <a:solidFill>
                  <a:srgbClr val="1F2933"/>
                </a:solidFill>
                <a:latin typeface="Calibri"/>
              </a:rPr>
              <a:t>▪ Delft3D FM cross-check</a:t>
            </a:r>
          </a:p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 dirty="0">
                <a:solidFill>
                  <a:srgbClr val="1F2933"/>
                </a:solidFill>
                <a:latin typeface="Calibri"/>
              </a:rPr>
              <a:t>▪ Dashboard, exports, SPH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8330183" y="5303520"/>
            <a:ext cx="146304" cy="146304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49" name="TextBox 17448"/>
          <p:cNvSpPr txBox="1"/>
          <p:nvPr/>
        </p:nvSpPr>
        <p:spPr>
          <a:xfrm>
            <a:off x="8531352" y="5294376"/>
            <a:ext cx="1426464" cy="16459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60" b="1" i="0">
                <a:solidFill>
                  <a:srgbClr val="0F2B46"/>
                </a:solidFill>
                <a:latin typeface="Calibri"/>
              </a:rPr>
              <a:t>NOW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330183" y="5477256"/>
            <a:ext cx="1609344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00" b="0" i="0">
                <a:solidFill>
                  <a:srgbClr val="5A6672"/>
                </a:solidFill>
                <a:latin typeface="Calibri"/>
              </a:rPr>
              <a:t>Sep 2026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8330183" y="5650992"/>
            <a:ext cx="1609344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▪ Tehri + Khadakwasla runs</a:t>
            </a:r>
          </a:p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▪ Sentinel-1 validation loop</a:t>
            </a:r>
          </a:p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▪ SIH prototype review</a:t>
            </a:r>
          </a:p>
        </p:txBody>
      </p:sp>
      <p:sp>
        <p:nvSpPr>
          <p:cNvPr id="17452" name="Oval 17451"/>
          <p:cNvSpPr/>
          <p:nvPr/>
        </p:nvSpPr>
        <p:spPr>
          <a:xfrm>
            <a:off x="10158984" y="5303520"/>
            <a:ext cx="146304" cy="146304"/>
          </a:xfrm>
          <a:prstGeom prst="ellipse">
            <a:avLst/>
          </a:prstGeom>
          <a:solidFill>
            <a:srgbClr val="B0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53" name="TextBox 17452"/>
          <p:cNvSpPr txBox="1"/>
          <p:nvPr/>
        </p:nvSpPr>
        <p:spPr>
          <a:xfrm>
            <a:off x="10360152" y="5294376"/>
            <a:ext cx="1426464" cy="16459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60" b="1" i="0">
                <a:solidFill>
                  <a:srgbClr val="B02E2A"/>
                </a:solidFill>
                <a:latin typeface="Calibri"/>
              </a:rPr>
              <a:t>NEXT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10158984" y="5477256"/>
            <a:ext cx="1609344" cy="14630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00" b="0" i="0">
                <a:solidFill>
                  <a:srgbClr val="5A6672"/>
                </a:solidFill>
                <a:latin typeface="Calibri"/>
              </a:rPr>
              <a:t>Oct 2026 →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10158984" y="5650992"/>
            <a:ext cx="1609344" cy="56692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 dirty="0">
                <a:solidFill>
                  <a:srgbClr val="1F2933"/>
                </a:solidFill>
                <a:latin typeface="Calibri"/>
              </a:rPr>
              <a:t>▪ All CWC NRLD dams</a:t>
            </a:r>
          </a:p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 dirty="0">
                <a:solidFill>
                  <a:srgbClr val="1F2933"/>
                </a:solidFill>
                <a:latin typeface="Calibri"/>
              </a:rPr>
              <a:t>▪ EAP-format map packs</a:t>
            </a:r>
          </a:p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 dirty="0">
                <a:solidFill>
                  <a:srgbClr val="1F2933"/>
                </a:solidFill>
                <a:latin typeface="Calibri"/>
              </a:rPr>
              <a:t>▪ SDMA field pilot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i="0">
                <a:solidFill>
                  <a:srgbClr val="1F2933"/>
                </a:solidFill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188720"/>
            <a:ext cx="1152144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20040" y="1517904"/>
            <a:ext cx="3785615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19" b="1" i="0">
                <a:solidFill>
                  <a:srgbClr val="0F2B46"/>
                </a:solidFill>
                <a:latin typeface="Calibri"/>
              </a:rPr>
              <a:t>Problem domain — Indian events and regulation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1828800"/>
            <a:ext cx="3785615" cy="367588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429768" y="1929384"/>
            <a:ext cx="3566159" cy="34747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CWC / CDSO,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Guidelines for Mapping Flood Risks Associated with Dams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, CDSO_GUD_DS_05 v1.0, 2018 — the Tier 1–3 framework this tool targets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CWC,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Emergency Action Plan guidelines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— index maps 1:50,000, detailed maps 1:10,000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Shugar et al. 2021,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Science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373:300–306, doi 10.1126/science.abh4455 — Chamoli; travel times matched to under 5%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Rana et al. 2023,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Natural Hazards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, doi 10.1007/s11069-023-05972-5 — an independent reconstruction of the same event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Sinha 2009,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Current Science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97:429–433 — the 2008 Kosi avulsion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Costa &amp; Schuster 1988,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GSA Bulletin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— formation and failure of natural dams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CWC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NRLD 2019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and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NRSD 2025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national dam registers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224528" y="1517904"/>
            <a:ext cx="3785615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19" b="1" i="0">
                <a:solidFill>
                  <a:srgbClr val="0F2B46"/>
                </a:solidFill>
                <a:latin typeface="Calibri"/>
              </a:rPr>
              <a:t>Numerical methods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24528" y="1828800"/>
            <a:ext cx="3785615" cy="367588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4334256" y="1929384"/>
            <a:ext cx="3566159" cy="34747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Toro 2001,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Shock-Capturing Methods for Free-Surface Shallow Flows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, Wiley — HLLC wave speeds, two-rarefaction estimate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Audusse et al. 2004,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SIAM J. Sci. Comput.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25:2050 — hydrostatic reconstruction, the well-balanced property this solver rests on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Froehlich 2008,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J. Hydraul. Eng.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134(12) — embankment breach regressions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Xu &amp; Zhang 2009,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J. Geotech. Geoenviron. Eng.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135(12)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Wahl 2004,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J. Hydraul. Eng.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130(5) — uncertainty of breach parameters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Maranzoni &amp; Tomirotti 2023,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Water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15(17):3130, doi 10.3390/w15173130 — recommends exactly this coupled 2D–3D decomposition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Vacondio et al. 2020,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Comp. Particle Mech.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8:575 — SPH Grand Challenge 3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Ramachandran et al. 2021,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ACM TOMS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47(4), doi 10.1145/3460773 — PySPH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138160" y="1517904"/>
            <a:ext cx="370332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19" b="1" i="0">
                <a:solidFill>
                  <a:srgbClr val="0E7C7B"/>
                </a:solidFill>
                <a:latin typeface="Calibri"/>
              </a:rPr>
              <a:t>Open data and software — free, none login-gated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38160" y="1828800"/>
            <a:ext cx="3703320" cy="3675888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11430">
            <a:solidFill>
              <a:srgbClr val="ECD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8247888" y="1929384"/>
            <a:ext cx="3483863" cy="34747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Copernicus DEM GLO-30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— 30 m, public AWS Cloud-Optimized GeoTIFFs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Sentinel-1 GRD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and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JRC Global Surface Water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via Google Earth Engine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GHSL P2023A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gridded population, epoch 2020 (JRC)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ESA WorldCover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— land cover driving Manning's n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Google Open Buildings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— CC BY 4.0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Delft3D FM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, Deltares — Suite 2026.01 HM, dflowfm-cli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PySPH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— BSD licence, developed at IIT Bombay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0" i="1">
                <a:solidFill>
                  <a:srgbClr val="1F2933"/>
                </a:solidFill>
                <a:latin typeface="Calibri"/>
              </a:rPr>
              <a:t>Deliberately excluded: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FABDEM (CC BY-NC-SA), MERIT (CC BY-NC / ODbL) and OSM (ODbL share-alike) are kept out of redistributed outputs on licence grounds.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0040" y="5669280"/>
            <a:ext cx="11521440" cy="51206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475488" y="5876402"/>
            <a:ext cx="11210544" cy="13439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1" i="0" dirty="0">
                <a:solidFill>
                  <a:srgbClr val="FFFFFF"/>
                </a:solidFill>
                <a:latin typeface="Calibri"/>
              </a:rPr>
              <a:t>Reproduce every number on this deck:</a:t>
            </a:r>
            <a:r>
              <a:rPr sz="919" b="0" i="0" dirty="0">
                <a:solidFill>
                  <a:srgbClr val="FFFFFF"/>
                </a:solidFill>
                <a:latin typeface="Calibri"/>
              </a:rPr>
              <a:t>   python scripts/validate_against_delft3d.py --case ritter   |   </a:t>
            </a:r>
            <a:r>
              <a:rPr lang="en-IN" sz="919" b="0" i="0">
                <a:solidFill>
                  <a:srgbClr val="FFFFFF"/>
                </a:solidFill>
                <a:latin typeface="Calibri"/>
              </a:rPr>
              <a:t>project name</a:t>
            </a:r>
            <a:r>
              <a:rPr sz="919" b="0" i="0">
                <a:solidFill>
                  <a:srgbClr val="FFFFFF"/>
                </a:solidFill>
                <a:latin typeface="Calibri"/>
              </a:rPr>
              <a:t> </a:t>
            </a:r>
            <a:r>
              <a:rPr sz="919" b="0" i="0" dirty="0">
                <a:solidFill>
                  <a:srgbClr val="FFFFFF"/>
                </a:solidFill>
                <a:latin typeface="Calibri"/>
              </a:rPr>
              <a:t>run --dam tehri   |   dashboard at localhost:3000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9428</TotalTime>
  <Words>2360</Words>
  <Application>Microsoft Office PowerPoint</Application>
  <PresentationFormat>Widescreen</PresentationFormat>
  <Paragraphs>227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Project name  — dam-break screening, with the model checked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satyajeet chavan</cp:lastModifiedBy>
  <cp:revision>150</cp:revision>
  <dcterms:created xsi:type="dcterms:W3CDTF">2013-12-12T18:46:50Z</dcterms:created>
  <dcterms:modified xsi:type="dcterms:W3CDTF">2026-08-31T21:21:51Z</dcterms:modified>
  <cp:category/>
</cp:coreProperties>
</file>