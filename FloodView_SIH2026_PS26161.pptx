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 wrap="square"/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600" b="0" i="0">
                <a:solidFill>
                  <a:srgbClr val="0070C0"/>
                </a:solidFill>
                <a:latin typeface="Times New Roman"/>
              </a:rPr>
              <a:t>FLOODVIEW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250" b="1" i="0">
                <a:solidFill>
                  <a:srgbClr val="14305A"/>
                </a:solidFill>
                <a:latin typeface="Arial"/>
              </a:rPr>
              <a:t>Problem Statement ID —</a:t>
            </a:r>
            <a:r>
              <a:rPr sz="1250" b="0" i="0">
                <a:solidFill>
                  <a:srgbClr val="14305A"/>
                </a:solidFill>
                <a:latin typeface="Arial"/>
              </a:rPr>
              <a:t> 26161</a:t>
            </a:r>
            <a:endParaRPr lang="en-US" dirty="0"/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250" b="1" i="0">
                <a:solidFill>
                  <a:srgbClr val="14305A"/>
                </a:solidFill>
                <a:latin typeface="Arial"/>
              </a:rPr>
              <a:t>Problem Statement Title —</a:t>
            </a:r>
            <a:r>
              <a:rPr sz="1250" b="0" i="0">
                <a:solidFill>
                  <a:srgbClr val="14305A"/>
                </a:solidFill>
                <a:latin typeface="Arial"/>
              </a:rPr>
              <a:t> Dam Break Inundation Modelling Using Hydrodynamic Modelling of any River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250" b="1" i="0">
                <a:solidFill>
                  <a:srgbClr val="14305A"/>
                </a:solidFill>
                <a:latin typeface="Arial"/>
              </a:rPr>
              <a:t>Theme —</a:t>
            </a:r>
            <a:r>
              <a:rPr sz="1250" b="0" i="0">
                <a:solidFill>
                  <a:srgbClr val="14305A"/>
                </a:solidFill>
                <a:latin typeface="Arial"/>
              </a:rPr>
              <a:t> Disaster Management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250" b="1" i="0">
                <a:solidFill>
                  <a:srgbClr val="14305A"/>
                </a:solidFill>
                <a:latin typeface="Arial"/>
              </a:rPr>
              <a:t>PS Category —</a:t>
            </a:r>
            <a:r>
              <a:rPr sz="1250" b="0" i="0">
                <a:solidFill>
                  <a:srgbClr val="14305A"/>
                </a:solidFill>
                <a:latin typeface="Arial"/>
              </a:rPr>
              <a:t> Software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250" b="1" i="0">
                <a:solidFill>
                  <a:srgbClr val="14305A"/>
                </a:solidFill>
                <a:latin typeface="Arial"/>
              </a:rPr>
              <a:t>Team ID —</a:t>
            </a:r>
            <a:r>
              <a:rPr sz="1250" b="0" i="0">
                <a:solidFill>
                  <a:srgbClr val="14305A"/>
                </a:solidFill>
                <a:latin typeface="Arial"/>
              </a:rPr>
              <a:t> [from SIH portal]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250" b="1" i="0">
                <a:solidFill>
                  <a:srgbClr val="14305A"/>
                </a:solidFill>
                <a:latin typeface="Arial"/>
              </a:rPr>
              <a:t>Team Name —</a:t>
            </a:r>
            <a:r>
              <a:rPr sz="1250" b="0" i="0">
                <a:solidFill>
                  <a:srgbClr val="14305A"/>
                </a:solidFill>
                <a:latin typeface="Arial"/>
              </a:rPr>
              <a:t> [as registered on portal]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sz="3400" b="1">
                <a:latin typeface="Times New Roman"/>
              </a:rPr>
              <a:t>FloodView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850" b="0" i="0">
                <a:solidFill>
                  <a:srgbClr val="262B33"/>
                </a:solidFill>
                <a:latin typeface="Calibri"/>
              </a:rPr>
              <a:t>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Rounded Rectangle 15361"/>
          <p:cNvSpPr/>
          <p:nvPr/>
        </p:nvSpPr>
        <p:spPr>
          <a:xfrm>
            <a:off x="292608" y="1170432"/>
            <a:ext cx="11612880" cy="530352"/>
          </a:xfrm>
          <a:prstGeom prst="roundRect">
            <a:avLst>
              <a:gd name="adj" fmla="val 3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Automated dam-break AND landslide-dam inundation modelling:  Smoothed Particle Hydrodynamics  x  Delft3D-class shallow water  —  quantitatively compared, satellite-validated, zero ground survey</a:t>
            </a:r>
          </a:p>
        </p:txBody>
      </p:sp>
      <p:sp>
        <p:nvSpPr>
          <p:cNvPr id="15363" name="Rounded Rectangle 15362"/>
          <p:cNvSpPr/>
          <p:nvPr/>
        </p:nvSpPr>
        <p:spPr>
          <a:xfrm>
            <a:off x="292608" y="1828800"/>
            <a:ext cx="3794760" cy="4407408"/>
          </a:xfrm>
          <a:prstGeom prst="roundRect">
            <a:avLst>
              <a:gd name="adj" fmla="val 6000"/>
            </a:avLst>
          </a:prstGeom>
          <a:solidFill>
            <a:srgbClr val="EDF4FB"/>
          </a:solidFill>
          <a:ln w="11430">
            <a:solidFill>
              <a:srgbClr val="BBD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5364" name="Rectangle 15363"/>
          <p:cNvSpPr/>
          <p:nvPr/>
        </p:nvSpPr>
        <p:spPr>
          <a:xfrm>
            <a:off x="292608" y="1828800"/>
            <a:ext cx="3794760" cy="310896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5365" name="TextBox 15364"/>
          <p:cNvSpPr txBox="1"/>
          <p:nvPr/>
        </p:nvSpPr>
        <p:spPr>
          <a:xfrm>
            <a:off x="384048" y="1869948"/>
            <a:ext cx="3611880" cy="237744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Detailed explanation of the proposed solution</a:t>
            </a:r>
          </a:p>
        </p:txBody>
      </p:sp>
      <p:sp>
        <p:nvSpPr>
          <p:cNvPr id="15366" name="TextBox 15365"/>
          <p:cNvSpPr txBox="1"/>
          <p:nvPr/>
        </p:nvSpPr>
        <p:spPr>
          <a:xfrm>
            <a:off x="411480" y="2221992"/>
            <a:ext cx="3557016" cy="390448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919" b="0" i="0">
                <a:solidFill>
                  <a:srgbClr val="262B33"/>
                </a:solidFill>
                <a:latin typeface="Calibri"/>
              </a:rPr>
              <a:t>▪ Operator enters a </a:t>
            </a:r>
            <a:r>
              <a:rPr sz="919" b="1" i="0">
                <a:solidFill>
                  <a:srgbClr val="262B33"/>
                </a:solidFill>
                <a:latin typeface="Calibri"/>
              </a:rPr>
              <a:t>dam</a:t>
            </a:r>
            <a:r>
              <a:rPr sz="919" b="0" i="0">
                <a:solidFill>
                  <a:srgbClr val="262B33"/>
                </a:solidFill>
                <a:latin typeface="Calibri"/>
              </a:rPr>
              <a:t> or a </a:t>
            </a:r>
            <a:r>
              <a:rPr sz="919" b="1" i="0">
                <a:solidFill>
                  <a:srgbClr val="262B33"/>
                </a:solidFill>
                <a:latin typeface="Calibri"/>
              </a:rPr>
              <a:t>suspected river blockage</a:t>
            </a:r>
            <a:r>
              <a:rPr sz="919" b="0" i="0">
                <a:solidFill>
                  <a:srgbClr val="262B33"/>
                </a:solidFill>
                <a:latin typeface="Calibri"/>
              </a:rPr>
              <a:t> — lat/lon, height, gross storage, breach mode. Nothing else.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919" b="0" i="0">
                <a:solidFill>
                  <a:srgbClr val="262B33"/>
                </a:solidFill>
                <a:latin typeface="Calibri"/>
              </a:rPr>
              <a:t>▪ Pipeline auto-fetches </a:t>
            </a:r>
            <a:r>
              <a:rPr sz="919" b="1" i="0">
                <a:solidFill>
                  <a:srgbClr val="262B33"/>
                </a:solidFill>
                <a:latin typeface="Calibri"/>
              </a:rPr>
              <a:t>Copernicus GLO-30 DEM</a:t>
            </a:r>
            <a:r>
              <a:rPr sz="919" b="0" i="0">
                <a:solidFill>
                  <a:srgbClr val="262B33"/>
                </a:solidFill>
                <a:latin typeface="Calibri"/>
              </a:rPr>
              <a:t> (public AWS COGs, no login), </a:t>
            </a:r>
            <a:r>
              <a:rPr sz="919" b="1" i="0">
                <a:solidFill>
                  <a:srgbClr val="262B33"/>
                </a:solidFill>
                <a:latin typeface="Calibri"/>
              </a:rPr>
              <a:t>CWC NRLD/NRSD</a:t>
            </a:r>
            <a:r>
              <a:rPr sz="919" b="0" i="0">
                <a:solidFill>
                  <a:srgbClr val="262B33"/>
                </a:solidFill>
                <a:latin typeface="Calibri"/>
              </a:rPr>
              <a:t> dam registers, </a:t>
            </a:r>
            <a:r>
              <a:rPr sz="919" b="1" i="0">
                <a:solidFill>
                  <a:srgbClr val="262B33"/>
                </a:solidFill>
                <a:latin typeface="Calibri"/>
              </a:rPr>
              <a:t>Sentinel-1</a:t>
            </a:r>
            <a:r>
              <a:rPr sz="919" b="0" i="0">
                <a:solidFill>
                  <a:srgbClr val="262B33"/>
                </a:solidFill>
                <a:latin typeface="Calibri"/>
              </a:rPr>
              <a:t> SAR, GHSL and Open Buildings exposure.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919" b="0" i="0">
                <a:solidFill>
                  <a:srgbClr val="262B33"/>
                </a:solidFill>
                <a:latin typeface="Calibri"/>
              </a:rPr>
              <a:t>▪ </a:t>
            </a:r>
            <a:r>
              <a:rPr sz="919" b="1" i="0">
                <a:solidFill>
                  <a:srgbClr val="262B33"/>
                </a:solidFill>
                <a:latin typeface="Calibri"/>
              </a:rPr>
              <a:t>Breach hydrograph</a:t>
            </a:r>
            <a:r>
              <a:rPr sz="919" b="0" i="0">
                <a:solidFill>
                  <a:srgbClr val="262B33"/>
                </a:solidFill>
                <a:latin typeface="Calibri"/>
              </a:rPr>
              <a:t> from Froehlich (2008) / Xu–Zhang (2009) regressions, coupled to weir outflow and reservoir drawdown.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919" b="0" i="0">
                <a:solidFill>
                  <a:srgbClr val="262B33"/>
                </a:solidFill>
                <a:latin typeface="Calibri"/>
              </a:rPr>
              <a:t>▪ </a:t>
            </a:r>
            <a:r>
              <a:rPr sz="919" b="1" i="0">
                <a:solidFill>
                  <a:srgbClr val="262B33"/>
                </a:solidFill>
                <a:latin typeface="Calibri"/>
              </a:rPr>
              <a:t>Near field</a:t>
            </a:r>
            <a:r>
              <a:rPr sz="919" b="0" i="0">
                <a:solidFill>
                  <a:srgbClr val="262B33"/>
                </a:solidFill>
                <a:latin typeface="Calibri"/>
              </a:rPr>
              <a:t> — Smoothed Particle Hydrodynamics resolves the violent, non-hydrostatic breach jet, where depth-averaging is simply invalid.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919" b="0" i="0">
                <a:solidFill>
                  <a:srgbClr val="262B33"/>
                </a:solidFill>
                <a:latin typeface="Calibri"/>
              </a:rPr>
              <a:t>▪ </a:t>
            </a:r>
            <a:r>
              <a:rPr sz="919" b="1" i="0">
                <a:solidFill>
                  <a:srgbClr val="262B33"/>
                </a:solidFill>
                <a:latin typeface="Calibri"/>
              </a:rPr>
              <a:t>Far field</a:t>
            </a:r>
            <a:r>
              <a:rPr sz="919" b="0" i="0">
                <a:solidFill>
                  <a:srgbClr val="262B33"/>
                </a:solidFill>
                <a:latin typeface="Calibri"/>
              </a:rPr>
              <a:t> — Delft3D-class depth-averaged shallow-water finite volume routes the wave tens of km down the valley.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919" b="0" i="0">
                <a:solidFill>
                  <a:srgbClr val="262B33"/>
                </a:solidFill>
                <a:latin typeface="Calibri"/>
              </a:rPr>
              <a:t>▪ Outputs depth, velocity and </a:t>
            </a:r>
            <a:r>
              <a:rPr sz="919" b="1" i="0">
                <a:solidFill>
                  <a:srgbClr val="262B33"/>
                </a:solidFill>
                <a:latin typeface="Calibri"/>
              </a:rPr>
              <a:t>arrival-time</a:t>
            </a:r>
            <a:r>
              <a:rPr sz="919" b="0" i="0">
                <a:solidFill>
                  <a:srgbClr val="262B33"/>
                </a:solidFill>
                <a:latin typeface="Calibri"/>
              </a:rPr>
              <a:t> rasters to a dashboard, plus GeoTIFF / </a:t>
            </a:r>
            <a:r>
              <a:rPr sz="919" b="1" i="0">
                <a:solidFill>
                  <a:srgbClr val="262B33"/>
                </a:solidFill>
                <a:latin typeface="Calibri"/>
              </a:rPr>
              <a:t>.SHP</a:t>
            </a:r>
            <a:r>
              <a:rPr sz="919" b="0" i="0">
                <a:solidFill>
                  <a:srgbClr val="262B33"/>
                </a:solidFill>
                <a:latin typeface="Calibri"/>
              </a:rPr>
              <a:t> / </a:t>
            </a:r>
            <a:r>
              <a:rPr sz="919" b="1" i="0">
                <a:solidFill>
                  <a:srgbClr val="262B33"/>
                </a:solidFill>
                <a:latin typeface="Calibri"/>
              </a:rPr>
              <a:t>.KML</a:t>
            </a:r>
            <a:r>
              <a:rPr sz="919" b="0" i="0">
                <a:solidFill>
                  <a:srgbClr val="262B33"/>
                </a:solidFill>
                <a:latin typeface="Calibri"/>
              </a:rPr>
              <a:t>.</a:t>
            </a:r>
          </a:p>
        </p:txBody>
      </p:sp>
      <p:sp>
        <p:nvSpPr>
          <p:cNvPr id="15367" name="Rounded Rectangle 15366"/>
          <p:cNvSpPr/>
          <p:nvPr/>
        </p:nvSpPr>
        <p:spPr>
          <a:xfrm>
            <a:off x="4270248" y="1828800"/>
            <a:ext cx="3794760" cy="4407408"/>
          </a:xfrm>
          <a:prstGeom prst="roundRect">
            <a:avLst>
              <a:gd name="adj" fmla="val 6000"/>
            </a:avLst>
          </a:prstGeom>
          <a:solidFill>
            <a:srgbClr val="EDF4FB"/>
          </a:solidFill>
          <a:ln w="11430">
            <a:solidFill>
              <a:srgbClr val="BBD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5368" name="Rectangle 15367"/>
          <p:cNvSpPr/>
          <p:nvPr/>
        </p:nvSpPr>
        <p:spPr>
          <a:xfrm>
            <a:off x="4270248" y="1828800"/>
            <a:ext cx="3794760" cy="310896"/>
          </a:xfrm>
          <a:prstGeom prst="rect">
            <a:avLst/>
          </a:prstGeom>
          <a:solidFill>
            <a:srgbClr val="143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5369" name="TextBox 15368"/>
          <p:cNvSpPr txBox="1"/>
          <p:nvPr/>
        </p:nvSpPr>
        <p:spPr>
          <a:xfrm>
            <a:off x="4361688" y="1869948"/>
            <a:ext cx="3611880" cy="237744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How it addresses the problem</a:t>
            </a:r>
          </a:p>
        </p:txBody>
      </p:sp>
      <p:sp>
        <p:nvSpPr>
          <p:cNvPr id="15370" name="TextBox 15369"/>
          <p:cNvSpPr txBox="1"/>
          <p:nvPr/>
        </p:nvSpPr>
        <p:spPr>
          <a:xfrm>
            <a:off x="4389120" y="2221992"/>
            <a:ext cx="3557016" cy="390448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919" b="0" i="0">
                <a:solidFill>
                  <a:srgbClr val="262B33"/>
                </a:solidFill>
                <a:latin typeface="Calibri"/>
              </a:rPr>
              <a:t>▪ </a:t>
            </a:r>
            <a:r>
              <a:rPr sz="919" b="1" i="0">
                <a:solidFill>
                  <a:srgbClr val="262B33"/>
                </a:solidFill>
                <a:latin typeface="Calibri"/>
              </a:rPr>
              <a:t>(i)</a:t>
            </a:r>
            <a:r>
              <a:rPr sz="919" b="0" i="0">
                <a:solidFill>
                  <a:srgbClr val="262B33"/>
                </a:solidFill>
                <a:latin typeface="Calibri"/>
              </a:rPr>
              <a:t> Both scenario classes — engineered dam break </a:t>
            </a:r>
            <a:r>
              <a:rPr sz="919" b="1" i="0">
                <a:solidFill>
                  <a:srgbClr val="262B33"/>
                </a:solidFill>
                <a:latin typeface="Calibri"/>
              </a:rPr>
              <a:t>and</a:t>
            </a:r>
            <a:r>
              <a:rPr sz="919" b="0" i="0">
                <a:solidFill>
                  <a:srgbClr val="262B33"/>
                </a:solidFill>
                <a:latin typeface="Calibri"/>
              </a:rPr>
              <a:t> natural river blockage (Rishi Ganga, Phuktal class) — with loss-and-damage output.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919" b="0" i="0">
                <a:solidFill>
                  <a:srgbClr val="262B33"/>
                </a:solidFill>
                <a:latin typeface="Calibri"/>
              </a:rPr>
              <a:t>▪ </a:t>
            </a:r>
            <a:r>
              <a:rPr sz="919" b="1" i="0">
                <a:solidFill>
                  <a:srgbClr val="262B33"/>
                </a:solidFill>
                <a:latin typeface="Calibri"/>
              </a:rPr>
              <a:t>(ii)</a:t>
            </a:r>
            <a:r>
              <a:rPr sz="919" b="0" i="0">
                <a:solidFill>
                  <a:srgbClr val="262B33"/>
                </a:solidFill>
                <a:latin typeface="Calibri"/>
              </a:rPr>
              <a:t> Pluggable datasets: any DEM, any hydrology source, any AOI.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919" b="0" i="0">
                <a:solidFill>
                  <a:srgbClr val="262B33"/>
                </a:solidFill>
                <a:latin typeface="Calibri"/>
              </a:rPr>
              <a:t>▪ </a:t>
            </a:r>
            <a:r>
              <a:rPr sz="919" b="1" i="0">
                <a:solidFill>
                  <a:srgbClr val="262B33"/>
                </a:solidFill>
                <a:latin typeface="Calibri"/>
              </a:rPr>
              <a:t>(iii)</a:t>
            </a:r>
            <a:r>
              <a:rPr sz="919" b="0" i="0">
                <a:solidFill>
                  <a:srgbClr val="262B33"/>
                </a:solidFill>
                <a:latin typeface="Calibri"/>
              </a:rPr>
              <a:t> Dashboard GUI for model input and tiled output visualisation; </a:t>
            </a:r>
            <a:r>
              <a:rPr sz="919" b="1" i="0">
                <a:solidFill>
                  <a:srgbClr val="262B33"/>
                </a:solidFill>
                <a:latin typeface="Calibri"/>
              </a:rPr>
              <a:t>.shp / .kml</a:t>
            </a:r>
            <a:r>
              <a:rPr sz="919" b="0" i="0">
                <a:solidFill>
                  <a:srgbClr val="262B33"/>
                </a:solidFill>
                <a:latin typeface="Calibri"/>
              </a:rPr>
              <a:t> export as specified.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919" b="0" i="0">
                <a:solidFill>
                  <a:srgbClr val="262B33"/>
                </a:solidFill>
                <a:latin typeface="Calibri"/>
              </a:rPr>
              <a:t>▪ </a:t>
            </a:r>
            <a:r>
              <a:rPr sz="919" b="1" i="0">
                <a:solidFill>
                  <a:srgbClr val="262B33"/>
                </a:solidFill>
                <a:latin typeface="Calibri"/>
              </a:rPr>
              <a:t>(iv)</a:t>
            </a:r>
            <a:r>
              <a:rPr sz="919" b="0" i="0">
                <a:solidFill>
                  <a:srgbClr val="262B33"/>
                </a:solidFill>
                <a:latin typeface="Calibri"/>
              </a:rPr>
              <a:t> </a:t>
            </a:r>
            <a:r>
              <a:rPr sz="919" b="1" i="0">
                <a:solidFill>
                  <a:srgbClr val="262B33"/>
                </a:solidFill>
                <a:latin typeface="Calibri"/>
              </a:rPr>
              <a:t>Google Earth Engine</a:t>
            </a:r>
            <a:r>
              <a:rPr sz="919" b="0" i="0">
                <a:solidFill>
                  <a:srgbClr val="262B33"/>
                </a:solidFill>
                <a:latin typeface="Calibri"/>
              </a:rPr>
              <a:t> Sentinel-1 SAR module for near-real-time observed flood extent.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919" b="0" i="0">
                <a:solidFill>
                  <a:srgbClr val="262B33"/>
                </a:solidFill>
                <a:latin typeface="Calibri"/>
              </a:rPr>
              <a:t>▪ </a:t>
            </a:r>
            <a:r>
              <a:rPr sz="919" b="1" i="0">
                <a:solidFill>
                  <a:srgbClr val="262B33"/>
                </a:solidFill>
                <a:latin typeface="Calibri"/>
              </a:rPr>
              <a:t>(v)</a:t>
            </a:r>
            <a:r>
              <a:rPr sz="919" b="0" i="0">
                <a:solidFill>
                  <a:srgbClr val="262B33"/>
                </a:solidFill>
                <a:latin typeface="Calibri"/>
              </a:rPr>
              <a:t> Runs live on open Indian data — </a:t>
            </a:r>
            <a:r>
              <a:rPr sz="919" b="1" i="0">
                <a:solidFill>
                  <a:srgbClr val="262B33"/>
                </a:solidFill>
                <a:latin typeface="Calibri"/>
              </a:rPr>
              <a:t>Tehri</a:t>
            </a:r>
            <a:r>
              <a:rPr sz="919" b="0" i="0">
                <a:solidFill>
                  <a:srgbClr val="262B33"/>
                </a:solidFill>
                <a:latin typeface="Calibri"/>
              </a:rPr>
              <a:t> (260 m, 3,540 MCM, Koteshwar 13 km downstream) as the engineered case; </a:t>
            </a:r>
            <a:r>
              <a:rPr sz="919" b="1" i="0">
                <a:solidFill>
                  <a:srgbClr val="262B33"/>
                </a:solidFill>
                <a:latin typeface="Calibri"/>
              </a:rPr>
              <a:t>Chamoli 2021</a:t>
            </a:r>
            <a:r>
              <a:rPr sz="919" b="0" i="0">
                <a:solidFill>
                  <a:srgbClr val="262B33"/>
                </a:solidFill>
                <a:latin typeface="Calibri"/>
              </a:rPr>
              <a:t> as the validated natural case.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919" b="0" i="0">
                <a:solidFill>
                  <a:srgbClr val="262B33"/>
                </a:solidFill>
                <a:latin typeface="Calibri"/>
              </a:rPr>
              <a:t>▪ </a:t>
            </a:r>
            <a:r>
              <a:rPr sz="919" b="1" i="0">
                <a:solidFill>
                  <a:srgbClr val="262B33"/>
                </a:solidFill>
                <a:latin typeface="Calibri"/>
              </a:rPr>
              <a:t>Automatic by default</a:t>
            </a:r>
            <a:r>
              <a:rPr sz="919" b="0" i="0">
                <a:solidFill>
                  <a:srgbClr val="262B33"/>
                </a:solidFill>
                <a:latin typeface="Calibri"/>
              </a:rPr>
              <a:t> — coordinates in, decision map out. No hydraulic modeller in the loop, no bathymetric survey, no site access.</a:t>
            </a:r>
          </a:p>
        </p:txBody>
      </p:sp>
      <p:sp>
        <p:nvSpPr>
          <p:cNvPr id="15371" name="Rounded Rectangle 15370"/>
          <p:cNvSpPr/>
          <p:nvPr/>
        </p:nvSpPr>
        <p:spPr>
          <a:xfrm>
            <a:off x="8247888" y="1828800"/>
            <a:ext cx="3794760" cy="4407408"/>
          </a:xfrm>
          <a:prstGeom prst="roundRect">
            <a:avLst>
              <a:gd name="adj" fmla="val 6000"/>
            </a:avLst>
          </a:prstGeom>
          <a:solidFill>
            <a:srgbClr val="EDF4FB"/>
          </a:solidFill>
          <a:ln w="11430">
            <a:solidFill>
              <a:srgbClr val="BBD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5372" name="Rectangle 15371"/>
          <p:cNvSpPr/>
          <p:nvPr/>
        </p:nvSpPr>
        <p:spPr>
          <a:xfrm>
            <a:off x="8247888" y="1828800"/>
            <a:ext cx="3794760" cy="310896"/>
          </a:xfrm>
          <a:prstGeom prst="rect">
            <a:avLst/>
          </a:prstGeom>
          <a:solidFill>
            <a:srgbClr val="0B7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5373" name="TextBox 15372"/>
          <p:cNvSpPr txBox="1"/>
          <p:nvPr/>
        </p:nvSpPr>
        <p:spPr>
          <a:xfrm>
            <a:off x="8339327" y="1869948"/>
            <a:ext cx="3611880" cy="237744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Innovation and uniqueness of the solution</a:t>
            </a:r>
          </a:p>
        </p:txBody>
      </p:sp>
      <p:sp>
        <p:nvSpPr>
          <p:cNvPr id="15374" name="TextBox 15373"/>
          <p:cNvSpPr txBox="1"/>
          <p:nvPr/>
        </p:nvSpPr>
        <p:spPr>
          <a:xfrm>
            <a:off x="8366760" y="2221992"/>
            <a:ext cx="3557016" cy="390448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919" b="0" i="0">
                <a:solidFill>
                  <a:srgbClr val="262B33"/>
                </a:solidFill>
                <a:latin typeface="Calibri"/>
              </a:rPr>
              <a:t>▪ </a:t>
            </a:r>
            <a:r>
              <a:rPr sz="919" b="1" i="0">
                <a:solidFill>
                  <a:srgbClr val="262B33"/>
                </a:solidFill>
                <a:latin typeface="Calibri"/>
              </a:rPr>
              <a:t>The comparison is the product.</a:t>
            </a:r>
            <a:r>
              <a:rPr sz="919" b="0" i="0">
                <a:solidFill>
                  <a:srgbClr val="262B33"/>
                </a:solidFill>
                <a:latin typeface="Calibri"/>
              </a:rPr>
              <a:t> The PS asks that the two models be compared; we make agreement a </a:t>
            </a:r>
            <a:r>
              <a:rPr sz="919" b="0" i="1">
                <a:solidFill>
                  <a:srgbClr val="262B33"/>
                </a:solidFill>
                <a:latin typeface="Calibri"/>
              </a:rPr>
              <a:t>measured</a:t>
            </a:r>
            <a:r>
              <a:rPr sz="919" b="0" i="0">
                <a:solidFill>
                  <a:srgbClr val="262B33"/>
                </a:solidFill>
                <a:latin typeface="Calibri"/>
              </a:rPr>
              <a:t> output — CSI / F1 on wet-cell extent, depth RMSE, arrival-time delta.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919" b="0" i="0">
                <a:solidFill>
                  <a:srgbClr val="262B33"/>
                </a:solidFill>
                <a:latin typeface="Calibri"/>
              </a:rPr>
              <a:t>▪ </a:t>
            </a:r>
            <a:r>
              <a:rPr sz="919" b="1" i="0">
                <a:solidFill>
                  <a:srgbClr val="262B33"/>
                </a:solidFill>
                <a:latin typeface="Calibri"/>
              </a:rPr>
              <a:t>Physics-appropriate decomposition, not duplication.</a:t>
            </a:r>
            <a:r>
              <a:rPr sz="919" b="0" i="0">
                <a:solidFill>
                  <a:srgbClr val="262B33"/>
                </a:solidFill>
                <a:latin typeface="Calibri"/>
              </a:rPr>
              <a:t> SPH is uniform-resolution and cannot span a basin (SPHERIC Grand Challenge 3); depth-averaging cannot resolve a breach jet. Coupled 2D–3D is the direction the review literature itself recommends — we build it.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919" b="0" i="0">
                <a:solidFill>
                  <a:srgbClr val="262B33"/>
                </a:solidFill>
                <a:latin typeface="Calibri"/>
              </a:rPr>
              <a:t>▪ </a:t>
            </a:r>
            <a:r>
              <a:rPr sz="919" b="1" i="0">
                <a:solidFill>
                  <a:srgbClr val="262B33"/>
                </a:solidFill>
                <a:latin typeface="Calibri"/>
              </a:rPr>
              <a:t>Validated against a published benchmark, not a pretty animation.</a:t>
            </a:r>
            <a:r>
              <a:rPr sz="919" b="0" i="0">
                <a:solidFill>
                  <a:srgbClr val="262B33"/>
                </a:solidFill>
                <a:latin typeface="Calibri"/>
              </a:rPr>
              <a:t> Shugar et al. reproduced Chamoli travel times to </a:t>
            </a:r>
            <a:r>
              <a:rPr sz="919" b="1" i="0">
                <a:solidFill>
                  <a:srgbClr val="262B33"/>
                </a:solidFill>
                <a:latin typeface="Calibri"/>
              </a:rPr>
              <a:t>&lt;5%</a:t>
            </a:r>
            <a:r>
              <a:rPr sz="919" b="0" i="0">
                <a:solidFill>
                  <a:srgbClr val="262B33"/>
                </a:solidFill>
                <a:latin typeface="Calibri"/>
              </a:rPr>
              <a:t>. That is our target, and the pre/post 2 m DEMs are openly downloadable.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919" b="0" i="0">
                <a:solidFill>
                  <a:srgbClr val="262B33"/>
                </a:solidFill>
                <a:latin typeface="Calibri"/>
              </a:rPr>
              <a:t>▪ </a:t>
            </a:r>
            <a:r>
              <a:rPr sz="919" b="1" i="0">
                <a:solidFill>
                  <a:srgbClr val="262B33"/>
                </a:solidFill>
                <a:latin typeface="Calibri"/>
              </a:rPr>
              <a:t>Zero-survey operation</a:t>
            </a:r>
            <a:r>
              <a:rPr sz="919" b="0" i="0">
                <a:solidFill>
                  <a:srgbClr val="262B33"/>
                </a:solidFill>
                <a:latin typeface="Calibri"/>
              </a:rPr>
              <a:t> — works on transboundary and inaccessible terrain that cannot be instrumented or entered.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919" b="0" i="0">
                <a:solidFill>
                  <a:srgbClr val="262B33"/>
                </a:solidFill>
                <a:latin typeface="Calibri"/>
              </a:rPr>
              <a:t>▪ </a:t>
            </a:r>
            <a:r>
              <a:rPr sz="919" b="1" i="0">
                <a:solidFill>
                  <a:srgbClr val="262B33"/>
                </a:solidFill>
                <a:latin typeface="Calibri"/>
              </a:rPr>
              <a:t>Cross-checked against the incumbent:</a:t>
            </a:r>
            <a:r>
              <a:rPr sz="919" b="0" i="0">
                <a:solidFill>
                  <a:srgbClr val="262B33"/>
                </a:solidFill>
                <a:latin typeface="Calibri"/>
              </a:rPr>
              <a:t> the same reach also runs through HEC-RAS, the tool CWC adopted for DRIP.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850" b="0" i="0">
                <a:solidFill>
                  <a:srgbClr val="262B33"/>
                </a:solidFill>
                <a:latin typeface="Calibri"/>
              </a:rPr>
              <a:t>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292608" y="1207008"/>
            <a:ext cx="3657600" cy="5029200"/>
          </a:xfrm>
          <a:prstGeom prst="roundRect">
            <a:avLst>
              <a:gd name="adj" fmla="val 6000"/>
            </a:avLst>
          </a:prstGeom>
          <a:solidFill>
            <a:srgbClr val="EDF4FB"/>
          </a:solidFill>
          <a:ln w="11430">
            <a:solidFill>
              <a:srgbClr val="BBD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7411" name="Rectangle 17410"/>
          <p:cNvSpPr/>
          <p:nvPr/>
        </p:nvSpPr>
        <p:spPr>
          <a:xfrm>
            <a:off x="292608" y="1207008"/>
            <a:ext cx="3657600" cy="310896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384048" y="1248156"/>
            <a:ext cx="3474720" cy="237744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Technologies to be used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411480" y="1591056"/>
            <a:ext cx="3419856" cy="457200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500"/>
              </a:spcAft>
            </a:pPr>
            <a:r>
              <a:rPr sz="860" b="1" i="0">
                <a:solidFill>
                  <a:srgbClr val="262B33"/>
                </a:solidFill>
                <a:latin typeface="Calibri"/>
              </a:rPr>
              <a:t>Compute</a:t>
            </a:r>
            <a:r>
              <a:rPr sz="860" b="0" i="0">
                <a:solidFill>
                  <a:srgbClr val="262B33"/>
                </a:solidFill>
                <a:latin typeface="Calibri"/>
              </a:rPr>
              <a:t>
Python 3.11 · NumPy · Numba / CuPy (GPU) · xarray · Dask</a:t>
            </a:r>
          </a:p>
          <a:p>
            <a:pPr algn="l">
              <a:lnSpc>
                <a:spcPct val="94000"/>
              </a:lnSpc>
              <a:spcAft>
                <a:spcPts val="500"/>
              </a:spcAft>
            </a:pPr>
            <a:r>
              <a:rPr sz="860" b="1" i="0">
                <a:solidFill>
                  <a:srgbClr val="262B33"/>
                </a:solidFill>
                <a:latin typeface="Calibri"/>
              </a:rPr>
              <a:t>Near-field solver</a:t>
            </a:r>
            <a:r>
              <a:rPr sz="860" b="0" i="0">
                <a:solidFill>
                  <a:srgbClr val="262B33"/>
                </a:solidFill>
                <a:latin typeface="Calibri"/>
              </a:rPr>
              <a:t>
</a:t>
            </a:r>
            <a:r>
              <a:rPr sz="860" b="1" i="0">
                <a:solidFill>
                  <a:srgbClr val="262B33"/>
                </a:solidFill>
                <a:latin typeface="Calibri"/>
              </a:rPr>
              <a:t>PySPH</a:t>
            </a:r>
            <a:r>
              <a:rPr sz="860" b="0" i="0">
                <a:solidFill>
                  <a:srgbClr val="262B33"/>
                </a:solidFill>
                <a:latin typeface="Calibri"/>
              </a:rPr>
              <a:t> — BSD, pip-installable, developed at IIT Bombay; ships dam-break and shallow-water SPH examples with bundled validation data. DualSPHysics (LGPL, CUDA) for GPU scale-up.</a:t>
            </a:r>
          </a:p>
          <a:p>
            <a:pPr algn="l">
              <a:lnSpc>
                <a:spcPct val="94000"/>
              </a:lnSpc>
              <a:spcAft>
                <a:spcPts val="500"/>
              </a:spcAft>
            </a:pPr>
            <a:r>
              <a:rPr sz="860" b="1" i="0">
                <a:solidFill>
                  <a:srgbClr val="262B33"/>
                </a:solidFill>
                <a:latin typeface="Calibri"/>
              </a:rPr>
              <a:t>Far-field solver</a:t>
            </a:r>
            <a:r>
              <a:rPr sz="860" b="0" i="0">
                <a:solidFill>
                  <a:srgbClr val="262B33"/>
                </a:solidFill>
                <a:latin typeface="Calibri"/>
              </a:rPr>
              <a:t>
Delft3D FM (Deltares, AGPL/GPL) driven by </a:t>
            </a:r>
            <a:r>
              <a:rPr sz="860" b="1" i="0">
                <a:solidFill>
                  <a:srgbClr val="262B33"/>
                </a:solidFill>
                <a:latin typeface="Calibri"/>
              </a:rPr>
              <a:t>hydromt_delft3dfm · hydrolib-core · dfm_tools</a:t>
            </a:r>
            <a:r>
              <a:rPr sz="860" b="0" i="0">
                <a:solidFill>
                  <a:srgbClr val="262B33"/>
                </a:solidFill>
                <a:latin typeface="Calibri"/>
              </a:rPr>
              <a:t>; plus an in-house 2D shallow-water finite volume — HLLC Riemann, MUSCL, well-balanced, wetting/drying.</a:t>
            </a:r>
          </a:p>
          <a:p>
            <a:pPr algn="l">
              <a:lnSpc>
                <a:spcPct val="94000"/>
              </a:lnSpc>
              <a:spcAft>
                <a:spcPts val="500"/>
              </a:spcAft>
            </a:pPr>
            <a:r>
              <a:rPr sz="860" b="1" i="0">
                <a:solidFill>
                  <a:srgbClr val="262B33"/>
                </a:solidFill>
                <a:latin typeface="Calibri"/>
              </a:rPr>
              <a:t>Cross-check</a:t>
            </a:r>
            <a:r>
              <a:rPr sz="860" b="0" i="0">
                <a:solidFill>
                  <a:srgbClr val="262B33"/>
                </a:solidFill>
                <a:latin typeface="Calibri"/>
              </a:rPr>
              <a:t>
HEC-RAS 2D — the CWC / DRIP baseline</a:t>
            </a:r>
          </a:p>
          <a:p>
            <a:pPr algn="l">
              <a:lnSpc>
                <a:spcPct val="94000"/>
              </a:lnSpc>
              <a:spcAft>
                <a:spcPts val="500"/>
              </a:spcAft>
            </a:pPr>
            <a:r>
              <a:rPr sz="860" b="1" i="0">
                <a:solidFill>
                  <a:srgbClr val="262B33"/>
                </a:solidFill>
                <a:latin typeface="Calibri"/>
              </a:rPr>
              <a:t>Geospatial</a:t>
            </a:r>
            <a:r>
              <a:rPr sz="860" b="0" i="0">
                <a:solidFill>
                  <a:srgbClr val="262B33"/>
                </a:solidFill>
                <a:latin typeface="Calibri"/>
              </a:rPr>
              <a:t>
GDAL · rasterio · geopandas · shapely · simplekml</a:t>
            </a:r>
          </a:p>
          <a:p>
            <a:pPr algn="l">
              <a:lnSpc>
                <a:spcPct val="94000"/>
              </a:lnSpc>
              <a:spcAft>
                <a:spcPts val="500"/>
              </a:spcAft>
            </a:pPr>
            <a:r>
              <a:rPr sz="860" b="1" i="0">
                <a:solidFill>
                  <a:srgbClr val="262B33"/>
                </a:solidFill>
                <a:latin typeface="Calibri"/>
              </a:rPr>
              <a:t>Earth observation</a:t>
            </a:r>
            <a:r>
              <a:rPr sz="860" b="0" i="0">
                <a:solidFill>
                  <a:srgbClr val="262B33"/>
                </a:solidFill>
                <a:latin typeface="Calibri"/>
              </a:rPr>
              <a:t>
Google Earth Engine Python API · geemap · Sentinel-1 GRD</a:t>
            </a:r>
          </a:p>
          <a:p>
            <a:pPr algn="l">
              <a:lnSpc>
                <a:spcPct val="94000"/>
              </a:lnSpc>
              <a:spcAft>
                <a:spcPts val="500"/>
              </a:spcAft>
            </a:pPr>
            <a:r>
              <a:rPr sz="860" b="1" i="0">
                <a:solidFill>
                  <a:srgbClr val="262B33"/>
                </a:solidFill>
                <a:latin typeface="Calibri"/>
              </a:rPr>
              <a:t>Data</a:t>
            </a:r>
            <a:r>
              <a:rPr sz="860" b="0" i="0">
                <a:solidFill>
                  <a:srgbClr val="262B33"/>
                </a:solidFill>
                <a:latin typeface="Calibri"/>
              </a:rPr>
              <a:t>
Copernicus GLO-30 (AWS COG) · CWC NRLD 2019 / NRSD 2025 · GHSL · Google Open Buildings · ESA WorldCover · JRC Global Surface Water</a:t>
            </a:r>
          </a:p>
          <a:p>
            <a:pPr algn="l">
              <a:lnSpc>
                <a:spcPct val="94000"/>
              </a:lnSpc>
              <a:spcAft>
                <a:spcPts val="500"/>
              </a:spcAft>
            </a:pPr>
            <a:r>
              <a:rPr sz="860" b="1" i="0">
                <a:solidFill>
                  <a:srgbClr val="262B33"/>
                </a:solidFill>
                <a:latin typeface="Calibri"/>
              </a:rPr>
              <a:t>Application</a:t>
            </a:r>
            <a:r>
              <a:rPr sz="860" b="0" i="0">
                <a:solidFill>
                  <a:srgbClr val="262B33"/>
                </a:solidFill>
                <a:latin typeface="Calibri"/>
              </a:rPr>
              <a:t>
FastAPI · Celery · React + deck.gl / MapLibre GL</a:t>
            </a:r>
          </a:p>
          <a:p>
            <a:pPr algn="l">
              <a:lnSpc>
                <a:spcPct val="94000"/>
              </a:lnSpc>
              <a:spcAft>
                <a:spcPts val="500"/>
              </a:spcAft>
            </a:pPr>
            <a:r>
              <a:rPr sz="860" b="1" i="0">
                <a:solidFill>
                  <a:srgbClr val="262B33"/>
                </a:solidFill>
                <a:latin typeface="Calibri"/>
              </a:rPr>
              <a:t>Export</a:t>
            </a:r>
            <a:r>
              <a:rPr sz="860" b="0" i="0">
                <a:solidFill>
                  <a:srgbClr val="262B33"/>
                </a:solidFill>
                <a:latin typeface="Calibri"/>
              </a:rPr>
              <a:t>
GeoTIFF · </a:t>
            </a:r>
            <a:r>
              <a:rPr sz="860" b="1" i="0">
                <a:solidFill>
                  <a:srgbClr val="262B33"/>
                </a:solidFill>
                <a:latin typeface="Calibri"/>
              </a:rPr>
              <a:t>.SHP</a:t>
            </a:r>
            <a:r>
              <a:rPr sz="860" b="0" i="0">
                <a:solidFill>
                  <a:srgbClr val="262B33"/>
                </a:solidFill>
                <a:latin typeface="Calibri"/>
              </a:rPr>
              <a:t> · </a:t>
            </a:r>
            <a:r>
              <a:rPr sz="860" b="1" i="0">
                <a:solidFill>
                  <a:srgbClr val="262B33"/>
                </a:solidFill>
                <a:latin typeface="Calibri"/>
              </a:rPr>
              <a:t>.KML / KMZ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4224528" y="1207008"/>
            <a:ext cx="7699248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150" b="0" i="0">
                <a:solidFill>
                  <a:srgbClr val="14305A"/>
                </a:solidFill>
                <a:latin typeface="Calibri"/>
              </a:rPr>
              <a:t>Methodology and process for implementation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4224528" y="1554480"/>
            <a:ext cx="7699248" cy="420624"/>
          </a:xfrm>
          <a:prstGeom prst="roundRect">
            <a:avLst>
              <a:gd name="adj" fmla="val 6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69" b="1" i="0">
                <a:solidFill>
                  <a:srgbClr val="FFFFFF"/>
                </a:solidFill>
                <a:latin typeface="Calibri"/>
              </a:rPr>
              <a:t>1   INPUT</a:t>
            </a:r>
            <a:r>
              <a:rPr sz="869" b="0" i="0">
                <a:solidFill>
                  <a:srgbClr val="FFFFFF"/>
                </a:solidFill>
                <a:latin typeface="Calibri"/>
              </a:rPr>
              <a:t>   —   Dam or suspected blockage — lat/lon, height, gross storage, breach mode</a:t>
            </a:r>
          </a:p>
        </p:txBody>
      </p:sp>
      <p:sp>
        <p:nvSpPr>
          <p:cNvPr id="17416" name="Isosceles Triangle 17415"/>
          <p:cNvSpPr/>
          <p:nvPr/>
        </p:nvSpPr>
        <p:spPr>
          <a:xfrm rot="10800000">
            <a:off x="7982712" y="1988819"/>
            <a:ext cx="182880" cy="91440"/>
          </a:xfrm>
          <a:prstGeom prst="triangl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Rounded Rectangle 17416"/>
          <p:cNvSpPr/>
          <p:nvPr/>
        </p:nvSpPr>
        <p:spPr>
          <a:xfrm>
            <a:off x="4224528" y="2093976"/>
            <a:ext cx="7699248" cy="420624"/>
          </a:xfrm>
          <a:prstGeom prst="roundRect">
            <a:avLst>
              <a:gd name="adj" fmla="val 6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69" b="1" i="0">
                <a:solidFill>
                  <a:srgbClr val="FFFFFF"/>
                </a:solidFill>
                <a:latin typeface="Calibri"/>
              </a:rPr>
              <a:t>2   AUTO-INGEST</a:t>
            </a:r>
            <a:r>
              <a:rPr sz="869" b="0" i="0">
                <a:solidFill>
                  <a:srgbClr val="FFFFFF"/>
                </a:solidFill>
                <a:latin typeface="Calibri"/>
              </a:rPr>
              <a:t>   —   Copernicus GLO-30 COGs · CWC NRLD/NRSD · Sentinel-1 · GHSL · WorldCover</a:t>
            </a:r>
          </a:p>
        </p:txBody>
      </p:sp>
      <p:sp>
        <p:nvSpPr>
          <p:cNvPr id="17418" name="Isosceles Triangle 17417"/>
          <p:cNvSpPr/>
          <p:nvPr/>
        </p:nvSpPr>
        <p:spPr>
          <a:xfrm rot="10800000">
            <a:off x="7982712" y="2528315"/>
            <a:ext cx="182880" cy="91440"/>
          </a:xfrm>
          <a:prstGeom prst="triangl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Rounded Rectangle 17418"/>
          <p:cNvSpPr/>
          <p:nvPr/>
        </p:nvSpPr>
        <p:spPr>
          <a:xfrm>
            <a:off x="4224528" y="2633472"/>
            <a:ext cx="7699248" cy="420624"/>
          </a:xfrm>
          <a:prstGeom prst="roundRect">
            <a:avLst>
              <a:gd name="adj" fmla="val 6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69" b="1" i="0">
                <a:solidFill>
                  <a:srgbClr val="FFFFFF"/>
                </a:solidFill>
                <a:latin typeface="Calibri"/>
              </a:rPr>
              <a:t>3   BREACH HYDROGRAPH</a:t>
            </a:r>
            <a:r>
              <a:rPr sz="869" b="0" i="0">
                <a:solidFill>
                  <a:srgbClr val="FFFFFF"/>
                </a:solidFill>
                <a:latin typeface="Calibri"/>
              </a:rPr>
              <a:t>   —   Froehlich 2008 / Xu–Zhang 2009 regressions → weir outflow + reservoir drawdown</a:t>
            </a:r>
          </a:p>
        </p:txBody>
      </p:sp>
      <p:sp>
        <p:nvSpPr>
          <p:cNvPr id="17420" name="Isosceles Triangle 17419"/>
          <p:cNvSpPr/>
          <p:nvPr/>
        </p:nvSpPr>
        <p:spPr>
          <a:xfrm rot="10800000">
            <a:off x="7982712" y="3067811"/>
            <a:ext cx="182880" cy="91440"/>
          </a:xfrm>
          <a:prstGeom prst="triangl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Rounded Rectangle 17420"/>
          <p:cNvSpPr/>
          <p:nvPr/>
        </p:nvSpPr>
        <p:spPr>
          <a:xfrm>
            <a:off x="4224528" y="3172968"/>
            <a:ext cx="3758184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lnSpc>
                <a:spcPct val="90000"/>
              </a:lnSpc>
              <a:spcAft>
                <a:spcPts val="100"/>
              </a:spcAft>
            </a:pPr>
            <a:r>
              <a:rPr sz="840" b="1" i="0">
                <a:solidFill>
                  <a:srgbClr val="262B33"/>
                </a:solidFill>
                <a:latin typeface="Calibri"/>
              </a:rPr>
              <a:t>4a   NEAR FIELD — SPH</a:t>
            </a:r>
          </a:p>
          <a:p>
            <a:pPr algn="l">
              <a:lnSpc>
                <a:spcPct val="90000"/>
              </a:lnSpc>
              <a:spcAft>
                <a:spcPts val="100"/>
              </a:spcAft>
            </a:pPr>
            <a:r>
              <a:rPr sz="840" b="0" i="0">
                <a:solidFill>
                  <a:srgbClr val="262B33"/>
                </a:solidFill>
                <a:latin typeface="Calibri"/>
              </a:rPr>
              <a:t>Lagrangian, mesh-free. The non-hydrostatic breach jet.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8165592" y="3172968"/>
            <a:ext cx="3758184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lnSpc>
                <a:spcPct val="90000"/>
              </a:lnSpc>
              <a:spcAft>
                <a:spcPts val="100"/>
              </a:spcAft>
            </a:pPr>
            <a:r>
              <a:rPr sz="840" b="1" i="0">
                <a:solidFill>
                  <a:srgbClr val="262B33"/>
                </a:solidFill>
                <a:latin typeface="Calibri"/>
              </a:rPr>
              <a:t>4b   FAR FIELD — Delft3D-class 2D SWE</a:t>
            </a:r>
          </a:p>
          <a:p>
            <a:pPr algn="l">
              <a:lnSpc>
                <a:spcPct val="90000"/>
              </a:lnSpc>
              <a:spcAft>
                <a:spcPts val="100"/>
              </a:spcAft>
            </a:pPr>
            <a:r>
              <a:rPr sz="840" b="0" i="0">
                <a:solidFill>
                  <a:srgbClr val="262B33"/>
                </a:solidFill>
                <a:latin typeface="Calibri"/>
              </a:rPr>
              <a:t>Eulerian finite volume. HLLC + wetting/drying.</a:t>
            </a:r>
          </a:p>
        </p:txBody>
      </p:sp>
      <p:sp>
        <p:nvSpPr>
          <p:cNvPr id="17423" name="Isosceles Triangle 17422"/>
          <p:cNvSpPr/>
          <p:nvPr/>
        </p:nvSpPr>
        <p:spPr>
          <a:xfrm rot="10800000">
            <a:off x="7982712" y="3753611"/>
            <a:ext cx="182880" cy="91440"/>
          </a:xfrm>
          <a:prstGeom prst="triangl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4" name="Rounded Rectangle 17423"/>
          <p:cNvSpPr/>
          <p:nvPr/>
        </p:nvSpPr>
        <p:spPr>
          <a:xfrm>
            <a:off x="4224528" y="3858768"/>
            <a:ext cx="7699248" cy="420624"/>
          </a:xfrm>
          <a:prstGeom prst="roundRect">
            <a:avLst>
              <a:gd name="adj" fmla="val 6000"/>
            </a:avLst>
          </a:prstGeom>
          <a:solidFill>
            <a:srgbClr val="0B7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69" b="1" i="0">
                <a:solidFill>
                  <a:srgbClr val="FFFFFF"/>
                </a:solidFill>
                <a:latin typeface="Calibri"/>
              </a:rPr>
              <a:t>5   COMPARE   ←  the PS's core ask</a:t>
            </a:r>
            <a:r>
              <a:rPr sz="869" b="0" i="0">
                <a:solidFill>
                  <a:srgbClr val="FFFFFF"/>
                </a:solidFill>
                <a:latin typeface="Calibri"/>
              </a:rPr>
              <a:t>   —   CSI / F1 on inundation extent · depth RMSE · arrival-time delta</a:t>
            </a:r>
          </a:p>
        </p:txBody>
      </p:sp>
      <p:sp>
        <p:nvSpPr>
          <p:cNvPr id="17425" name="Isosceles Triangle 17424"/>
          <p:cNvSpPr/>
          <p:nvPr/>
        </p:nvSpPr>
        <p:spPr>
          <a:xfrm rot="10800000">
            <a:off x="7982712" y="4293107"/>
            <a:ext cx="182880" cy="91440"/>
          </a:xfrm>
          <a:prstGeom prst="triangl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6" name="Rounded Rectangle 17425"/>
          <p:cNvSpPr/>
          <p:nvPr/>
        </p:nvSpPr>
        <p:spPr>
          <a:xfrm>
            <a:off x="4224528" y="4398264"/>
            <a:ext cx="7699248" cy="420624"/>
          </a:xfrm>
          <a:prstGeom prst="roundRect">
            <a:avLst>
              <a:gd name="adj" fmla="val 6000"/>
            </a:avLst>
          </a:prstGeom>
          <a:solidFill>
            <a:srgbClr val="143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69" b="1" i="0">
                <a:solidFill>
                  <a:srgbClr val="FFFFFF"/>
                </a:solidFill>
                <a:latin typeface="Calibri"/>
              </a:rPr>
              <a:t>6   LOSS AND DAMAGE</a:t>
            </a:r>
            <a:r>
              <a:rPr sz="869" b="0" i="0">
                <a:solidFill>
                  <a:srgbClr val="FFFFFF"/>
                </a:solidFill>
                <a:latin typeface="Calibri"/>
              </a:rPr>
              <a:t>   —   Population, buildings, roads and bridges inside the flood path</a:t>
            </a:r>
          </a:p>
        </p:txBody>
      </p:sp>
      <p:sp>
        <p:nvSpPr>
          <p:cNvPr id="17427" name="Isosceles Triangle 17426"/>
          <p:cNvSpPr/>
          <p:nvPr/>
        </p:nvSpPr>
        <p:spPr>
          <a:xfrm rot="10800000">
            <a:off x="7982712" y="4832603"/>
            <a:ext cx="182880" cy="91440"/>
          </a:xfrm>
          <a:prstGeom prst="triangl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8" name="Rounded Rectangle 17427"/>
          <p:cNvSpPr/>
          <p:nvPr/>
        </p:nvSpPr>
        <p:spPr>
          <a:xfrm>
            <a:off x="4224528" y="4937759"/>
            <a:ext cx="7699248" cy="420624"/>
          </a:xfrm>
          <a:prstGeom prst="roundRect">
            <a:avLst>
              <a:gd name="adj" fmla="val 6000"/>
            </a:avLst>
          </a:prstGeom>
          <a:solidFill>
            <a:srgbClr val="143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69" b="1" i="0">
                <a:solidFill>
                  <a:srgbClr val="FFFFFF"/>
                </a:solidFill>
                <a:latin typeface="Calibri"/>
              </a:rPr>
              <a:t>7   OUTPUT</a:t>
            </a:r>
            <a:r>
              <a:rPr sz="869" b="0" i="0">
                <a:solidFill>
                  <a:srgbClr val="FFFFFF"/>
                </a:solidFill>
                <a:latin typeface="Calibri"/>
              </a:rPr>
              <a:t>   —   Dashboard · arrival-time map · GeoTIFF / .SHP / .KML</a:t>
            </a:r>
          </a:p>
        </p:txBody>
      </p:sp>
      <p:sp>
        <p:nvSpPr>
          <p:cNvPr id="17429" name="Isosceles Triangle 17428"/>
          <p:cNvSpPr/>
          <p:nvPr/>
        </p:nvSpPr>
        <p:spPr>
          <a:xfrm rot="10800000">
            <a:off x="7982712" y="5372099"/>
            <a:ext cx="182880" cy="91440"/>
          </a:xfrm>
          <a:prstGeom prst="triangl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0" name="Rounded Rectangle 17429"/>
          <p:cNvSpPr/>
          <p:nvPr/>
        </p:nvSpPr>
        <p:spPr>
          <a:xfrm>
            <a:off x="4224528" y="5477255"/>
            <a:ext cx="7699248" cy="420624"/>
          </a:xfrm>
          <a:prstGeom prst="roundRect">
            <a:avLst>
              <a:gd name="adj" fmla="val 6000"/>
            </a:avLst>
          </a:prstGeom>
          <a:solidFill>
            <a:srgbClr val="B5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69" b="1" i="0">
                <a:solidFill>
                  <a:srgbClr val="FFFFFF"/>
                </a:solidFill>
                <a:latin typeface="Calibri"/>
              </a:rPr>
              <a:t>8   GEE VALIDATION LOOP</a:t>
            </a:r>
            <a:r>
              <a:rPr sz="869" b="0" i="0">
                <a:solidFill>
                  <a:srgbClr val="FFFFFF"/>
                </a:solidFill>
                <a:latin typeface="Calibri"/>
              </a:rPr>
              <a:t>   —   Sentinel-1 SAR observed extent scored against the simulation 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850" b="0" i="0">
                <a:solidFill>
                  <a:srgbClr val="262B33"/>
                </a:solidFill>
                <a:latin typeface="Calibri"/>
              </a:rPr>
              <a:t>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292608" y="1207008"/>
            <a:ext cx="3794760" cy="5029200"/>
          </a:xfrm>
          <a:prstGeom prst="roundRect">
            <a:avLst>
              <a:gd name="adj" fmla="val 6000"/>
            </a:avLst>
          </a:prstGeom>
          <a:solidFill>
            <a:srgbClr val="EDF4FB"/>
          </a:solidFill>
          <a:ln w="11430">
            <a:solidFill>
              <a:srgbClr val="BBD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7411" name="Rectangle 17410"/>
          <p:cNvSpPr/>
          <p:nvPr/>
        </p:nvSpPr>
        <p:spPr>
          <a:xfrm>
            <a:off x="292608" y="1207008"/>
            <a:ext cx="3794760" cy="310896"/>
          </a:xfrm>
          <a:prstGeom prst="rect">
            <a:avLst/>
          </a:prstGeom>
          <a:solidFill>
            <a:srgbClr val="0B7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384048" y="1248156"/>
            <a:ext cx="3611880" cy="237744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Analysis of the feasibility of the idea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411480" y="1600200"/>
            <a:ext cx="3557016" cy="45262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890" b="0" i="0">
                <a:solidFill>
                  <a:srgbClr val="262B33"/>
                </a:solidFill>
                <a:latin typeface="Calibri"/>
              </a:rPr>
              <a:t>▪ </a:t>
            </a:r>
            <a:r>
              <a:rPr sz="890" b="1" i="0">
                <a:solidFill>
                  <a:srgbClr val="262B33"/>
                </a:solidFill>
                <a:latin typeface="Calibri"/>
              </a:rPr>
              <a:t>Every input verified free, open and login-free</a:t>
            </a:r>
            <a:r>
              <a:rPr sz="890" b="0" i="0">
                <a:solidFill>
                  <a:srgbClr val="262B33"/>
                </a:solidFill>
                <a:latin typeface="Calibri"/>
              </a:rPr>
              <a:t> — Copernicus GLO-30 tiles serve as range-readable COGs from public AWS; Sentinel-1, GHSL and Open Buildings are native Earth Engine assets.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890" b="0" i="0">
                <a:solidFill>
                  <a:srgbClr val="262B33"/>
                </a:solidFill>
                <a:latin typeface="Calibri"/>
              </a:rPr>
              <a:t>▪ </a:t>
            </a:r>
            <a:r>
              <a:rPr sz="890" b="1" i="0">
                <a:solidFill>
                  <a:srgbClr val="262B33"/>
                </a:solidFill>
                <a:latin typeface="Calibri"/>
              </a:rPr>
              <a:t>Both named models are genuinely obtainable.</a:t>
            </a:r>
            <a:r>
              <a:rPr sz="890" b="0" i="0">
                <a:solidFill>
                  <a:srgbClr val="262B33"/>
                </a:solidFill>
                <a:latin typeface="Calibri"/>
              </a:rPr>
              <a:t> PySPH is BSD and `pip install`-able with dam-break cases in the box; Delft3D FM is AGPL/GPL with a maintained Python toolchain.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890" b="0" i="0">
                <a:solidFill>
                  <a:srgbClr val="262B33"/>
                </a:solidFill>
                <a:latin typeface="Calibri"/>
              </a:rPr>
              <a:t>▪ The far-field solver is </a:t>
            </a:r>
            <a:r>
              <a:rPr sz="890" b="1" i="0">
                <a:solidFill>
                  <a:srgbClr val="262B33"/>
                </a:solidFill>
                <a:latin typeface="Calibri"/>
              </a:rPr>
              <a:t>textbook numerics</a:t>
            </a:r>
            <a:r>
              <a:rPr sz="890" b="0" i="0">
                <a:solidFill>
                  <a:srgbClr val="262B33"/>
                </a:solidFill>
                <a:latin typeface="Calibri"/>
              </a:rPr>
              <a:t> — HLLC Riemann solver, MUSCL reconstruction, well-balanced source terms. GPU-accelerated it runs a 30 m reach in minutes on a laptop.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890" b="0" i="0">
                <a:solidFill>
                  <a:srgbClr val="262B33"/>
                </a:solidFill>
                <a:latin typeface="Calibri"/>
              </a:rPr>
              <a:t>▪ </a:t>
            </a:r>
            <a:r>
              <a:rPr sz="890" b="1" i="0">
                <a:solidFill>
                  <a:srgbClr val="262B33"/>
                </a:solidFill>
                <a:latin typeface="Calibri"/>
              </a:rPr>
              <a:t>A hard accuracy target already exists:</a:t>
            </a:r>
            <a:r>
              <a:rPr sz="890" b="0" i="0">
                <a:solidFill>
                  <a:srgbClr val="262B33"/>
                </a:solidFill>
                <a:latin typeface="Calibri"/>
              </a:rPr>
              <a:t> Shugar et al. matched Chamoli travel times to </a:t>
            </a:r>
            <a:r>
              <a:rPr sz="890" b="1" i="0">
                <a:solidFill>
                  <a:srgbClr val="262B33"/>
                </a:solidFill>
                <a:latin typeface="Calibri"/>
              </a:rPr>
              <a:t>&lt;5%</a:t>
            </a:r>
            <a:r>
              <a:rPr sz="890" b="0" i="0">
                <a:solidFill>
                  <a:srgbClr val="262B33"/>
                </a:solidFill>
                <a:latin typeface="Calibri"/>
              </a:rPr>
              <a:t>, and the pre- and post-event 2 m DEMs are on Zenodo. Measured discharge 8,200–14,200 m³/s at 15 km.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890" b="0" i="0">
                <a:solidFill>
                  <a:srgbClr val="262B33"/>
                </a:solidFill>
                <a:latin typeface="Calibri"/>
              </a:rPr>
              <a:t>▪ </a:t>
            </a:r>
            <a:r>
              <a:rPr sz="890" b="1" i="0">
                <a:solidFill>
                  <a:srgbClr val="262B33"/>
                </a:solidFill>
                <a:latin typeface="Calibri"/>
              </a:rPr>
              <a:t>Scope control</a:t>
            </a:r>
            <a:r>
              <a:rPr sz="890" b="0" i="0">
                <a:solidFill>
                  <a:srgbClr val="262B33"/>
                </a:solidFill>
                <a:latin typeface="Calibri"/>
              </a:rPr>
              <a:t> — SPH confined to a near-field box, so particle count stays tractable; published real-field cases run 1–4 million particles.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890" b="0" i="0">
                <a:solidFill>
                  <a:srgbClr val="262B33"/>
                </a:solidFill>
                <a:latin typeface="Calibri"/>
              </a:rPr>
              <a:t>▪ Skills needed: Python, GIS, numerical methods. </a:t>
            </a:r>
            <a:r>
              <a:rPr sz="890" b="1" i="0">
                <a:solidFill>
                  <a:srgbClr val="262B33"/>
                </a:solidFill>
                <a:latin typeface="Calibri"/>
              </a:rPr>
              <a:t>No proprietary licence, no field survey, no bathymetric campaign.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4270248" y="1207008"/>
            <a:ext cx="3794760" cy="5029200"/>
          </a:xfrm>
          <a:prstGeom prst="roundRect">
            <a:avLst>
              <a:gd name="adj" fmla="val 6000"/>
            </a:avLst>
          </a:prstGeom>
          <a:solidFill>
            <a:srgbClr val="EDF4FB"/>
          </a:solidFill>
          <a:ln w="11430">
            <a:solidFill>
              <a:srgbClr val="BBD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7415" name="Rectangle 17414"/>
          <p:cNvSpPr/>
          <p:nvPr/>
        </p:nvSpPr>
        <p:spPr>
          <a:xfrm>
            <a:off x="4270248" y="1207008"/>
            <a:ext cx="3794760" cy="310896"/>
          </a:xfrm>
          <a:prstGeom prst="rect">
            <a:avLst/>
          </a:prstGeom>
          <a:solidFill>
            <a:srgbClr val="B5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7416" name="TextBox 17415"/>
          <p:cNvSpPr txBox="1"/>
          <p:nvPr/>
        </p:nvSpPr>
        <p:spPr>
          <a:xfrm>
            <a:off x="4361688" y="1248156"/>
            <a:ext cx="3611880" cy="237744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Potential challenges and risks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4389120" y="1600200"/>
            <a:ext cx="3557016" cy="45262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890" b="0" i="0">
                <a:solidFill>
                  <a:srgbClr val="262B33"/>
                </a:solidFill>
                <a:latin typeface="Calibri"/>
              </a:rPr>
              <a:t>▪ </a:t>
            </a:r>
            <a:r>
              <a:rPr sz="890" b="1" i="0">
                <a:solidFill>
                  <a:srgbClr val="262B33"/>
                </a:solidFill>
                <a:latin typeface="Calibri"/>
              </a:rPr>
              <a:t>Numerical instability at the wet–dry front</a:t>
            </a:r>
            <a:r>
              <a:rPr sz="890" b="0" i="0">
                <a:solidFill>
                  <a:srgbClr val="262B33"/>
                </a:solidFill>
                <a:latin typeface="Calibri"/>
              </a:rPr>
              <a:t> — negative depths, spurious velocities, mass loss. This fails </a:t>
            </a:r>
            <a:r>
              <a:rPr sz="890" b="0" i="1">
                <a:solidFill>
                  <a:srgbClr val="262B33"/>
                </a:solidFill>
                <a:latin typeface="Calibri"/>
              </a:rPr>
              <a:t>visibly</a:t>
            </a:r>
            <a:r>
              <a:rPr sz="890" b="0" i="0">
                <a:solidFill>
                  <a:srgbClr val="262B33"/>
                </a:solidFill>
                <a:latin typeface="Calibri"/>
              </a:rPr>
              <a:t> in a live demo.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890" b="0" i="0">
                <a:solidFill>
                  <a:srgbClr val="262B33"/>
                </a:solidFill>
                <a:latin typeface="Calibri"/>
              </a:rPr>
              <a:t>▪ </a:t>
            </a:r>
            <a:r>
              <a:rPr sz="890" b="1" i="0">
                <a:solidFill>
                  <a:srgbClr val="262B33"/>
                </a:solidFill>
                <a:latin typeface="Calibri"/>
              </a:rPr>
              <a:t>SPH does not scale.</a:t>
            </a:r>
            <a:r>
              <a:rPr sz="890" b="0" i="0">
                <a:solidFill>
                  <a:srgbClr val="262B33"/>
                </a:solidFill>
                <a:latin typeface="Calibri"/>
              </a:rPr>
              <a:t> Uniform resolution is an acknowledged limitation (SPHERIC GC3); it cannot span a basin.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890" b="0" i="0">
                <a:solidFill>
                  <a:srgbClr val="262B33"/>
                </a:solidFill>
                <a:latin typeface="Calibri"/>
              </a:rPr>
              <a:t>▪ </a:t>
            </a:r>
            <a:r>
              <a:rPr sz="890" b="1" i="0">
                <a:solidFill>
                  <a:srgbClr val="262B33"/>
                </a:solidFill>
                <a:latin typeface="Calibri"/>
              </a:rPr>
              <a:t>No reservoir bathymetry in any DEM</a:t>
            </a:r>
            <a:r>
              <a:rPr sz="890" b="0" i="0">
                <a:solidFill>
                  <a:srgbClr val="262B33"/>
                </a:solidFill>
                <a:latin typeface="Calibri"/>
              </a:rPr>
              <a:t>, and GLO-30 is a </a:t>
            </a:r>
            <a:r>
              <a:rPr sz="890" b="0" i="1">
                <a:solidFill>
                  <a:srgbClr val="262B33"/>
                </a:solidFill>
                <a:latin typeface="Calibri"/>
              </a:rPr>
              <a:t>surface</a:t>
            </a:r>
            <a:r>
              <a:rPr sz="890" b="0" i="0">
                <a:solidFill>
                  <a:srgbClr val="262B33"/>
                </a:solidFill>
                <a:latin typeface="Calibri"/>
              </a:rPr>
              <a:t> model — it flattens water and puts canopy in the channel.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890" b="0" i="0">
                <a:solidFill>
                  <a:srgbClr val="262B33"/>
                </a:solidFill>
                <a:latin typeface="Calibri"/>
              </a:rPr>
              <a:t>▪ </a:t>
            </a:r>
            <a:r>
              <a:rPr sz="890" b="1" i="0">
                <a:solidFill>
                  <a:srgbClr val="262B33"/>
                </a:solidFill>
                <a:latin typeface="Calibri"/>
              </a:rPr>
              <a:t>30 m cells give 1–2 cells across a Himalayan gorge</a:t>
            </a:r>
            <a:r>
              <a:rPr sz="890" b="0" i="0">
                <a:solidFill>
                  <a:srgbClr val="262B33"/>
                </a:solidFill>
                <a:latin typeface="Calibri"/>
              </a:rPr>
              <a:t>, so point depths there are fiction, and a cell straddling an embankment lowers the effective crest by metres.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890" b="0" i="0">
                <a:solidFill>
                  <a:srgbClr val="262B33"/>
                </a:solidFill>
                <a:latin typeface="Calibri"/>
              </a:rPr>
              <a:t>▪ </a:t>
            </a:r>
            <a:r>
              <a:rPr sz="890" b="1" i="0">
                <a:solidFill>
                  <a:srgbClr val="262B33"/>
                </a:solidFill>
                <a:latin typeface="Calibri"/>
              </a:rPr>
              <a:t>Manning's roughness is uncertain</a:t>
            </a:r>
            <a:r>
              <a:rPr sz="890" b="0" i="0">
                <a:solidFill>
                  <a:srgbClr val="262B33"/>
                </a:solidFill>
                <a:latin typeface="Calibri"/>
              </a:rPr>
              <a:t> and inundation extent is sensitive to it.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890" b="0" i="0">
                <a:solidFill>
                  <a:srgbClr val="262B33"/>
                </a:solidFill>
                <a:latin typeface="Calibri"/>
              </a:rPr>
              <a:t>▪ </a:t>
            </a:r>
            <a:r>
              <a:rPr sz="890" b="1" i="0">
                <a:solidFill>
                  <a:srgbClr val="262B33"/>
                </a:solidFill>
                <a:latin typeface="Calibri"/>
              </a:rPr>
              <a:t>Debris, not clear water.</a:t>
            </a:r>
            <a:r>
              <a:rPr sz="890" b="0" i="0">
                <a:solidFill>
                  <a:srgbClr val="262B33"/>
                </a:solidFill>
                <a:latin typeface="Calibri"/>
              </a:rPr>
              <a:t> Chamoli was ~80% rock by volume; clear-water physics understates such an event.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890" b="0" i="0">
                <a:solidFill>
                  <a:srgbClr val="262B33"/>
                </a:solidFill>
                <a:latin typeface="Calibri"/>
              </a:rPr>
              <a:t>▪ </a:t>
            </a:r>
            <a:r>
              <a:rPr sz="890" b="1" i="0">
                <a:solidFill>
                  <a:srgbClr val="262B33"/>
                </a:solidFill>
                <a:latin typeface="Calibri"/>
              </a:rPr>
              <a:t>Delft3D kernel build risk</a:t>
            </a:r>
            <a:r>
              <a:rPr sz="890" b="0" i="0">
                <a:solidFill>
                  <a:srgbClr val="262B33"/>
                </a:solidFill>
                <a:latin typeface="Calibri"/>
              </a:rPr>
              <a:t> — Fortran/C++ toolchain, only unofficial Docker images. </a:t>
            </a:r>
            <a:r>
              <a:rPr sz="890" b="1" i="0">
                <a:solidFill>
                  <a:srgbClr val="262B33"/>
                </a:solidFill>
                <a:latin typeface="Calibri"/>
              </a:rPr>
              <a:t>Liability</a:t>
            </a:r>
            <a:r>
              <a:rPr sz="890" b="0" i="0">
                <a:solidFill>
                  <a:srgbClr val="262B33"/>
                </a:solidFill>
                <a:latin typeface="Calibri"/>
              </a:rPr>
              <a:t> — a map an officer acts on has consequences.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8247888" y="1207008"/>
            <a:ext cx="3794760" cy="5029200"/>
          </a:xfrm>
          <a:prstGeom prst="roundRect">
            <a:avLst>
              <a:gd name="adj" fmla="val 6000"/>
            </a:avLst>
          </a:prstGeom>
          <a:solidFill>
            <a:srgbClr val="EDF4FB"/>
          </a:solidFill>
          <a:ln w="11430">
            <a:solidFill>
              <a:srgbClr val="BBD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7419" name="Rectangle 17418"/>
          <p:cNvSpPr/>
          <p:nvPr/>
        </p:nvSpPr>
        <p:spPr>
          <a:xfrm>
            <a:off x="8247888" y="1207008"/>
            <a:ext cx="3794760" cy="310896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7420" name="TextBox 17419"/>
          <p:cNvSpPr txBox="1"/>
          <p:nvPr/>
        </p:nvSpPr>
        <p:spPr>
          <a:xfrm>
            <a:off x="8339327" y="1248156"/>
            <a:ext cx="3611880" cy="237744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Strategies for overcoming these challenges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8366760" y="1600200"/>
            <a:ext cx="3557016" cy="45262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890" b="0" i="0">
                <a:solidFill>
                  <a:srgbClr val="262B33"/>
                </a:solidFill>
                <a:latin typeface="Calibri"/>
              </a:rPr>
              <a:t>▪ Well-balanced HLLC with </a:t>
            </a:r>
            <a:r>
              <a:rPr sz="890" b="1" i="0">
                <a:solidFill>
                  <a:srgbClr val="262B33"/>
                </a:solidFill>
                <a:latin typeface="Calibri"/>
              </a:rPr>
              <a:t>hydrostatic reconstruction</a:t>
            </a:r>
            <a:r>
              <a:rPr sz="890" b="0" i="0">
                <a:solidFill>
                  <a:srgbClr val="262B33"/>
                </a:solidFill>
                <a:latin typeface="Calibri"/>
              </a:rPr>
              <a:t> (Audusse 2004), a depth-positivity limiter and adaptive CFL. </a:t>
            </a:r>
            <a:r>
              <a:rPr sz="890" b="1" i="0">
                <a:solidFill>
                  <a:srgbClr val="262B33"/>
                </a:solidFill>
                <a:latin typeface="Calibri"/>
              </a:rPr>
              <a:t>Verify against the Ritter analytical solution before touching terrain</a:t>
            </a:r>
            <a:r>
              <a:rPr sz="890" b="0" i="0">
                <a:solidFill>
                  <a:srgbClr val="262B33"/>
                </a:solidFill>
                <a:latin typeface="Calibri"/>
              </a:rPr>
              <a:t> — correctness first.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890" b="0" i="0">
                <a:solidFill>
                  <a:srgbClr val="262B33"/>
                </a:solidFill>
                <a:latin typeface="Calibri"/>
              </a:rPr>
              <a:t>▪ </a:t>
            </a:r>
            <a:r>
              <a:rPr sz="890" b="1" i="0">
                <a:solidFill>
                  <a:srgbClr val="262B33"/>
                </a:solidFill>
                <a:latin typeface="Calibri"/>
              </a:rPr>
              <a:t>Couple, do not choose:</a:t>
            </a:r>
            <a:r>
              <a:rPr sz="890" b="0" i="0">
                <a:solidFill>
                  <a:srgbClr val="262B33"/>
                </a:solidFill>
                <a:latin typeface="Calibri"/>
              </a:rPr>
              <a:t> SPH near field hands off to shallow-water far field across a coupling boundary — the review literature's own recommendation.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890" b="0" i="0">
                <a:solidFill>
                  <a:srgbClr val="262B33"/>
                </a:solidFill>
                <a:latin typeface="Calibri"/>
              </a:rPr>
              <a:t>▪ Reservoir volume from </a:t>
            </a:r>
            <a:r>
              <a:rPr sz="890" b="1" i="0">
                <a:solidFill>
                  <a:srgbClr val="262B33"/>
                </a:solidFill>
                <a:latin typeface="Calibri"/>
              </a:rPr>
              <a:t>NRLD gross storage</a:t>
            </a:r>
            <a:r>
              <a:rPr sz="890" b="0" i="0">
                <a:solidFill>
                  <a:srgbClr val="262B33"/>
                </a:solidFill>
                <a:latin typeface="Calibri"/>
              </a:rPr>
              <a:t> fitted to a synthetic bathymetric wedge; channel burned in from MERIT Hydro. Report a </a:t>
            </a:r>
            <a:r>
              <a:rPr sz="890" b="1" i="0">
                <a:solidFill>
                  <a:srgbClr val="262B33"/>
                </a:solidFill>
                <a:latin typeface="Calibri"/>
              </a:rPr>
              <a:t>sensitivity band, never a single line</a:t>
            </a:r>
            <a:r>
              <a:rPr sz="890" b="0" i="0">
                <a:solidFill>
                  <a:srgbClr val="262B33"/>
                </a:solidFill>
                <a:latin typeface="Calibri"/>
              </a:rPr>
              <a:t>.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890" b="0" i="0">
                <a:solidFill>
                  <a:srgbClr val="262B33"/>
                </a:solidFill>
                <a:latin typeface="Calibri"/>
              </a:rPr>
              <a:t>▪ Report </a:t>
            </a:r>
            <a:r>
              <a:rPr sz="890" b="1" i="0">
                <a:solidFill>
                  <a:srgbClr val="262B33"/>
                </a:solidFill>
                <a:latin typeface="Calibri"/>
              </a:rPr>
              <a:t>arrival time and inundation envelope</a:t>
            </a:r>
            <a:r>
              <a:rPr sz="890" b="0" i="0">
                <a:solidFill>
                  <a:srgbClr val="262B33"/>
                </a:solidFill>
                <a:latin typeface="Calibri"/>
              </a:rPr>
              <a:t> — which 30 m data supports — and label point depths as indicative. Publish a Manning's-</a:t>
            </a:r>
            <a:r>
              <a:rPr sz="890" b="0" i="1">
                <a:solidFill>
                  <a:srgbClr val="262B33"/>
                </a:solidFill>
                <a:latin typeface="Calibri"/>
              </a:rPr>
              <a:t>n</a:t>
            </a:r>
            <a:r>
              <a:rPr sz="890" b="0" i="0">
                <a:solidFill>
                  <a:srgbClr val="262B33"/>
                </a:solidFill>
                <a:latin typeface="Calibri"/>
              </a:rPr>
              <a:t> ensemble.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890" b="0" i="0">
                <a:solidFill>
                  <a:srgbClr val="262B33"/>
                </a:solidFill>
                <a:latin typeface="Calibri"/>
              </a:rPr>
              <a:t>▪ Debris </a:t>
            </a:r>
            <a:r>
              <a:rPr sz="890" b="1" i="0">
                <a:solidFill>
                  <a:srgbClr val="262B33"/>
                </a:solidFill>
                <a:latin typeface="Calibri"/>
              </a:rPr>
              <a:t>flagged explicitly</a:t>
            </a:r>
            <a:r>
              <a:rPr sz="890" b="0" i="0">
                <a:solidFill>
                  <a:srgbClr val="262B33"/>
                </a:solidFill>
                <a:latin typeface="Calibri"/>
              </a:rPr>
              <a:t> and approximated with bulked density and roughness. Stated as a caveat, not hidden.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890" b="0" i="0">
                <a:solidFill>
                  <a:srgbClr val="262B33"/>
                </a:solidFill>
                <a:latin typeface="Calibri"/>
              </a:rPr>
              <a:t>▪ </a:t>
            </a:r>
            <a:r>
              <a:rPr sz="890" b="1" i="0">
                <a:solidFill>
                  <a:srgbClr val="262B33"/>
                </a:solidFill>
                <a:latin typeface="Calibri"/>
              </a:rPr>
              <a:t>Our own solver carries the live demo</a:t>
            </a:r>
            <a:r>
              <a:rPr sz="890" b="0" i="0">
                <a:solidFill>
                  <a:srgbClr val="262B33"/>
                </a:solidFill>
                <a:latin typeface="Calibri"/>
              </a:rPr>
              <a:t>; Delft3D FM is the offline reference run, so a build failure cannot break the demonstration.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890" b="0" i="0">
                <a:solidFill>
                  <a:srgbClr val="262B33"/>
                </a:solidFill>
                <a:latin typeface="Calibri"/>
              </a:rPr>
              <a:t>▪ Every output stamped </a:t>
            </a:r>
            <a:r>
              <a:rPr sz="890" b="1" i="0">
                <a:solidFill>
                  <a:srgbClr val="262B33"/>
                </a:solidFill>
                <a:latin typeface="Calibri"/>
              </a:rPr>
              <a:t>Tier-1 screening-grade</a:t>
            </a:r>
            <a:r>
              <a:rPr sz="890" b="0" i="0">
                <a:solidFill>
                  <a:srgbClr val="262B33"/>
                </a:solidFill>
                <a:latin typeface="Calibri"/>
              </a:rPr>
              <a:t> per CWC CDSO_GUD_DS_05, with uncertainty printed on the map itself.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850" b="0" i="0">
                <a:solidFill>
                  <a:srgbClr val="262B33"/>
                </a:solidFill>
                <a:latin typeface="Calibri"/>
              </a:rPr>
              <a:t>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292608" y="1188720"/>
            <a:ext cx="379476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A51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86000"/>
              </a:lnSpc>
              <a:spcAft>
                <a:spcPts val="0"/>
              </a:spcAft>
            </a:pPr>
            <a:r>
              <a:rPr sz="2600" b="1">
                <a:solidFill>
                  <a:srgbClr val="A51E2D"/>
                </a:solidFill>
                <a:latin typeface="Calibri"/>
              </a:rPr>
              <a:t>204  </a:t>
            </a:r>
            <a:r>
              <a:rPr sz="1150" b="1">
                <a:solidFill>
                  <a:srgbClr val="262B33"/>
                </a:solidFill>
                <a:latin typeface="Calibri"/>
              </a:rPr>
              <a:t>dead or missing</a:t>
            </a:r>
          </a:p>
          <a:p>
            <a:pPr algn="ctr">
              <a:spcAft>
                <a:spcPts val="0"/>
              </a:spcAft>
            </a:pPr>
            <a:r>
              <a:rPr sz="819">
                <a:solidFill>
                  <a:srgbClr val="5A6370"/>
                </a:solidFill>
                <a:latin typeface="Calibri"/>
              </a:rPr>
              <a:t>Chamoli, 7 Feb 2021 — no warning reached anyone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4270248" y="1188720"/>
            <a:ext cx="379476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0B74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86000"/>
              </a:lnSpc>
              <a:spcAft>
                <a:spcPts val="0"/>
              </a:spcAft>
            </a:pPr>
            <a:r>
              <a:rPr sz="2600" b="1">
                <a:solidFill>
                  <a:srgbClr val="0B746B"/>
                </a:solidFill>
                <a:latin typeface="Calibri"/>
              </a:rPr>
              <a:t>0  </a:t>
            </a:r>
            <a:r>
              <a:rPr sz="1150" b="1">
                <a:solidFill>
                  <a:srgbClr val="262B33"/>
                </a:solidFill>
                <a:latin typeface="Calibri"/>
              </a:rPr>
              <a:t>deaths</a:t>
            </a:r>
          </a:p>
          <a:p>
            <a:pPr algn="ctr">
              <a:spcAft>
                <a:spcPts val="0"/>
              </a:spcAft>
            </a:pPr>
            <a:r>
              <a:rPr sz="819">
                <a:solidFill>
                  <a:srgbClr val="5A6370"/>
                </a:solidFill>
                <a:latin typeface="Calibri"/>
              </a:rPr>
              <a:t>Phuktal, 7 May 2015 — 30–35 Mm³ released, ~3,000 evacuated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8247888" y="1188720"/>
            <a:ext cx="379476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B5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86000"/>
              </a:lnSpc>
              <a:spcAft>
                <a:spcPts val="0"/>
              </a:spcAft>
            </a:pPr>
            <a:r>
              <a:rPr sz="2600" b="1">
                <a:solidFill>
                  <a:srgbClr val="B56A00"/>
                </a:solidFill>
                <a:latin typeface="Calibri"/>
              </a:rPr>
              <a:t>2.3 M+  </a:t>
            </a:r>
            <a:r>
              <a:rPr sz="1150" b="1">
                <a:solidFill>
                  <a:srgbClr val="262B33"/>
                </a:solidFill>
                <a:latin typeface="Calibri"/>
              </a:rPr>
              <a:t>people affected</a:t>
            </a:r>
          </a:p>
          <a:p>
            <a:pPr algn="ctr">
              <a:spcAft>
                <a:spcPts val="0"/>
              </a:spcAft>
            </a:pPr>
            <a:r>
              <a:rPr sz="819">
                <a:solidFill>
                  <a:srgbClr val="5A6370"/>
                </a:solidFill>
                <a:latin typeface="Calibri"/>
              </a:rPr>
              <a:t>Kosi, 18 Aug 2008 — breached far below design discharge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292608" y="2084831"/>
            <a:ext cx="1161288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019" b="0" i="0">
                <a:solidFill>
                  <a:srgbClr val="14305A"/>
                </a:solidFill>
                <a:latin typeface="Calibri"/>
              </a:rPr>
              <a:t>The variable between these three rows is not the hydrology. It is whether anyone knew where the water would go, and when.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292608" y="2468880"/>
            <a:ext cx="5742432" cy="3767328"/>
          </a:xfrm>
          <a:prstGeom prst="roundRect">
            <a:avLst>
              <a:gd name="adj" fmla="val 6000"/>
            </a:avLst>
          </a:prstGeom>
          <a:solidFill>
            <a:srgbClr val="EDF4FB"/>
          </a:solidFill>
          <a:ln w="11430">
            <a:solidFill>
              <a:srgbClr val="BBD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7415" name="Rectangle 17414"/>
          <p:cNvSpPr/>
          <p:nvPr/>
        </p:nvSpPr>
        <p:spPr>
          <a:xfrm>
            <a:off x="292608" y="2468880"/>
            <a:ext cx="5742432" cy="310896"/>
          </a:xfrm>
          <a:prstGeom prst="rect">
            <a:avLst/>
          </a:prstGeom>
          <a:solidFill>
            <a:srgbClr val="143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7416" name="TextBox 17415"/>
          <p:cNvSpPr txBox="1"/>
          <p:nvPr/>
        </p:nvSpPr>
        <p:spPr>
          <a:xfrm>
            <a:off x="384048" y="2510028"/>
            <a:ext cx="5559552" cy="237744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Potential impact on the target audience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411480" y="2862072"/>
            <a:ext cx="5504688" cy="326440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950" b="0" i="0">
                <a:solidFill>
                  <a:srgbClr val="262B33"/>
                </a:solidFill>
                <a:latin typeface="Calibri"/>
              </a:rPr>
              <a:t>▪ </a:t>
            </a:r>
            <a:r>
              <a:rPr sz="950" b="1" i="0">
                <a:solidFill>
                  <a:srgbClr val="262B33"/>
                </a:solidFill>
                <a:latin typeface="Calibri"/>
              </a:rPr>
              <a:t>NTRO / HADR planners</a:t>
            </a:r>
            <a:r>
              <a:rPr sz="950" b="0" i="0">
                <a:solidFill>
                  <a:srgbClr val="262B33"/>
                </a:solidFill>
                <a:latin typeface="Calibri"/>
              </a:rPr>
              <a:t> — scenario generation for dams and natural lakes that cannot be ground-surveyed, including transboundary reaches that are, in ORF's words on the Yarlung Tsangpo, </a:t>
            </a:r>
            <a:r>
              <a:rPr sz="950" b="0" i="1">
                <a:solidFill>
                  <a:srgbClr val="262B33"/>
                </a:solidFill>
                <a:latin typeface="Calibri"/>
              </a:rPr>
              <a:t>"presently a blind spot for India"</a:t>
            </a:r>
            <a:r>
              <a:rPr sz="950" b="0" i="0">
                <a:solidFill>
                  <a:srgbClr val="262B33"/>
                </a:solidFill>
                <a:latin typeface="Calibri"/>
              </a:rPr>
              <a:t>, where the primary risk is dam </a:t>
            </a:r>
            <a:r>
              <a:rPr sz="950" b="1" i="0">
                <a:solidFill>
                  <a:srgbClr val="262B33"/>
                </a:solidFill>
                <a:latin typeface="Calibri"/>
              </a:rPr>
              <a:t>failure</a:t>
            </a:r>
            <a:r>
              <a:rPr sz="950" b="0" i="0">
                <a:solidFill>
                  <a:srgbClr val="262B33"/>
                </a:solidFill>
                <a:latin typeface="Calibri"/>
              </a:rPr>
              <a:t>, not diversion.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950" b="0" i="0">
                <a:solidFill>
                  <a:srgbClr val="262B33"/>
                </a:solidFill>
                <a:latin typeface="Calibri"/>
              </a:rPr>
              <a:t>▪ </a:t>
            </a:r>
            <a:r>
              <a:rPr sz="950" b="1" i="0">
                <a:solidFill>
                  <a:srgbClr val="262B33"/>
                </a:solidFill>
                <a:latin typeface="Calibri"/>
              </a:rPr>
              <a:t>NDMA / SDMA / DDMA</a:t>
            </a:r>
            <a:r>
              <a:rPr sz="950" b="0" i="0">
                <a:solidFill>
                  <a:srgbClr val="262B33"/>
                </a:solidFill>
                <a:latin typeface="Calibri"/>
              </a:rPr>
              <a:t> — depth, extent and </a:t>
            </a:r>
            <a:r>
              <a:rPr sz="950" b="0" i="1">
                <a:solidFill>
                  <a:srgbClr val="262B33"/>
                </a:solidFill>
                <a:latin typeface="Calibri"/>
              </a:rPr>
              <a:t>arrival time</a:t>
            </a:r>
            <a:r>
              <a:rPr sz="950" b="0" i="0">
                <a:solidFill>
                  <a:srgbClr val="262B33"/>
                </a:solidFill>
                <a:latin typeface="Calibri"/>
              </a:rPr>
              <a:t> are exactly what an evacuation order needs; .kml drops into the GIS they already run.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950" b="0" i="0">
                <a:solidFill>
                  <a:srgbClr val="262B33"/>
                </a:solidFill>
                <a:latin typeface="Calibri"/>
              </a:rPr>
              <a:t>▪ </a:t>
            </a:r>
            <a:r>
              <a:rPr sz="950" b="1" i="0">
                <a:solidFill>
                  <a:srgbClr val="262B33"/>
                </a:solidFill>
                <a:latin typeface="Calibri"/>
              </a:rPr>
              <a:t>CWC / NDSA</a:t>
            </a:r>
            <a:r>
              <a:rPr sz="950" b="0" i="0">
                <a:solidFill>
                  <a:srgbClr val="262B33"/>
                </a:solidFill>
                <a:latin typeface="Calibri"/>
              </a:rPr>
              <a:t> — a Tier-1 screening layer (CDSO_GUD_DS_05) to triage which dams warrant a full expert study first.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950" b="0" i="0">
                <a:solidFill>
                  <a:srgbClr val="262B33"/>
                </a:solidFill>
                <a:latin typeface="Calibri"/>
              </a:rPr>
              <a:t>▪ </a:t>
            </a:r>
            <a:r>
              <a:rPr sz="950" b="1" i="0">
                <a:solidFill>
                  <a:srgbClr val="262B33"/>
                </a:solidFill>
                <a:latin typeface="Calibri"/>
              </a:rPr>
              <a:t>Army / BRO / NDRF</a:t>
            </a:r>
            <a:r>
              <a:rPr sz="950" b="0" i="0">
                <a:solidFill>
                  <a:srgbClr val="262B33"/>
                </a:solidFill>
                <a:latin typeface="Calibri"/>
              </a:rPr>
              <a:t> — pre-positioning, and deliberate-breach planning of the kind the Army executed at Phuktal in May 2015.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950" b="0" i="0">
                <a:solidFill>
                  <a:srgbClr val="262B33"/>
                </a:solidFill>
                <a:latin typeface="Calibri"/>
              </a:rPr>
              <a:t>▪ </a:t>
            </a:r>
            <a:r>
              <a:rPr sz="950" b="1" i="0">
                <a:solidFill>
                  <a:srgbClr val="262B33"/>
                </a:solidFill>
                <a:latin typeface="Calibri"/>
              </a:rPr>
              <a:t>Downstream communities</a:t>
            </a:r>
            <a:r>
              <a:rPr sz="950" b="0" i="0">
                <a:solidFill>
                  <a:srgbClr val="262B33"/>
                </a:solidFill>
                <a:latin typeface="Calibri"/>
              </a:rPr>
              <a:t> — 29 villages, ~4,000 people and ~50 bridges were at risk at Phuktal alone.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6217920" y="2468880"/>
            <a:ext cx="5870448" cy="3767328"/>
          </a:xfrm>
          <a:prstGeom prst="roundRect">
            <a:avLst>
              <a:gd name="adj" fmla="val 6000"/>
            </a:avLst>
          </a:prstGeom>
          <a:solidFill>
            <a:srgbClr val="EDF4FB"/>
          </a:solidFill>
          <a:ln w="11430">
            <a:solidFill>
              <a:srgbClr val="BBD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7419" name="Rectangle 17418"/>
          <p:cNvSpPr/>
          <p:nvPr/>
        </p:nvSpPr>
        <p:spPr>
          <a:xfrm>
            <a:off x="6217920" y="2468880"/>
            <a:ext cx="5870448" cy="310896"/>
          </a:xfrm>
          <a:prstGeom prst="rect">
            <a:avLst/>
          </a:prstGeom>
          <a:solidFill>
            <a:srgbClr val="0B7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7420" name="TextBox 17419"/>
          <p:cNvSpPr txBox="1"/>
          <p:nvPr/>
        </p:nvSpPr>
        <p:spPr>
          <a:xfrm>
            <a:off x="6309360" y="2510028"/>
            <a:ext cx="5687568" cy="237744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Benefits of the solution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6336792" y="2862072"/>
            <a:ext cx="5632704" cy="326440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950" b="0" i="0">
                <a:solidFill>
                  <a:srgbClr val="262B33"/>
                </a:solidFill>
                <a:latin typeface="Calibri"/>
              </a:rPr>
              <a:t>▪ </a:t>
            </a:r>
            <a:r>
              <a:rPr sz="950" b="1" i="0">
                <a:solidFill>
                  <a:srgbClr val="262B33"/>
                </a:solidFill>
                <a:latin typeface="Calibri"/>
              </a:rPr>
              <a:t>Social</a:t>
            </a:r>
            <a:r>
              <a:rPr sz="950" b="0" i="0">
                <a:solidFill>
                  <a:srgbClr val="262B33"/>
                </a:solidFill>
                <a:latin typeface="Calibri"/>
              </a:rPr>
              <a:t> — arrival-time maps become lead time, and lead time becomes evacuation. Phuktal: ~3,000 moved, zero deaths.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950" b="0" i="0">
                <a:solidFill>
                  <a:srgbClr val="262B33"/>
                </a:solidFill>
                <a:latin typeface="Calibri"/>
              </a:rPr>
              <a:t>▪ </a:t>
            </a:r>
            <a:r>
              <a:rPr sz="950" b="1" i="0">
                <a:solidFill>
                  <a:srgbClr val="262B33"/>
                </a:solidFill>
                <a:latin typeface="Calibri"/>
              </a:rPr>
              <a:t>Economic</a:t>
            </a:r>
            <a:r>
              <a:rPr sz="950" b="0" i="0">
                <a:solidFill>
                  <a:srgbClr val="262B33"/>
                </a:solidFill>
                <a:latin typeface="Calibri"/>
              </a:rPr>
              <a:t> — zero licence cost against commercial suites, and automation replaces weeks of specialist setup per site.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950" b="0" i="0">
                <a:solidFill>
                  <a:srgbClr val="262B33"/>
                </a:solidFill>
                <a:latin typeface="Calibri"/>
              </a:rPr>
              <a:t>▪ </a:t>
            </a:r>
            <a:r>
              <a:rPr sz="950" b="1" i="0">
                <a:solidFill>
                  <a:srgbClr val="262B33"/>
                </a:solidFill>
                <a:latin typeface="Calibri"/>
              </a:rPr>
              <a:t>Environmental</a:t>
            </a:r>
            <a:r>
              <a:rPr sz="950" b="0" i="0">
                <a:solidFill>
                  <a:srgbClr val="262B33"/>
                </a:solidFill>
                <a:latin typeface="Calibri"/>
              </a:rPr>
              <a:t> — identifies ecosystems and cropland at risk; supports scheduled controlled release instead of emergency release.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950" b="0" i="0">
                <a:solidFill>
                  <a:srgbClr val="262B33"/>
                </a:solidFill>
                <a:latin typeface="Calibri"/>
              </a:rPr>
              <a:t>▪ </a:t>
            </a:r>
            <a:r>
              <a:rPr sz="950" b="1" i="0">
                <a:solidFill>
                  <a:srgbClr val="262B33"/>
                </a:solidFill>
                <a:latin typeface="Calibri"/>
              </a:rPr>
              <a:t>Strategic</a:t>
            </a:r>
            <a:r>
              <a:rPr sz="950" b="0" i="0">
                <a:solidFill>
                  <a:srgbClr val="262B33"/>
                </a:solidFill>
                <a:latin typeface="Calibri"/>
              </a:rPr>
              <a:t> — a no-survey capability for terrain that cannot be physically accessed or instrumented.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950" b="0" i="0">
                <a:solidFill>
                  <a:srgbClr val="262B33"/>
                </a:solidFill>
                <a:latin typeface="Calibri"/>
              </a:rPr>
              <a:t>▪ </a:t>
            </a:r>
            <a:r>
              <a:rPr sz="950" b="1" i="0">
                <a:solidFill>
                  <a:srgbClr val="262B33"/>
                </a:solidFill>
                <a:latin typeface="Calibri"/>
              </a:rPr>
              <a:t>Institutional</a:t>
            </a:r>
            <a:r>
              <a:rPr sz="950" b="0" i="0">
                <a:solidFill>
                  <a:srgbClr val="262B33"/>
                </a:solidFill>
                <a:latin typeface="Calibri"/>
              </a:rPr>
              <a:t> — .shp / .kml at 1:50,000 and 1:10,000 matches CWC EAP map specifications, so results are usable rather than merely viewable.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950" b="0" i="0">
                <a:solidFill>
                  <a:srgbClr val="262B33"/>
                </a:solidFill>
                <a:latin typeface="Calibri"/>
              </a:rPr>
              <a:t>▪ </a:t>
            </a:r>
            <a:r>
              <a:rPr sz="950" b="1" i="0">
                <a:solidFill>
                  <a:srgbClr val="262B33"/>
                </a:solidFill>
                <a:latin typeface="Calibri"/>
              </a:rPr>
              <a:t>Scientific</a:t>
            </a:r>
            <a:r>
              <a:rPr sz="950" b="0" i="0">
                <a:solidFill>
                  <a:srgbClr val="262B33"/>
                </a:solidFill>
                <a:latin typeface="Calibri"/>
              </a:rPr>
              <a:t> — the SPH vs depth-averaged agreement metrics are a publishable contribution, not a repackaged UI.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850" b="0" i="0">
                <a:solidFill>
                  <a:srgbClr val="262B33"/>
                </a:solidFill>
                <a:latin typeface="Calibri"/>
              </a:rPr>
              <a:t>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292608" y="1207008"/>
            <a:ext cx="3794760" cy="4663440"/>
          </a:xfrm>
          <a:prstGeom prst="roundRect">
            <a:avLst>
              <a:gd name="adj" fmla="val 6000"/>
            </a:avLst>
          </a:prstGeom>
          <a:solidFill>
            <a:srgbClr val="EDF4FB"/>
          </a:solidFill>
          <a:ln w="11430">
            <a:solidFill>
              <a:srgbClr val="BBD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7411" name="Rectangle 17410"/>
          <p:cNvSpPr/>
          <p:nvPr/>
        </p:nvSpPr>
        <p:spPr>
          <a:xfrm>
            <a:off x="292608" y="1207008"/>
            <a:ext cx="3794760" cy="310896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384048" y="1248156"/>
            <a:ext cx="3611880" cy="237744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Problem domain — Indian events and regulation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411480" y="1600200"/>
            <a:ext cx="3557016" cy="41605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770" b="0" i="0">
                <a:solidFill>
                  <a:srgbClr val="262B33"/>
                </a:solidFill>
                <a:latin typeface="Calibri"/>
              </a:rPr>
              <a:t>▪ CWC / CDSO, </a:t>
            </a:r>
            <a:r>
              <a:rPr sz="770" b="1" i="0">
                <a:solidFill>
                  <a:srgbClr val="262B33"/>
                </a:solidFill>
                <a:latin typeface="Calibri"/>
              </a:rPr>
              <a:t>Guidelines for Mapping Flood Risks Associated with Dams</a:t>
            </a:r>
            <a:r>
              <a:rPr sz="770" b="0" i="0">
                <a:solidFill>
                  <a:srgbClr val="262B33"/>
                </a:solidFill>
                <a:latin typeface="Calibri"/>
              </a:rPr>
              <a:t>, CDSO_GUD_DS_05 v1.0, Jan 2018 — HEC-RAS adopted for DRIP; Tier 1–3 framework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770" b="0" i="0">
                <a:solidFill>
                  <a:srgbClr val="262B33"/>
                </a:solidFill>
                <a:latin typeface="Calibri"/>
              </a:rPr>
              <a:t>▪ CWC, </a:t>
            </a:r>
            <a:r>
              <a:rPr sz="770" b="1" i="0">
                <a:solidFill>
                  <a:srgbClr val="262B33"/>
                </a:solidFill>
                <a:latin typeface="Calibri"/>
              </a:rPr>
              <a:t>Emergency Action Plan guidelines</a:t>
            </a:r>
            <a:r>
              <a:rPr sz="770" b="0" i="0">
                <a:solidFill>
                  <a:srgbClr val="262B33"/>
                </a:solidFill>
                <a:latin typeface="Calibri"/>
              </a:rPr>
              <a:t>, cwc.gov.in — index maps 1:50,000; detailed maps 1:10,000 at 0.5 m contours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770" b="0" i="0">
                <a:solidFill>
                  <a:srgbClr val="262B33"/>
                </a:solidFill>
                <a:latin typeface="Calibri"/>
              </a:rPr>
              <a:t>▪ Shugar et al. 2021, </a:t>
            </a:r>
            <a:r>
              <a:rPr sz="770" b="0" i="1">
                <a:solidFill>
                  <a:srgbClr val="262B33"/>
                </a:solidFill>
                <a:latin typeface="Calibri"/>
              </a:rPr>
              <a:t>Science</a:t>
            </a:r>
            <a:r>
              <a:rPr sz="770" b="0" i="0">
                <a:solidFill>
                  <a:srgbClr val="262B33"/>
                </a:solidFill>
                <a:latin typeface="Calibri"/>
              </a:rPr>
              <a:t> 373:300–306, doi 10.1126/science.abh4455 — Chamoli rock-and-ice avalanche; 26.9 Mm³; travel times matched to </a:t>
            </a:r>
            <a:r>
              <a:rPr sz="770" b="1" i="0">
                <a:solidFill>
                  <a:srgbClr val="262B33"/>
                </a:solidFill>
                <a:latin typeface="Calibri"/>
              </a:rPr>
              <a:t>&lt;5%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770" b="0" i="0">
                <a:solidFill>
                  <a:srgbClr val="262B33"/>
                </a:solidFill>
                <a:latin typeface="Calibri"/>
              </a:rPr>
              <a:t>▪ Rana et al. 2023, </a:t>
            </a:r>
            <a:r>
              <a:rPr sz="770" b="0" i="1">
                <a:solidFill>
                  <a:srgbClr val="262B33"/>
                </a:solidFill>
                <a:latin typeface="Calibri"/>
              </a:rPr>
              <a:t>Natural Hazards</a:t>
            </a:r>
            <a:r>
              <a:rPr sz="770" b="0" i="0">
                <a:solidFill>
                  <a:srgbClr val="262B33"/>
                </a:solidFill>
                <a:latin typeface="Calibri"/>
              </a:rPr>
              <a:t>, doi 10.1007/s11069-023-05972-5 — independent HEC-RAS reconstruction of the same event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770" b="0" i="0">
                <a:solidFill>
                  <a:srgbClr val="262B33"/>
                </a:solidFill>
                <a:latin typeface="Calibri"/>
              </a:rPr>
              <a:t>▪ Sinha 2009, </a:t>
            </a:r>
            <a:r>
              <a:rPr sz="770" b="1" i="0">
                <a:solidFill>
                  <a:srgbClr val="262B33"/>
                </a:solidFill>
                <a:latin typeface="Calibri"/>
              </a:rPr>
              <a:t>The Great Avulsion of Kosi on 18 August 2008</a:t>
            </a:r>
            <a:r>
              <a:rPr sz="770" b="0" i="0">
                <a:solidFill>
                  <a:srgbClr val="262B33"/>
                </a:solidFill>
                <a:latin typeface="Calibri"/>
              </a:rPr>
              <a:t>, </a:t>
            </a:r>
            <a:r>
              <a:rPr sz="770" b="0" i="1">
                <a:solidFill>
                  <a:srgbClr val="262B33"/>
                </a:solidFill>
                <a:latin typeface="Calibri"/>
              </a:rPr>
              <a:t>Current Science</a:t>
            </a:r>
            <a:r>
              <a:rPr sz="770" b="0" i="0">
                <a:solidFill>
                  <a:srgbClr val="262B33"/>
                </a:solidFill>
                <a:latin typeface="Calibri"/>
              </a:rPr>
              <a:t> 97:429–433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770" b="0" i="0">
                <a:solidFill>
                  <a:srgbClr val="262B33"/>
                </a:solidFill>
                <a:latin typeface="Calibri"/>
              </a:rPr>
              <a:t>▪ Costa &amp; Schuster 1988, </a:t>
            </a:r>
            <a:r>
              <a:rPr sz="770" b="1" i="0">
                <a:solidFill>
                  <a:srgbClr val="262B33"/>
                </a:solidFill>
                <a:latin typeface="Calibri"/>
              </a:rPr>
              <a:t>The formation and failure of natural dams</a:t>
            </a:r>
            <a:r>
              <a:rPr sz="770" b="0" i="0">
                <a:solidFill>
                  <a:srgbClr val="262B33"/>
                </a:solidFill>
                <a:latin typeface="Calibri"/>
              </a:rPr>
              <a:t>, </a:t>
            </a:r>
            <a:r>
              <a:rPr sz="770" b="0" i="1">
                <a:solidFill>
                  <a:srgbClr val="262B33"/>
                </a:solidFill>
                <a:latin typeface="Calibri"/>
              </a:rPr>
              <a:t>GSA Bulletin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770" b="0" i="0">
                <a:solidFill>
                  <a:srgbClr val="262B33"/>
                </a:solidFill>
                <a:latin typeface="Calibri"/>
              </a:rPr>
              <a:t>▪ NRSC / ISRO Cartosat-2 monitoring of the Phuktal blockage, Jan–Mar 2015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770" b="0" i="0">
                <a:solidFill>
                  <a:srgbClr val="262B33"/>
                </a:solidFill>
                <a:latin typeface="Calibri"/>
              </a:rPr>
              <a:t>▪ CWC </a:t>
            </a:r>
            <a:r>
              <a:rPr sz="770" b="1" i="0">
                <a:solidFill>
                  <a:srgbClr val="262B33"/>
                </a:solidFill>
                <a:latin typeface="Calibri"/>
              </a:rPr>
              <a:t>NRLD 2019</a:t>
            </a:r>
            <a:r>
              <a:rPr sz="770" b="0" i="0">
                <a:solidFill>
                  <a:srgbClr val="262B33"/>
                </a:solidFill>
                <a:latin typeface="Calibri"/>
              </a:rPr>
              <a:t> and </a:t>
            </a:r>
            <a:r>
              <a:rPr sz="770" b="1" i="0">
                <a:solidFill>
                  <a:srgbClr val="262B33"/>
                </a:solidFill>
                <a:latin typeface="Calibri"/>
              </a:rPr>
              <a:t>NRSD 2025</a:t>
            </a:r>
            <a:r>
              <a:rPr sz="770" b="0" i="0">
                <a:solidFill>
                  <a:srgbClr val="262B33"/>
                </a:solidFill>
                <a:latin typeface="Calibri"/>
              </a:rPr>
              <a:t> national dam registers (cwc.gov.in)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4270248" y="1207008"/>
            <a:ext cx="3794760" cy="4663440"/>
          </a:xfrm>
          <a:prstGeom prst="roundRect">
            <a:avLst>
              <a:gd name="adj" fmla="val 6000"/>
            </a:avLst>
          </a:prstGeom>
          <a:solidFill>
            <a:srgbClr val="EDF4FB"/>
          </a:solidFill>
          <a:ln w="11430">
            <a:solidFill>
              <a:srgbClr val="BBD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7415" name="Rectangle 17414"/>
          <p:cNvSpPr/>
          <p:nvPr/>
        </p:nvSpPr>
        <p:spPr>
          <a:xfrm>
            <a:off x="4270248" y="1207008"/>
            <a:ext cx="3794760" cy="310896"/>
          </a:xfrm>
          <a:prstGeom prst="rect">
            <a:avLst/>
          </a:prstGeom>
          <a:solidFill>
            <a:srgbClr val="143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7416" name="TextBox 17415"/>
          <p:cNvSpPr txBox="1"/>
          <p:nvPr/>
        </p:nvSpPr>
        <p:spPr>
          <a:xfrm>
            <a:off x="4361688" y="1248156"/>
            <a:ext cx="3611880" cy="237744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Numerical methods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4389120" y="1600200"/>
            <a:ext cx="3557016" cy="41605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770" b="0" i="0">
                <a:solidFill>
                  <a:srgbClr val="262B33"/>
                </a:solidFill>
                <a:latin typeface="Calibri"/>
              </a:rPr>
              <a:t>▪ Gingold &amp; Monaghan 1977, </a:t>
            </a:r>
            <a:r>
              <a:rPr sz="770" b="0" i="1">
                <a:solidFill>
                  <a:srgbClr val="262B33"/>
                </a:solidFill>
                <a:latin typeface="Calibri"/>
              </a:rPr>
              <a:t>MNRAS</a:t>
            </a:r>
            <a:r>
              <a:rPr sz="770" b="0" i="0">
                <a:solidFill>
                  <a:srgbClr val="262B33"/>
                </a:solidFill>
                <a:latin typeface="Calibri"/>
              </a:rPr>
              <a:t> 181:375 — origin of SPH; Lucy 1977, </a:t>
            </a:r>
            <a:r>
              <a:rPr sz="770" b="0" i="1">
                <a:solidFill>
                  <a:srgbClr val="262B33"/>
                </a:solidFill>
                <a:latin typeface="Calibri"/>
              </a:rPr>
              <a:t>AJ</a:t>
            </a:r>
            <a:r>
              <a:rPr sz="770" b="0" i="0">
                <a:solidFill>
                  <a:srgbClr val="262B33"/>
                </a:solidFill>
                <a:latin typeface="Calibri"/>
              </a:rPr>
              <a:t> 82:1013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770" b="0" i="0">
                <a:solidFill>
                  <a:srgbClr val="262B33"/>
                </a:solidFill>
                <a:latin typeface="Calibri"/>
              </a:rPr>
              <a:t>▪ Maranzoni &amp; Tomirotti 2023, </a:t>
            </a:r>
            <a:r>
              <a:rPr sz="770" b="1" i="0">
                <a:solidFill>
                  <a:srgbClr val="262B33"/>
                </a:solidFill>
                <a:latin typeface="Calibri"/>
              </a:rPr>
              <a:t>3D Numerical Modelling of Real-Field Dam-Break Flows</a:t>
            </a:r>
            <a:r>
              <a:rPr sz="770" b="0" i="0">
                <a:solidFill>
                  <a:srgbClr val="262B33"/>
                </a:solidFill>
                <a:latin typeface="Calibri"/>
              </a:rPr>
              <a:t>, </a:t>
            </a:r>
            <a:r>
              <a:rPr sz="770" b="0" i="1">
                <a:solidFill>
                  <a:srgbClr val="262B33"/>
                </a:solidFill>
                <a:latin typeface="Calibri"/>
              </a:rPr>
              <a:t>Water</a:t>
            </a:r>
            <a:r>
              <a:rPr sz="770" b="0" i="0">
                <a:solidFill>
                  <a:srgbClr val="262B33"/>
                </a:solidFill>
                <a:latin typeface="Calibri"/>
              </a:rPr>
              <a:t> 15(17):3130, doi 10.3390/w15173130 — recommends coupled 2D–3D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770" b="0" i="0">
                <a:solidFill>
                  <a:srgbClr val="262B33"/>
                </a:solidFill>
                <a:latin typeface="Calibri"/>
              </a:rPr>
              <a:t>▪ Vacondio et al. 2020, </a:t>
            </a:r>
            <a:r>
              <a:rPr sz="770" b="1" i="0">
                <a:solidFill>
                  <a:srgbClr val="262B33"/>
                </a:solidFill>
                <a:latin typeface="Calibri"/>
              </a:rPr>
              <a:t>Grand challenges for SPH numerical schemes</a:t>
            </a:r>
            <a:r>
              <a:rPr sz="770" b="0" i="0">
                <a:solidFill>
                  <a:srgbClr val="262B33"/>
                </a:solidFill>
                <a:latin typeface="Calibri"/>
              </a:rPr>
              <a:t>, </a:t>
            </a:r>
            <a:r>
              <a:rPr sz="770" b="0" i="1">
                <a:solidFill>
                  <a:srgbClr val="262B33"/>
                </a:solidFill>
                <a:latin typeface="Calibri"/>
              </a:rPr>
              <a:t>Comp. Particle Mech.</a:t>
            </a:r>
            <a:r>
              <a:rPr sz="770" b="0" i="0">
                <a:solidFill>
                  <a:srgbClr val="262B33"/>
                </a:solidFill>
                <a:latin typeface="Calibri"/>
              </a:rPr>
              <a:t> 8:575–588 — GC3: uniform resolution blocks multiscale use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770" b="0" i="0">
                <a:solidFill>
                  <a:srgbClr val="262B33"/>
                </a:solidFill>
                <a:latin typeface="Calibri"/>
              </a:rPr>
              <a:t>▪ Vacondio et al. 2011, </a:t>
            </a:r>
            <a:r>
              <a:rPr sz="770" b="1" i="0">
                <a:solidFill>
                  <a:srgbClr val="262B33"/>
                </a:solidFill>
                <a:latin typeface="Calibri"/>
              </a:rPr>
              <a:t>SPH Modeling of Shallow Flow with Open Boundaries for Practical Flood Simulation</a:t>
            </a:r>
            <a:r>
              <a:rPr sz="770" b="0" i="0">
                <a:solidFill>
                  <a:srgbClr val="262B33"/>
                </a:solidFill>
                <a:latin typeface="Calibri"/>
              </a:rPr>
              <a:t>, </a:t>
            </a:r>
            <a:r>
              <a:rPr sz="770" b="0" i="1">
                <a:solidFill>
                  <a:srgbClr val="262B33"/>
                </a:solidFill>
                <a:latin typeface="Calibri"/>
              </a:rPr>
              <a:t>J. Hydraul. Eng.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770" b="0" i="0">
                <a:solidFill>
                  <a:srgbClr val="262B33"/>
                </a:solidFill>
                <a:latin typeface="Calibri"/>
              </a:rPr>
              <a:t>▪ Prakash, Rothauge &amp; Cleary 2014, </a:t>
            </a:r>
            <a:r>
              <a:rPr sz="770" b="1" i="0">
                <a:solidFill>
                  <a:srgbClr val="262B33"/>
                </a:solidFill>
                <a:latin typeface="Calibri"/>
              </a:rPr>
              <a:t>Modelling the impact of dam failure scenarios on flood inundation using SPH</a:t>
            </a:r>
            <a:r>
              <a:rPr sz="770" b="0" i="0">
                <a:solidFill>
                  <a:srgbClr val="262B33"/>
                </a:solidFill>
                <a:latin typeface="Calibri"/>
              </a:rPr>
              <a:t>, </a:t>
            </a:r>
            <a:r>
              <a:rPr sz="770" b="0" i="1">
                <a:solidFill>
                  <a:srgbClr val="262B33"/>
                </a:solidFill>
                <a:latin typeface="Calibri"/>
              </a:rPr>
              <a:t>Appl. Math. Modelling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770" b="0" i="0">
                <a:solidFill>
                  <a:srgbClr val="262B33"/>
                </a:solidFill>
                <a:latin typeface="Calibri"/>
              </a:rPr>
              <a:t>▪ Ramachandran et al. 2021, </a:t>
            </a:r>
            <a:r>
              <a:rPr sz="770" b="1" i="0">
                <a:solidFill>
                  <a:srgbClr val="262B33"/>
                </a:solidFill>
                <a:latin typeface="Calibri"/>
              </a:rPr>
              <a:t>PySPH: A Python-based framework for SPH</a:t>
            </a:r>
            <a:r>
              <a:rPr sz="770" b="0" i="0">
                <a:solidFill>
                  <a:srgbClr val="262B33"/>
                </a:solidFill>
                <a:latin typeface="Calibri"/>
              </a:rPr>
              <a:t>, </a:t>
            </a:r>
            <a:r>
              <a:rPr sz="770" b="0" i="1">
                <a:solidFill>
                  <a:srgbClr val="262B33"/>
                </a:solidFill>
                <a:latin typeface="Calibri"/>
              </a:rPr>
              <a:t>ACM TOMS</a:t>
            </a:r>
            <a:r>
              <a:rPr sz="770" b="0" i="0">
                <a:solidFill>
                  <a:srgbClr val="262B33"/>
                </a:solidFill>
                <a:latin typeface="Calibri"/>
              </a:rPr>
              <a:t> 47(4), doi 10.1145/3460773  (IIT Bombay)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770" b="0" i="0">
                <a:solidFill>
                  <a:srgbClr val="262B33"/>
                </a:solidFill>
                <a:latin typeface="Calibri"/>
              </a:rPr>
              <a:t>▪ Toro 2001, </a:t>
            </a:r>
            <a:r>
              <a:rPr sz="770" b="0" i="1">
                <a:solidFill>
                  <a:srgbClr val="262B33"/>
                </a:solidFill>
                <a:latin typeface="Calibri"/>
              </a:rPr>
              <a:t>Shock-Capturing Methods for Free-Surface Shallow Flows</a:t>
            </a:r>
            <a:r>
              <a:rPr sz="770" b="0" i="0">
                <a:solidFill>
                  <a:srgbClr val="262B33"/>
                </a:solidFill>
                <a:latin typeface="Calibri"/>
              </a:rPr>
              <a:t>, Wiley; Audusse et al. 2004, </a:t>
            </a:r>
            <a:r>
              <a:rPr sz="770" b="0" i="1">
                <a:solidFill>
                  <a:srgbClr val="262B33"/>
                </a:solidFill>
                <a:latin typeface="Calibri"/>
              </a:rPr>
              <a:t>SIAM J. Sci. Comput.</a:t>
            </a:r>
            <a:r>
              <a:rPr sz="770" b="0" i="0">
                <a:solidFill>
                  <a:srgbClr val="262B33"/>
                </a:solidFill>
                <a:latin typeface="Calibri"/>
              </a:rPr>
              <a:t>; Liang &amp; Marche 2009, </a:t>
            </a:r>
            <a:r>
              <a:rPr sz="770" b="0" i="1">
                <a:solidFill>
                  <a:srgbClr val="262B33"/>
                </a:solidFill>
                <a:latin typeface="Calibri"/>
              </a:rPr>
              <a:t>AWR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770" b="0" i="0">
                <a:solidFill>
                  <a:srgbClr val="262B33"/>
                </a:solidFill>
                <a:latin typeface="Calibri"/>
              </a:rPr>
              <a:t>▪ Froehlich 2008 breach parameters, </a:t>
            </a:r>
            <a:r>
              <a:rPr sz="770" b="0" i="1">
                <a:solidFill>
                  <a:srgbClr val="262B33"/>
                </a:solidFill>
                <a:latin typeface="Calibri"/>
              </a:rPr>
              <a:t>J. Hydraul. Eng.</a:t>
            </a:r>
            <a:r>
              <a:rPr sz="770" b="0" i="0">
                <a:solidFill>
                  <a:srgbClr val="262B33"/>
                </a:solidFill>
                <a:latin typeface="Calibri"/>
              </a:rPr>
              <a:t>; Xu &amp; Zhang 2009, </a:t>
            </a:r>
            <a:r>
              <a:rPr sz="770" b="0" i="1">
                <a:solidFill>
                  <a:srgbClr val="262B33"/>
                </a:solidFill>
                <a:latin typeface="Calibri"/>
              </a:rPr>
              <a:t>JGGE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8247888" y="1207008"/>
            <a:ext cx="3794760" cy="4663440"/>
          </a:xfrm>
          <a:prstGeom prst="roundRect">
            <a:avLst>
              <a:gd name="adj" fmla="val 6000"/>
            </a:avLst>
          </a:prstGeom>
          <a:solidFill>
            <a:srgbClr val="EDF4FB"/>
          </a:solidFill>
          <a:ln w="11430">
            <a:solidFill>
              <a:srgbClr val="BBD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7419" name="Rectangle 17418"/>
          <p:cNvSpPr/>
          <p:nvPr/>
        </p:nvSpPr>
        <p:spPr>
          <a:xfrm>
            <a:off x="8247888" y="1207008"/>
            <a:ext cx="3794760" cy="310896"/>
          </a:xfrm>
          <a:prstGeom prst="rect">
            <a:avLst/>
          </a:prstGeom>
          <a:solidFill>
            <a:srgbClr val="0B7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7420" name="TextBox 17419"/>
          <p:cNvSpPr txBox="1"/>
          <p:nvPr/>
        </p:nvSpPr>
        <p:spPr>
          <a:xfrm>
            <a:off x="8339327" y="1248156"/>
            <a:ext cx="3611880" cy="237744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Software, data and Earth observation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8366760" y="1600200"/>
            <a:ext cx="3557016" cy="41605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770" b="0" i="0">
                <a:solidFill>
                  <a:srgbClr val="262B33"/>
                </a:solidFill>
                <a:latin typeface="Calibri"/>
              </a:rPr>
              <a:t>▪ </a:t>
            </a:r>
            <a:r>
              <a:rPr sz="770" b="1" i="0">
                <a:solidFill>
                  <a:srgbClr val="262B33"/>
                </a:solidFill>
                <a:latin typeface="Calibri"/>
              </a:rPr>
              <a:t>Delft3D</a:t>
            </a:r>
            <a:r>
              <a:rPr sz="770" b="0" i="0">
                <a:solidFill>
                  <a:srgbClr val="262B33"/>
                </a:solidFill>
                <a:latin typeface="Calibri"/>
              </a:rPr>
              <a:t> — github.com/Deltares/Delft3D (AGPL-3.0 / GPL-3.0); oss.deltares.nl; `hydromt_delft3dfm`, `hydrolib-core`, `dfm_tools`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770" b="0" i="0">
                <a:solidFill>
                  <a:srgbClr val="262B33"/>
                </a:solidFill>
                <a:latin typeface="Calibri"/>
              </a:rPr>
              <a:t>▪ </a:t>
            </a:r>
            <a:r>
              <a:rPr sz="770" b="1" i="0">
                <a:solidFill>
                  <a:srgbClr val="262B33"/>
                </a:solidFill>
                <a:latin typeface="Calibri"/>
              </a:rPr>
              <a:t>PySPH</a:t>
            </a:r>
            <a:r>
              <a:rPr sz="770" b="0" i="0">
                <a:solidFill>
                  <a:srgbClr val="262B33"/>
                </a:solidFill>
                <a:latin typeface="Calibri"/>
              </a:rPr>
              <a:t> — pysph.readthedocs.io (BSD); </a:t>
            </a:r>
            <a:r>
              <a:rPr sz="770" b="1" i="0">
                <a:solidFill>
                  <a:srgbClr val="262B33"/>
                </a:solidFill>
                <a:latin typeface="Calibri"/>
              </a:rPr>
              <a:t>DualSPHysics</a:t>
            </a:r>
            <a:r>
              <a:rPr sz="770" b="0" i="0">
                <a:solidFill>
                  <a:srgbClr val="262B33"/>
                </a:solidFill>
                <a:latin typeface="Calibri"/>
              </a:rPr>
              <a:t> — dual.sphysics.org (LGPL, CUDA); GPUSPH (GPLv3)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770" b="0" i="0">
                <a:solidFill>
                  <a:srgbClr val="262B33"/>
                </a:solidFill>
                <a:latin typeface="Calibri"/>
              </a:rPr>
              <a:t>▪ </a:t>
            </a:r>
            <a:r>
              <a:rPr sz="770" b="1" i="0">
                <a:solidFill>
                  <a:srgbClr val="262B33"/>
                </a:solidFill>
                <a:latin typeface="Calibri"/>
              </a:rPr>
              <a:t>HEC-RAS</a:t>
            </a:r>
            <a:r>
              <a:rPr sz="770" b="0" i="0">
                <a:solidFill>
                  <a:srgbClr val="262B33"/>
                </a:solidFill>
                <a:latin typeface="Calibri"/>
              </a:rPr>
              <a:t> — hec.usace.army.mil, incl. official dam-break study guidance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770" b="0" i="0">
                <a:solidFill>
                  <a:srgbClr val="262B33"/>
                </a:solidFill>
                <a:latin typeface="Calibri"/>
              </a:rPr>
              <a:t>▪ </a:t>
            </a:r>
            <a:r>
              <a:rPr sz="770" b="1" i="0">
                <a:solidFill>
                  <a:srgbClr val="262B33"/>
                </a:solidFill>
                <a:latin typeface="Calibri"/>
              </a:rPr>
              <a:t>Copernicus DEM GLO-30</a:t>
            </a:r>
            <a:r>
              <a:rPr sz="770" b="0" i="0">
                <a:solidFill>
                  <a:srgbClr val="262B33"/>
                </a:solidFill>
                <a:latin typeface="Calibri"/>
              </a:rPr>
              <a:t> — public COGs at s3://copernicus-dem-30m; GEE `COPERNICUS/DEM/GLO30_2024_1`. EGM2008 datum, &lt;4 m vertical (90% LE)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770" b="0" i="0">
                <a:solidFill>
                  <a:srgbClr val="262B33"/>
                </a:solidFill>
                <a:latin typeface="Calibri"/>
              </a:rPr>
              <a:t>▪ </a:t>
            </a:r>
            <a:r>
              <a:rPr sz="770" b="1" i="0">
                <a:solidFill>
                  <a:srgbClr val="262B33"/>
                </a:solidFill>
                <a:latin typeface="Calibri"/>
              </a:rPr>
              <a:t>Chamoli validation DEMs</a:t>
            </a:r>
            <a:r>
              <a:rPr sz="770" b="0" i="0">
                <a:solidFill>
                  <a:srgbClr val="262B33"/>
                </a:solidFill>
                <a:latin typeface="Calibri"/>
              </a:rPr>
              <a:t> — pre-event 2 m zenodo.org/record/4554647, post-event zenodo.org/record/4558692 (CC BY-NC 4.0)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770" b="0" i="0">
                <a:solidFill>
                  <a:srgbClr val="262B33"/>
                </a:solidFill>
                <a:latin typeface="Calibri"/>
              </a:rPr>
              <a:t>▪ GEE assets — `COPERNICUS/S1_GRD` · `JRC/GSW1_4/GlobalSurfaceWater` · `JRC/GHSL/P2023A/GHS_BUILT_C` · `WorldPop/GP/100m/pop` · `GOOGLE/Research/open-buildings/v3/polygons` · `ESA/WorldCover/v200`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770" b="0" i="0">
                <a:solidFill>
                  <a:srgbClr val="262B33"/>
                </a:solidFill>
                <a:latin typeface="Calibri"/>
              </a:rPr>
              <a:t>▪ </a:t>
            </a:r>
            <a:r>
              <a:rPr sz="770" b="1" i="0">
                <a:solidFill>
                  <a:srgbClr val="262B33"/>
                </a:solidFill>
                <a:latin typeface="Calibri"/>
              </a:rPr>
              <a:t>Global Dam Watch v1.0</a:t>
            </a:r>
            <a:r>
              <a:rPr sz="770" b="0" i="0">
                <a:solidFill>
                  <a:srgbClr val="262B33"/>
                </a:solidFill>
                <a:latin typeface="Calibri"/>
              </a:rPr>
              <a:t> (CC BY 4.0), doi 10.6084/m9.figshare.25988293 — 41,145 barriers, HydroSHEDS-harmonised, fallback inventory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770" b="0" i="0">
                <a:solidFill>
                  <a:srgbClr val="262B33"/>
                </a:solidFill>
                <a:latin typeface="Calibri"/>
              </a:rPr>
              <a:t>▪ </a:t>
            </a:r>
            <a:r>
              <a:rPr sz="770" b="1" i="0">
                <a:solidFill>
                  <a:srgbClr val="262B33"/>
                </a:solidFill>
                <a:latin typeface="Calibri"/>
              </a:rPr>
              <a:t>Malpasset 1959</a:t>
            </a:r>
            <a:r>
              <a:rPr sz="770" b="0" i="0">
                <a:solidFill>
                  <a:srgbClr val="262B33"/>
                </a:solidFill>
                <a:latin typeface="Calibri"/>
              </a:rPr>
              <a:t> — the standard real-world dam-break validation case; </a:t>
            </a:r>
            <a:r>
              <a:rPr sz="770" b="1" i="0">
                <a:solidFill>
                  <a:srgbClr val="262B33"/>
                </a:solidFill>
                <a:latin typeface="Calibri"/>
              </a:rPr>
              <a:t>Ritter/Stoker</a:t>
            </a:r>
            <a:r>
              <a:rPr sz="770" b="0" i="0">
                <a:solidFill>
                  <a:srgbClr val="262B33"/>
                </a:solidFill>
                <a:latin typeface="Calibri"/>
              </a:rPr>
              <a:t> analytical solution for solver verification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292608" y="5925312"/>
            <a:ext cx="11612880" cy="36576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740" b="0" i="0">
                <a:solidFill>
                  <a:srgbClr val="5A6370"/>
                </a:solidFill>
                <a:latin typeface="Calibri"/>
              </a:rPr>
              <a:t>Sources verified Aug 2026. Two dating notes on the PS's reference list: the Phuktal blockage formed 31 Dec 2014 and was breached 7 May 2015; no Nov 2021 Indian river blockage is on record — the likely referent is the 29 Oct 2021 Kameng (Warriyang) sediment event, in which no dam formed. Chamoli was a rock-and-ice avalanche, not a GLOF.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