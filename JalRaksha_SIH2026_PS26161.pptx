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/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600" b="0" i="0">
                <a:solidFill>
                  <a:srgbClr val="0070C0"/>
                </a:solidFill>
                <a:latin typeface="Times New Roman"/>
              </a:rPr>
              <a:t>JALRAKSHA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4305A"/>
                </a:solidFill>
                <a:latin typeface="Arial"/>
              </a:rPr>
              <a:t>Problem Statement ID —</a:t>
            </a:r>
            <a:r>
              <a:rPr sz="1500" b="0" i="0">
                <a:solidFill>
                  <a:srgbClr val="14305A"/>
                </a:solidFill>
                <a:latin typeface="Arial"/>
              </a:rPr>
              <a:t> 26161</a:t>
            </a:r>
            <a:endParaRPr lang="en-US" dirty="0"/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4305A"/>
                </a:solidFill>
                <a:latin typeface="Arial"/>
              </a:rPr>
              <a:t>Problem Statement Title —</a:t>
            </a:r>
            <a:r>
              <a:rPr sz="1500" b="0" i="0">
                <a:solidFill>
                  <a:srgbClr val="14305A"/>
                </a:solidFill>
                <a:latin typeface="Arial"/>
              </a:rPr>
              <a:t> Dam Break Inundation Modelling Using Hydrodynamic Modelling of any River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4305A"/>
                </a:solidFill>
                <a:latin typeface="Arial"/>
              </a:rPr>
              <a:t>Theme —</a:t>
            </a:r>
            <a:r>
              <a:rPr sz="1500" b="0" i="0">
                <a:solidFill>
                  <a:srgbClr val="14305A"/>
                </a:solidFill>
                <a:latin typeface="Arial"/>
              </a:rPr>
              <a:t> Disaster Management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4305A"/>
                </a:solidFill>
                <a:latin typeface="Arial"/>
              </a:rPr>
              <a:t>PS Category —</a:t>
            </a:r>
            <a:r>
              <a:rPr sz="1500" b="0" i="0">
                <a:solidFill>
                  <a:srgbClr val="14305A"/>
                </a:solidFill>
                <a:latin typeface="Arial"/>
              </a:rPr>
              <a:t> Software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4305A"/>
                </a:solidFill>
                <a:latin typeface="Arial"/>
              </a:rPr>
              <a:t>Team ID —</a:t>
            </a:r>
            <a:r>
              <a:rPr sz="1500" b="0" i="0">
                <a:solidFill>
                  <a:srgbClr val="14305A"/>
                </a:solidFill>
                <a:latin typeface="Arial"/>
              </a:rPr>
              <a:t> [from SIH portal]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1" i="0">
                <a:solidFill>
                  <a:srgbClr val="14305A"/>
                </a:solidFill>
                <a:latin typeface="Arial"/>
              </a:rPr>
              <a:t>Team Name —</a:t>
            </a:r>
            <a:r>
              <a:rPr sz="1500" b="0" i="0">
                <a:solidFill>
                  <a:srgbClr val="14305A"/>
                </a:solidFill>
                <a:latin typeface="Arial"/>
              </a:rPr>
              <a:t> [as registered on portal]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400" b="1">
                <a:latin typeface="Times New Roman"/>
              </a:rPr>
              <a:t>JalRaksha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292608" y="1152144"/>
            <a:ext cx="11612880" cy="566928"/>
          </a:xfrm>
          <a:prstGeom prst="roundRect">
            <a:avLst>
              <a:gd name="adj" fmla="val 3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Automated dam-break AND landslide-dam inundation modelling:  Smoothed Particle Hydrodynamics  x  Delft3D-class shallow water  —  quantitatively compared, satellite-validated, zero ground survey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292608" y="1865376"/>
            <a:ext cx="3794760" cy="437083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4" name="Rectangle 15363"/>
          <p:cNvSpPr/>
          <p:nvPr/>
        </p:nvSpPr>
        <p:spPr>
          <a:xfrm>
            <a:off x="292608" y="1865376"/>
            <a:ext cx="379476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84048" y="1906524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Detailed explanation of the 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11480" y="2258568"/>
            <a:ext cx="3557016" cy="3867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Operator enters a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dam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or a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suspected river blockage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— lat/lon, height, gross storage, breach mode. Nothing else.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Pipeline auto-fetches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Copernicus GLO-30 DEM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(public AWS COGs, no login),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CWC NRLD/NRSD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dam registers,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Sentinel-1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SAR, GHSL and Open Buildings exposure.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Breach hydrograph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from Froehlich (2008) / Xu–Zhang (2009) regressions, coupled to weir outflow and reservoir drawdown.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Near field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— Smoothed Particle Hydrodynamics resolves the violent, non-hydrostatic breach jet, where depth-averaging is simply invalid.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Far field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— Delft3D-class depth-averaged shallow-water finite volume routes the wave tens of km down the valley.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Outputs depth, velocity and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arrival-time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rasters to a dashboard, plus GeoTIFF /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.SHP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/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.KML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270248" y="1865376"/>
            <a:ext cx="3794760" cy="437083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8" name="Rectangle 15367"/>
          <p:cNvSpPr/>
          <p:nvPr/>
        </p:nvSpPr>
        <p:spPr>
          <a:xfrm>
            <a:off x="4270248" y="1865376"/>
            <a:ext cx="3794760" cy="310896"/>
          </a:xfrm>
          <a:prstGeom prst="rect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4361688" y="1906524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4389120" y="2258568"/>
            <a:ext cx="3557016" cy="3867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(i)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Both scenario classes — engineered dam break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and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natural river blockage (Rishi Ganga, Phuktal class) — with loss-and-damage output.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(ii)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Pluggable datasets: any DEM, any hydrology source, any AOI.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(iii)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Dashboard GUI for model input and tiled output visualisation;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.shp / .kml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export as specified.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(iv)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Google Earth Engine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Sentinel-1 SAR module for near-real-time observed flood extent.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(v)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Runs live on open Indian data —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Tehri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(260 m, 3,540 MCM, Koteshwar 13 km downstream) as the engineered case;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Chamoli 2021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as the validated natural case.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Automatic by default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— coordinates in, decision map out. No hydraulic modeller in the loop, no bathymetric survey, no site access.</a:t>
            </a:r>
          </a:p>
        </p:txBody>
      </p:sp>
      <p:sp>
        <p:nvSpPr>
          <p:cNvPr id="15371" name="Rounded Rectangle 15370"/>
          <p:cNvSpPr/>
          <p:nvPr/>
        </p:nvSpPr>
        <p:spPr>
          <a:xfrm>
            <a:off x="8247888" y="1865376"/>
            <a:ext cx="3794760" cy="4370832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72" name="Rectangle 15371"/>
          <p:cNvSpPr/>
          <p:nvPr/>
        </p:nvSpPr>
        <p:spPr>
          <a:xfrm>
            <a:off x="8247888" y="1865376"/>
            <a:ext cx="3794760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5373" name="TextBox 15372"/>
          <p:cNvSpPr txBox="1"/>
          <p:nvPr/>
        </p:nvSpPr>
        <p:spPr>
          <a:xfrm>
            <a:off x="8339327" y="1906524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Innovation and uniqueness of the solution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8366760" y="2258568"/>
            <a:ext cx="3557016" cy="3867912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The comparison is the product.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The PS asks that the two models be compared; we make agreement a </a:t>
            </a:r>
            <a:r>
              <a:rPr sz="1140" b="0" i="1">
                <a:solidFill>
                  <a:srgbClr val="262B33"/>
                </a:solidFill>
                <a:latin typeface="Calibri"/>
              </a:rPr>
              <a:t>measured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output — CSI / F1 on wet-cell extent, depth RMSE, arrival-time delta.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Physics-appropriate decomposition, not duplication.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SPH is uniform-resolution and cannot span a basin (SPHERIC Grand Challenge 3); depth-averaging cannot resolve a breach jet. Coupled 2D–3D is the direction the review literature itself recommends — we build it.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Validated against a published benchmark, not a pretty animation.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Shugar et al. reproduced Chamoli travel times to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&lt;5%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. That is our target, and the pre/post 2 m DEMs are openly downloadable.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Zero-survey operation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— works on transboundary and inaccessible terrain that cannot be instrumented or entered.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40" b="1" i="0">
                <a:solidFill>
                  <a:srgbClr val="262B33"/>
                </a:solidFill>
                <a:latin typeface="Calibri"/>
              </a:rPr>
              <a:t>Cross-checked against the incumbent:</a:t>
            </a:r>
            <a:r>
              <a:rPr sz="1140" b="0" i="0">
                <a:solidFill>
                  <a:srgbClr val="262B33"/>
                </a:solidFill>
                <a:latin typeface="Calibri"/>
              </a:rPr>
              <a:t> the same reach also runs through HEC-RAS, the tool CWC adopted for DRIP.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207008"/>
            <a:ext cx="365760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92608" y="1207008"/>
            <a:ext cx="365760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248156"/>
            <a:ext cx="347472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Technologies to be used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591056"/>
            <a:ext cx="3419856" cy="45720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Compute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Python 3.11 · NumPy · Numba / CuPy (GPU) · xarray · Dask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Near-field solver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PySPH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BSD, pip-installable, developed at IIT Bombay; ships dam-break and shallow-water SPH examples with bundled validation data. DualSPHysics (LGPL, CUDA) for GPU scale-up.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Far-field solver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Delft3D FM (Deltares, AGPL/GPL) driven by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hydromt_delft3dfm · hydrolib-core · dfm_tools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; plus an in-house 2D shallow-water finite volume — HLLC Riemann, MUSCL, well-balanced, wetting/drying.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Cross-check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HEC-RAS 2D — the CWC / DRIP baseline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Geospatial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GDAL · rasterio · geopandas · shapely · simplekml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Earth observation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Google Earth Engine Python API · geemap · Sentinel-1 GRD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Data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Copernicus GLO-30 (AWS COG) · CWC NRLD 2019 / NRSD 2025 · GHSL · Google Open Buildings · ESA WorldCover · JRC Global Surface Water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Application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FastAPI · Celery · React + deck.gl / MapLibre GL</a:t>
            </a:r>
          </a:p>
          <a:p>
            <a:pPr algn="l">
              <a:lnSpc>
                <a:spcPct val="94000"/>
              </a:lnSpc>
              <a:spcAft>
                <a:spcPts val="500"/>
              </a:spcAft>
            </a:pPr>
            <a:r>
              <a:rPr sz="940" b="1" i="0">
                <a:solidFill>
                  <a:srgbClr val="262B33"/>
                </a:solidFill>
                <a:latin typeface="Calibri"/>
              </a:rPr>
              <a:t>Export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
GeoTIFF ·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.SHP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·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.KML / KMZ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24528" y="1207008"/>
            <a:ext cx="7699248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14305A"/>
                </a:solidFill>
                <a:latin typeface="Calibri"/>
              </a:rPr>
              <a:t>Methodology and process for implementation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24528" y="1554480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1   INPUT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Dam or suspected blockage — lat/lon, height, gross storage, breach mode</a:t>
            </a:r>
          </a:p>
        </p:txBody>
      </p:sp>
      <p:sp>
        <p:nvSpPr>
          <p:cNvPr id="17416" name="Isosceles Triangle 17415"/>
          <p:cNvSpPr/>
          <p:nvPr/>
        </p:nvSpPr>
        <p:spPr>
          <a:xfrm rot="10800000">
            <a:off x="7982712" y="2025395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224528" y="2130552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2   AUTO-INGEST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Copernicus GLO-30 COGs · CWC NRLD/NRSD · Sentinel-1 · GHSL · WorldCover</a:t>
            </a:r>
          </a:p>
        </p:txBody>
      </p:sp>
      <p:sp>
        <p:nvSpPr>
          <p:cNvPr id="17418" name="Isosceles Triangle 17417"/>
          <p:cNvSpPr/>
          <p:nvPr/>
        </p:nvSpPr>
        <p:spPr>
          <a:xfrm rot="10800000">
            <a:off x="7982712" y="2601468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4224528" y="2706624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3   BREACH HYDROGRAPH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Froehlich 2008 / Xu–Zhang 2009 regressions → weir outflow + reservoir drawdown</a:t>
            </a:r>
          </a:p>
        </p:txBody>
      </p:sp>
      <p:sp>
        <p:nvSpPr>
          <p:cNvPr id="17420" name="Isosceles Triangle 17419"/>
          <p:cNvSpPr/>
          <p:nvPr/>
        </p:nvSpPr>
        <p:spPr>
          <a:xfrm rot="10800000">
            <a:off x="7982712" y="3177539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4224528" y="3282696"/>
            <a:ext cx="3758184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>
                <a:solidFill>
                  <a:srgbClr val="262B33"/>
                </a:solidFill>
                <a:latin typeface="Calibri"/>
              </a:rPr>
              <a:t>4a   NEAR FIELD — SPH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0" i="0">
                <a:solidFill>
                  <a:srgbClr val="262B33"/>
                </a:solidFill>
                <a:latin typeface="Calibri"/>
              </a:rPr>
              <a:t>Lagrangian, mesh-free. The non-hydrostatic breach jet.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165592" y="3282696"/>
            <a:ext cx="3758184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1" i="0">
                <a:solidFill>
                  <a:srgbClr val="262B33"/>
                </a:solidFill>
                <a:latin typeface="Calibri"/>
              </a:rPr>
              <a:t>4b   FAR FIELD — Delft3D-class 2D SWE</a:t>
            </a:r>
          </a:p>
          <a:p>
            <a:pPr algn="l">
              <a:lnSpc>
                <a:spcPct val="90000"/>
              </a:lnSpc>
              <a:spcAft>
                <a:spcPts val="100"/>
              </a:spcAft>
            </a:pPr>
            <a:r>
              <a:rPr sz="900" b="0" i="0">
                <a:solidFill>
                  <a:srgbClr val="262B33"/>
                </a:solidFill>
                <a:latin typeface="Calibri"/>
              </a:rPr>
              <a:t>Eulerian finite volume. HLLC + wetting/drying.</a:t>
            </a:r>
          </a:p>
        </p:txBody>
      </p:sp>
      <p:sp>
        <p:nvSpPr>
          <p:cNvPr id="17423" name="Isosceles Triangle 17422"/>
          <p:cNvSpPr/>
          <p:nvPr/>
        </p:nvSpPr>
        <p:spPr>
          <a:xfrm rot="10800000">
            <a:off x="7982712" y="3918204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4224528" y="4023360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5   COMPARE   ←  the PS's core ask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CSI / F1 on inundation extent · depth RMSE · arrival-time delta</a:t>
            </a:r>
          </a:p>
        </p:txBody>
      </p:sp>
      <p:sp>
        <p:nvSpPr>
          <p:cNvPr id="17425" name="Isosceles Triangle 17424"/>
          <p:cNvSpPr/>
          <p:nvPr/>
        </p:nvSpPr>
        <p:spPr>
          <a:xfrm rot="10800000">
            <a:off x="7982712" y="4494276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4224528" y="4599432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6   LOSS AND DAMAGE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Population, buildings, roads and bridges inside the flood path</a:t>
            </a:r>
          </a:p>
        </p:txBody>
      </p:sp>
      <p:sp>
        <p:nvSpPr>
          <p:cNvPr id="17427" name="Isosceles Triangle 17426"/>
          <p:cNvSpPr/>
          <p:nvPr/>
        </p:nvSpPr>
        <p:spPr>
          <a:xfrm rot="10800000">
            <a:off x="7982712" y="5070348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4224528" y="5175504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7   OUTPUT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Dashboard · arrival-time map · GeoTIFF / .SHP / .KML</a:t>
            </a:r>
          </a:p>
        </p:txBody>
      </p:sp>
      <p:sp>
        <p:nvSpPr>
          <p:cNvPr id="17429" name="Isosceles Triangle 17428"/>
          <p:cNvSpPr/>
          <p:nvPr/>
        </p:nvSpPr>
        <p:spPr>
          <a:xfrm rot="10800000">
            <a:off x="7982712" y="564642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224528" y="5751576"/>
            <a:ext cx="7699248" cy="457200"/>
          </a:xfrm>
          <a:prstGeom prst="roundRect">
            <a:avLst>
              <a:gd name="adj" fmla="val 6000"/>
            </a:avLst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940" b="1" i="0">
                <a:solidFill>
                  <a:srgbClr val="FFFFFF"/>
                </a:solidFill>
                <a:latin typeface="Calibri"/>
              </a:rPr>
              <a:t>8   GEE VALIDATION LOOP</a:t>
            </a:r>
            <a:r>
              <a:rPr sz="940" b="0" i="0">
                <a:solidFill>
                  <a:srgbClr val="FFFFFF"/>
                </a:solidFill>
                <a:latin typeface="Calibri"/>
              </a:rPr>
              <a:t>   —   Sentinel-1 SAR observed extent scored against the simulation 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207008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92608" y="1207008"/>
            <a:ext cx="3794760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Analysis of the feasibility of the idea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600200"/>
            <a:ext cx="3557016" cy="45262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Every input verified free, open and login-free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Copernicus GLO-30 tiles serve as range-readable COGs from public AWS; Sentinel-1, GHSL and Open Buildings are native Earth Engine assets.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Both named models are genuinely obtainable.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PySPH is BSD and `pip install`-able with dam-break cases in the box; Delft3D FM is AGPL/GPL with a maintained Python toolchain.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The far-field solver is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textbook numerics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HLLC Riemann solver, MUSCL reconstruction, well-balanced source terms. GPU-accelerated it runs a 30 m reach in minutes on a laptop.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A hard accuracy target already exists: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Shugar et al. matched Chamoli travel times to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&lt;5%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, and the pre- and post-event 2 m DEMs are on Zenodo. Measured discharge 8,200–14,200 m³/s at 15 km.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Scope control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SPH confined to a near-field box, so particle count stays tractable; published real-field cases run 1–4 million particles.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Skills needed: Python, GIS, numerical methods.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No proprietary licence, no field survey, no bathymetric campaign.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0248" y="1207008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270248" y="1207008"/>
            <a:ext cx="3794760" cy="310896"/>
          </a:xfrm>
          <a:prstGeom prst="rect">
            <a:avLst/>
          </a:prstGeom>
          <a:solidFill>
            <a:srgbClr val="B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36168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1600200"/>
            <a:ext cx="3557016" cy="45262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Numerical instability at the wet–dry front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negative depths, spurious velocities, mass loss. This fails </a:t>
            </a:r>
            <a:r>
              <a:rPr sz="1100" b="0" i="1">
                <a:solidFill>
                  <a:srgbClr val="262B33"/>
                </a:solidFill>
                <a:latin typeface="Calibri"/>
              </a:rPr>
              <a:t>visibly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in a live demo.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SPH does not scale.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Uniform resolution is an acknowledged limitation (SPHERIC GC3); it cannot span a basin.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No reservoir bathymetry in any DEM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, and GLO-30 is a </a:t>
            </a:r>
            <a:r>
              <a:rPr sz="1100" b="0" i="1">
                <a:solidFill>
                  <a:srgbClr val="262B33"/>
                </a:solidFill>
                <a:latin typeface="Calibri"/>
              </a:rPr>
              <a:t>surface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model — it flattens water and puts canopy in the channel.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30 m cells give 1–2 cells across a Himalayan gorge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, so point depths there are fiction, and a cell straddling an embankment lowers the effective crest by metres.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Manning's roughness is uncertain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and inundation extent is sensitive to it.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Debris, not clear water.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Chamoli was ~80% rock by volume; clear-water physics understates such an event.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Delft3D kernel build risk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Fortran/C++ toolchain, only unofficial Docker images.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Liability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a map an officer acts on has consequences.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247888" y="1207008"/>
            <a:ext cx="3794760" cy="50292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8247888" y="1207008"/>
            <a:ext cx="379476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339327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Strategies for overcoming these challenges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66760" y="1600200"/>
            <a:ext cx="3557016" cy="45262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Well-balanced HLLC with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hydrostatic reconstruction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(Audusse 2004), a depth-positivity limiter and adaptive CFL.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Verify against the Ritter analytical solution before touching terrain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correctness first.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Couple, do not choose: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SPH near field hands off to shallow-water far field across a coupling boundary — the review literature's own recommendation.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Reservoir volume from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NRLD gross storage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fitted to a synthetic bathymetric wedge; channel burned in from MERIT Hydro. Report a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sensitivity band, never a single line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Report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arrival time and inundation envelope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— which 30 m data supports — and label point depths as indicative. Publish a Manning's-</a:t>
            </a:r>
            <a:r>
              <a:rPr sz="1100" b="0" i="1">
                <a:solidFill>
                  <a:srgbClr val="262B33"/>
                </a:solidFill>
                <a:latin typeface="Calibri"/>
              </a:rPr>
              <a:t>n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ensemble.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Debris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flagged explicitly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and approximated with bulked density and roughness. Stated as a caveat, not hidden.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Our own solver carries the live demo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; Delft3D FM is the offline reference run, so a build failure cannot break the demonstration.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100" b="0" i="0">
                <a:solidFill>
                  <a:srgbClr val="262B33"/>
                </a:solidFill>
                <a:latin typeface="Calibri"/>
              </a:rPr>
              <a:t>▪ Every output stamped </a:t>
            </a:r>
            <a:r>
              <a:rPr sz="1100" b="1" i="0">
                <a:solidFill>
                  <a:srgbClr val="262B33"/>
                </a:solidFill>
                <a:latin typeface="Calibri"/>
              </a:rPr>
              <a:t>Tier-1 screening-grade</a:t>
            </a:r>
            <a:r>
              <a:rPr sz="1100" b="0" i="0">
                <a:solidFill>
                  <a:srgbClr val="262B33"/>
                </a:solidFill>
                <a:latin typeface="Calibri"/>
              </a:rPr>
              <a:t> per CWC CDSO_GUD_DS_05, with uncertainty printed on the map itself.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188720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A5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86000"/>
              </a:lnSpc>
              <a:spcAft>
                <a:spcPts val="0"/>
              </a:spcAft>
            </a:pPr>
            <a:r>
              <a:rPr sz="2600" b="1">
                <a:solidFill>
                  <a:srgbClr val="A51E2D"/>
                </a:solidFill>
                <a:latin typeface="Calibri"/>
              </a:rPr>
              <a:t>204  </a:t>
            </a:r>
            <a:r>
              <a:rPr sz="1150" b="1">
                <a:solidFill>
                  <a:srgbClr val="262B33"/>
                </a:solidFill>
                <a:latin typeface="Calibri"/>
              </a:rPr>
              <a:t>dead or missing</a:t>
            </a:r>
          </a:p>
          <a:p>
            <a:pPr algn="ctr">
              <a:spcAft>
                <a:spcPts val="0"/>
              </a:spcAft>
            </a:pPr>
            <a:r>
              <a:rPr sz="819">
                <a:solidFill>
                  <a:srgbClr val="5A6370"/>
                </a:solidFill>
                <a:latin typeface="Calibri"/>
              </a:rPr>
              <a:t>Chamoli, 7 Feb 2021 — no warning reached anyone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70248" y="1188720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B74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86000"/>
              </a:lnSpc>
              <a:spcAft>
                <a:spcPts val="0"/>
              </a:spcAft>
            </a:pPr>
            <a:r>
              <a:rPr sz="2600" b="1">
                <a:solidFill>
                  <a:srgbClr val="0B746B"/>
                </a:solidFill>
                <a:latin typeface="Calibri"/>
              </a:rPr>
              <a:t>0  </a:t>
            </a:r>
            <a:r>
              <a:rPr sz="1150" b="1">
                <a:solidFill>
                  <a:srgbClr val="262B33"/>
                </a:solidFill>
                <a:latin typeface="Calibri"/>
              </a:rPr>
              <a:t>deaths</a:t>
            </a:r>
          </a:p>
          <a:p>
            <a:pPr algn="ctr">
              <a:spcAft>
                <a:spcPts val="0"/>
              </a:spcAft>
            </a:pPr>
            <a:r>
              <a:rPr sz="819">
                <a:solidFill>
                  <a:srgbClr val="5A6370"/>
                </a:solidFill>
                <a:latin typeface="Calibri"/>
              </a:rPr>
              <a:t>Phuktal, 7 May 2015 — 30–35 Mm³ released, ~3,000 evacuated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8247888" y="1188720"/>
            <a:ext cx="37947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B5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lnSpc>
                <a:spcPct val="86000"/>
              </a:lnSpc>
              <a:spcAft>
                <a:spcPts val="0"/>
              </a:spcAft>
            </a:pPr>
            <a:r>
              <a:rPr sz="2600" b="1">
                <a:solidFill>
                  <a:srgbClr val="B56A00"/>
                </a:solidFill>
                <a:latin typeface="Calibri"/>
              </a:rPr>
              <a:t>2.3 M+  </a:t>
            </a:r>
            <a:r>
              <a:rPr sz="1150" b="1">
                <a:solidFill>
                  <a:srgbClr val="262B33"/>
                </a:solidFill>
                <a:latin typeface="Calibri"/>
              </a:rPr>
              <a:t>people affected</a:t>
            </a:r>
          </a:p>
          <a:p>
            <a:pPr algn="ctr">
              <a:spcAft>
                <a:spcPts val="0"/>
              </a:spcAft>
            </a:pPr>
            <a:r>
              <a:rPr sz="819">
                <a:solidFill>
                  <a:srgbClr val="5A6370"/>
                </a:solidFill>
                <a:latin typeface="Calibri"/>
              </a:rPr>
              <a:t>Kosi, 18 Aug 2008 — breached far below design discharge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92608" y="2084831"/>
            <a:ext cx="11612880" cy="2926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14305A"/>
                </a:solidFill>
                <a:latin typeface="Calibri"/>
              </a:rPr>
              <a:t>The variable between these three rows is not the hydrology. It is whether anyone knew where the water would go, and when.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92608" y="2468880"/>
            <a:ext cx="5742432" cy="3767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292608" y="2468880"/>
            <a:ext cx="5742432" cy="310896"/>
          </a:xfrm>
          <a:prstGeom prst="rect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384048" y="2510028"/>
            <a:ext cx="5559552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11480" y="2862072"/>
            <a:ext cx="5504688" cy="32644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NTRO / HADR planners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scenario generation for dams and natural lakes that cannot be ground-surveyed, including transboundary reaches that are, in ORF's words on the Yarlung Tsangpo, </a:t>
            </a:r>
            <a:r>
              <a:rPr sz="1200" b="0" i="1">
                <a:solidFill>
                  <a:srgbClr val="262B33"/>
                </a:solidFill>
                <a:latin typeface="Calibri"/>
              </a:rPr>
              <a:t>"presently a blind spot for India"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, where the primary risk is dam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failure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, not diversion.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NDMA / SDMA / DDMA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depth, extent and </a:t>
            </a:r>
            <a:r>
              <a:rPr sz="1200" b="0" i="1">
                <a:solidFill>
                  <a:srgbClr val="262B33"/>
                </a:solidFill>
                <a:latin typeface="Calibri"/>
              </a:rPr>
              <a:t>arrival time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are exactly what an evacuation order needs; .kml drops into the GIS they already run.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CWC / NDSA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a Tier-1 screening layer (CDSO_GUD_DS_05) to triage which dams warrant a full expert study first.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Army / BRO / NDRF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pre-positioning, and deliberate-breach planning of the kind the Army executed at Phuktal in May 2015.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Downstream communities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29 villages, ~4,000 people and ~50 bridges were at risk at Phuktal alone.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217920" y="2468880"/>
            <a:ext cx="5870448" cy="3767328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6217920" y="2468880"/>
            <a:ext cx="5870448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6309360" y="2510028"/>
            <a:ext cx="5687568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Benefits of the solution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336792" y="2862072"/>
            <a:ext cx="5632704" cy="3264408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Social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arrival-time maps become lead time, and lead time becomes evacuation. Phuktal: ~3,000 moved, zero deaths.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Economic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zero licence cost against commercial suites, and automation replaces weeks of specialist setup per site.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Environmental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identifies ecosystems and cropland at risk; supports scheduled controlled release instead of emergency release.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Strategic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a no-survey capability for terrain that cannot be physically accessed or instrumented.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Institutional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.shp / .kml at 1:50,000 and 1:10,000 matches CWC EAP map specifications, so results are usable rather than merely viewable.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120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1200" b="1" i="0">
                <a:solidFill>
                  <a:srgbClr val="262B33"/>
                </a:solidFill>
                <a:latin typeface="Calibri"/>
              </a:rPr>
              <a:t>Scientific</a:t>
            </a:r>
            <a:r>
              <a:rPr sz="1200" b="0" i="0">
                <a:solidFill>
                  <a:srgbClr val="262B33"/>
                </a:solidFill>
                <a:latin typeface="Calibri"/>
              </a:rPr>
              <a:t> — the SPH vs depth-averaged agreement metrics are a publishable contribution, not a repackaged UI.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262B33"/>
                </a:solidFill>
                <a:latin typeface="Calibri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92608" y="1207008"/>
            <a:ext cx="3794760" cy="4663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292608" y="1207008"/>
            <a:ext cx="3794760" cy="310896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8404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Problem domain — Indian events and regulation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600200"/>
            <a:ext cx="3557016" cy="4160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CWC / CDSO,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Guidelines for Mapping Flood Risks Associated with Dams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CDSO_GUD_DS_05 v1.0, Jan 2018 — HEC-RAS adopted for DRIP; Tier 1–3 framework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CWC,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Emergency Action Plan guidelines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cwc.gov.in — index maps 1:50,000; detailed maps 1:10,000 at 0.5 m contours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Shugar et al. 2021,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Science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373:300–306, doi 10.1126/science.abh4455 — Chamoli rock-and-ice avalanche; 26.9 Mm³; travel times matched to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&lt;5%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Rana et al. 2023,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Natural Hazards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doi 10.1007/s11069-023-05972-5 — independent HEC-RAS reconstruction of the same event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Sinha 2009,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The Great Avulsion of Kosi on 18 August 2008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Current Science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97:429–433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Costa &amp; Schuster 1988,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The formation and failure of natural dams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GSA Bulletin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NRSC / ISRO Cartosat-2 monitoring of the Phuktal blockage, Jan–Mar 2015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CWC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NRLD 2019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and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NRSD 2025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national dam registers (cwc.gov.in)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70248" y="1207008"/>
            <a:ext cx="3794760" cy="4663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4270248" y="1207008"/>
            <a:ext cx="3794760" cy="310896"/>
          </a:xfrm>
          <a:prstGeom prst="rect">
            <a:avLst/>
          </a:prstGeom>
          <a:solidFill>
            <a:srgbClr val="14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361688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Numerical methods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1600200"/>
            <a:ext cx="3557016" cy="4160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Gingold &amp; Monaghan 1977,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MNRAS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181:375 — origin of SPH; Lucy 1977,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AJ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82:1013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Maranzoni &amp; Tomirotti 2023,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3D Numerical Modelling of Real-Field Dam-Break Flows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Water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15(17):3130, doi 10.3390/w15173130 — recommends coupled 2D–3D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Vacondio et al. 2020,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Grand challenges for SPH numerical schemes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Comp. Particle Mech.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8:575–588 — GC3: uniform resolution blocks multiscale use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Vacondio et al. 2011,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SPH Modeling of Shallow Flow with Open Boundaries for Practical Flood Simulation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J. Hydraul. Eng.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Prakash, Rothauge &amp; Cleary 2014,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Modelling the impact of dam failure scenarios on flood inundation using SPH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Appl. Math. Modelling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Ramachandran et al. 2021,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PySPH: A Python-based framework for SPH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ACM TOMS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47(4), doi 10.1145/3460773  (IIT Bombay)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Toro 2001,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Shock-Capturing Methods for Free-Surface Shallow Flows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, Wiley; Audusse et al. 2004,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SIAM J. Sci. Comput.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; Liang &amp; Marche 2009,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AWR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Froehlich 2008 breach parameters,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J. Hydraul. Eng.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; Xu &amp; Zhang 2009, </a:t>
            </a:r>
            <a:r>
              <a:rPr sz="940" b="0" i="1">
                <a:solidFill>
                  <a:srgbClr val="262B33"/>
                </a:solidFill>
                <a:latin typeface="Calibri"/>
              </a:rPr>
              <a:t>JGGE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247888" y="1207008"/>
            <a:ext cx="3794760" cy="466344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1430">
            <a:solidFill>
              <a:srgbClr val="BBD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8247888" y="1207008"/>
            <a:ext cx="3794760" cy="310896"/>
          </a:xfrm>
          <a:prstGeom prst="rect">
            <a:avLst/>
          </a:prstGeom>
          <a:solidFill>
            <a:srgbClr val="0B7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339327" y="1248156"/>
            <a:ext cx="3611880" cy="23774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Software, data and Earth observation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366760" y="1600200"/>
            <a:ext cx="3557016" cy="4160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Delft3D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github.com/Deltares/Delft3D (AGPL-3.0 / GPL-3.0); oss.deltares.nl; `hydromt_delft3dfm`, `hydrolib-core`, `dfm_tools`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PySPH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pysph.readthedocs.io (BSD);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DualSPHysics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dual.sphysics.org (LGPL, CUDA); GPUSPH (GPLv3)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HEC-RAS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hec.usace.army.mil, incl. official dam-break study guidance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Copernicus DEM GLO-30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public COGs at s3://copernicus-dem-30m; GEE `COPERNICUS/DEM/GLO30_2024_1`. EGM2008 datum, &lt;4 m vertical (90% LE)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Chamoli validation DEMs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pre-event 2 m zenodo.org/record/4554647, post-event zenodo.org/record/4558692 (CC BY-NC 4.0)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GEE assets — `COPERNICUS/S1_GRD` · `JRC/GSW1_4/GlobalSurfaceWater` · `JRC/GHSL/P2023A/GHS_BUILT_C` · `WorldPop/GP/100m/pop` · `GOOGLE/Research/open-buildings/v3/polygons` · `ESA/WorldCover/v200`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Global Dam Watch v1.0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(CC BY 4.0), doi 10.6084/m9.figshare.25988293 — 41,145 barriers, HydroSHEDS-harmonised, fallback inventory</a:t>
            </a:r>
          </a:p>
          <a:p>
            <a:pPr algn="l">
              <a:lnSpc>
                <a:spcPct val="92000"/>
              </a:lnSpc>
              <a:spcAft>
                <a:spcPts val="450"/>
              </a:spcAft>
            </a:pPr>
            <a:r>
              <a:rPr sz="940" b="0" i="0">
                <a:solidFill>
                  <a:srgbClr val="262B33"/>
                </a:solidFill>
                <a:latin typeface="Calibri"/>
              </a:rPr>
              <a:t>▪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Malpasset 1959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— the standard real-world dam-break validation case; </a:t>
            </a:r>
            <a:r>
              <a:rPr sz="940" b="1" i="0">
                <a:solidFill>
                  <a:srgbClr val="262B33"/>
                </a:solidFill>
                <a:latin typeface="Calibri"/>
              </a:rPr>
              <a:t>Ritter/Stoker</a:t>
            </a:r>
            <a:r>
              <a:rPr sz="940" b="0" i="0">
                <a:solidFill>
                  <a:srgbClr val="262B33"/>
                </a:solidFill>
                <a:latin typeface="Calibri"/>
              </a:rPr>
              <a:t> analytical solution for solver verification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92608" y="5925312"/>
            <a:ext cx="11612880" cy="365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A6370"/>
                </a:solidFill>
                <a:latin typeface="Calibri"/>
              </a:rPr>
              <a:t>Sources verified Aug 2026. Two dating notes on the PS's reference list: the Phuktal blockage formed 31 Dec 2014 and was breached 7 May 2015; no Nov 2021 Indian river blockage is on record — the likely referent is the 29 Oct 2021 Kameng (Warriyang) sediment event, in which no dam formed. Chamoli was a rock-and-ice avalanche, not a GLOF.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