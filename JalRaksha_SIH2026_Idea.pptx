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1078992"/>
            <a:ext cx="8534400" cy="175260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 i="0">
                <a:solidFill>
                  <a:srgbClr val="0F2B46"/>
                </a:solidFill>
                <a:latin typeface="Times New Roman"/>
              </a:rPr>
              <a:t>JALRAKSHA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Problem Statement ID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26161</a:t>
            </a:r>
            <a:endParaRPr lang="en-US" dirty="0"/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Problem Statement Title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Dam Break Inundation Modelling Using Hydrodynamic Modelling of any River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Theme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Disaster Management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PS Category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Software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Team ID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&lt;Team ID from SIH portal&gt;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Team Name (Registered on portal)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5715000"/>
            <a:ext cx="5852160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i="0">
                <a:solidFill>
                  <a:srgbClr val="5A6672"/>
                </a:solidFill>
                <a:latin typeface="Calibri"/>
              </a:rPr>
              <a:t>Near-field SPH × far-field 2D shallow water, cross-checked against a real Delft3D FM kernel</a:t>
            </a:r>
            <a:r>
              <a:rPr sz="1050" b="0" i="0">
                <a:solidFill>
                  <a:srgbClr val="5A6672"/>
                </a:solidFill>
                <a:latin typeface="Calibri"/>
              </a:rPr>
              <a:t> — arrival-time maps for any Indian dam from nothing but lat/lon, height and storage. Open data only. No ground survey.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0"/>
            <a:ext cx="7909560" cy="1143000"/>
          </a:xfrm>
        </p:spPr>
        <p:txBody>
          <a:bodyPr/>
          <a:lstStyle/>
          <a:p>
            <a:pPr eaLnBrk="1" hangingPunct="1"/>
            <a:r>
              <a:rPr sz="2100" b="1">
                <a:latin typeface="Times New Roman"/>
              </a:rPr>
              <a:t>JALRAKSHA — dam-break screening, with the model checked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225296"/>
            <a:ext cx="2852928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0040" y="1536192"/>
            <a:ext cx="2852928" cy="464515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29768" y="1636776"/>
            <a:ext cx="2633472" cy="444398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Operator enters four things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— lat/lon, dam height, gross storage, breach mode. Nothing else.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Data fetches itself: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Copernicus GLO-30 DEM from public AWS COGs, GHSL population, Sentinel-1 SAR via Earth Engine, ESA WorldCover roughness.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Breach hydrograph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from a 4-regression Monte-Carlo ensemble — Costa 1985, Froehlich 1995, MacDonald–Langridge 1984, Von Thun–Gillette 1990.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Far field: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in-house 2D shallow-water finite volume — HLLC Riemann solver, Audusse hydrostatic reconstruction, MUSCL, wetting and drying.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Near field: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Smoothed Particle Hydrodynamics resolves the non-hydrostatic breach jet, where depth-averaging is invalid. One-way handoff, ~600 m over 15 s.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Outputs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depth, velocity and arrival-time rasters to a browser dashboard, plus GeoTIFF, .SHP and .KML/KMZ.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91840" y="1225296"/>
            <a:ext cx="5285232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The prototype, running</a:t>
            </a:r>
          </a:p>
        </p:txBody>
      </p:sp>
      <p:pic>
        <p:nvPicPr>
          <p:cNvPr id="15366" name="Picture 15365" descr="work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554480"/>
            <a:ext cx="5285232" cy="345897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3291840" y="5068321"/>
            <a:ext cx="5285232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Live dashboard — Tehri (260 m, 3,540 MCM). Left: Leaflet inundation envelope with hazard classes over the Bhagirathi. Right: the same envelope on Cesium 3D over Copernicus terrain, with gauges labelled by downstream distance. 600×600 cells at 200 m, 60 km radius, 3 h simulated, EPSG:32644.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8705088" y="1225296"/>
            <a:ext cx="3136392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8705088" y="1536192"/>
            <a:ext cx="3136392" cy="2084831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8814815" y="1627632"/>
            <a:ext cx="2916936" cy="190195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Engineered dam break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and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natural landslide-dam blockage, one pipeline.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GUI for input and tiled output;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.shp / .kml export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exactly as the PS asks.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Any DEM, any AOI, any Indian dam — five presets plus custom coordinates.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Sentinel-1 SAR loop scores simulated extent against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observed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flood extent.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Runs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offline from cache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after first fetch — demo-day networks assumed hostile.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705088" y="3730752"/>
            <a:ext cx="3136392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8705088" y="4041648"/>
            <a:ext cx="3136392" cy="239572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8814815" y="4133087"/>
            <a:ext cx="2916936" cy="22128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The cross-check is the product.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The same Ritter dam-break runs through our solver and through a real Deltares kernel — </a:t>
            </a:r>
            <a:r>
              <a:rPr sz="900" b="0" i="1">
                <a:solidFill>
                  <a:srgbClr val="1F2933"/>
                </a:solidFill>
                <a:latin typeface="Calibri"/>
              </a:rPr>
              <a:t>Delft3D FM Suite 2026.01 HM, dflowfm-cli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— and both are scored against the exact solution.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Uncertainty is shown, not hidden.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The four published breach regressions disagree by a factor of 3–4, so we quote a p05–p95 band, never one number.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The tool refuses bad data.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A Sentinel-1 scene scoring 0.486 precision against JRC water is rejected at the 0.50 gate rather than drawn on the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207008"/>
            <a:ext cx="361188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17904"/>
            <a:ext cx="3611880" cy="464515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48056" y="1636776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SOLVERS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48056" y="1865376"/>
            <a:ext cx="3355848" cy="56692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In-house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2D shallow-water finite volume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HLLC flux · Audusse hydrostatic reconstruction · MUSCL/minmod on η = b + h · wetting and drying.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SPH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for the near field.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Delft3D FM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(dflowfm-cli, Suite 2026.01 HM) as the reference kernel.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48056" y="2514600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OPEN DATA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48056" y="2743200"/>
            <a:ext cx="3355848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Copernicus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GLO-30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from public AWS COGs ·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GHSL P2023A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·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Sentinel-1 GRD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· JRC Global Surface Water · ESA WorldCover · CWC NRLD 2019 / NRSD 2025. None login-gated.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48056" y="3282696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48056" y="3511296"/>
            <a:ext cx="3355848" cy="56692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Monte-Carlo over four breach regressions with Wahl uncertainty bands.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pytest gates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analytical solutions, lake-at-rest, mass conservation and the Delft3D FM cross-check — all runnable from the dashboard, all currently passing.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48056" y="4178807"/>
            <a:ext cx="3355848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19" b="1" i="0">
                <a:solidFill>
                  <a:srgbClr val="0F2B46"/>
                </a:solidFill>
                <a:latin typeface="Calibri"/>
              </a:rPr>
              <a:t>TECHNOLOGY STACK</a:t>
            </a:r>
          </a:p>
        </p:txBody>
      </p:sp>
      <p:pic>
        <p:nvPicPr>
          <p:cNvPr id="17419" name="Picture 17418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377" y="4526279"/>
            <a:ext cx="274320" cy="274320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448056" y="4846319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Python</a:t>
            </a:r>
          </a:p>
        </p:txBody>
      </p:sp>
      <p:pic>
        <p:nvPicPr>
          <p:cNvPr id="17421" name="Picture 17420" descr="num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9339" y="4526279"/>
            <a:ext cx="274320" cy="274320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1287018" y="4846319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NumPy</a:t>
            </a:r>
          </a:p>
        </p:txBody>
      </p:sp>
      <p:pic>
        <p:nvPicPr>
          <p:cNvPr id="17423" name="Picture 17422" descr="num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8301" y="4526279"/>
            <a:ext cx="274320" cy="274320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2125980" y="4846319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Numba</a:t>
            </a:r>
          </a:p>
        </p:txBody>
      </p:sp>
      <p:pic>
        <p:nvPicPr>
          <p:cNvPr id="17425" name="Picture 17424" descr="gd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7262" y="4526279"/>
            <a:ext cx="274320" cy="274320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2964941" y="4846319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GDAL</a:t>
            </a:r>
          </a:p>
        </p:txBody>
      </p:sp>
      <p:pic>
        <p:nvPicPr>
          <p:cNvPr id="17427" name="Picture 17426" descr="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377" y="5093207"/>
            <a:ext cx="274320" cy="274320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48056" y="5413247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FastAPI</a:t>
            </a:r>
          </a:p>
        </p:txBody>
      </p:sp>
      <p:pic>
        <p:nvPicPr>
          <p:cNvPr id="17429" name="Picture 17428" descr="sql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9339" y="5093207"/>
            <a:ext cx="274320" cy="274320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1287018" y="5413247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SQLite</a:t>
            </a:r>
          </a:p>
        </p:txBody>
      </p:sp>
      <p:pic>
        <p:nvPicPr>
          <p:cNvPr id="17431" name="Picture 17430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08301" y="5093207"/>
            <a:ext cx="274320" cy="274320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2125980" y="5413247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React</a:t>
            </a:r>
          </a:p>
        </p:txBody>
      </p:sp>
      <p:pic>
        <p:nvPicPr>
          <p:cNvPr id="17433" name="Picture 17432" descr="v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7262" y="5093207"/>
            <a:ext cx="274320" cy="274320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2964941" y="5413247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Vite</a:t>
            </a:r>
          </a:p>
        </p:txBody>
      </p:sp>
      <p:pic>
        <p:nvPicPr>
          <p:cNvPr id="17435" name="Picture 17434" descr="leafle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377" y="5660136"/>
            <a:ext cx="274320" cy="274320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48056" y="5980175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Leaflet</a:t>
            </a:r>
          </a:p>
        </p:txBody>
      </p:sp>
      <p:pic>
        <p:nvPicPr>
          <p:cNvPr id="17437" name="Picture 17436" descr="cesium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69339" y="5660136"/>
            <a:ext cx="274320" cy="274320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1287018" y="5980175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Cesium</a:t>
            </a:r>
          </a:p>
        </p:txBody>
      </p:sp>
      <p:pic>
        <p:nvPicPr>
          <p:cNvPr id="17439" name="Picture 17438" descr="googleearthengi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08301" y="5660136"/>
            <a:ext cx="274320" cy="274320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2125980" y="5980175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Earth Engine</a:t>
            </a:r>
          </a:p>
        </p:txBody>
      </p:sp>
      <p:pic>
        <p:nvPicPr>
          <p:cNvPr id="17441" name="Picture 17440" descr="pyt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47262" y="5660136"/>
            <a:ext cx="274320" cy="274320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2964941" y="5980175"/>
            <a:ext cx="838962" cy="14630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pytest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160520" y="1207008"/>
            <a:ext cx="768096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160520" y="1554480"/>
            <a:ext cx="2240280" cy="71323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4242816" y="163677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544568" y="1645920"/>
            <a:ext cx="1764792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F2B46"/>
                </a:solidFill>
                <a:latin typeface="Calibri"/>
              </a:rPr>
              <a:t>INPUT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270248" y="1901952"/>
            <a:ext cx="2020824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lat/lon · height · storage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breach mode · ensemble size</a:t>
            </a:r>
          </a:p>
        </p:txBody>
      </p:sp>
      <p:sp>
        <p:nvSpPr>
          <p:cNvPr id="17448" name="Isosceles Triangle 17447"/>
          <p:cNvSpPr/>
          <p:nvPr/>
        </p:nvSpPr>
        <p:spPr>
          <a:xfrm rot="5400000">
            <a:off x="6437376" y="1828799"/>
            <a:ext cx="201168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ounded Rectangle 17448"/>
          <p:cNvSpPr/>
          <p:nvPr/>
        </p:nvSpPr>
        <p:spPr>
          <a:xfrm>
            <a:off x="6675120" y="1554480"/>
            <a:ext cx="2240280" cy="71323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6757416" y="163677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7059168" y="1645920"/>
            <a:ext cx="1764792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F2B46"/>
                </a:solidFill>
                <a:latin typeface="Calibri"/>
              </a:rPr>
              <a:t>AUTO-INGEST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6784848" y="1901952"/>
            <a:ext cx="2020824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GLO-30 COGs · GHSL · WorldCover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Sentinel-1 · CWC registers</a:t>
            </a:r>
          </a:p>
        </p:txBody>
      </p:sp>
      <p:sp>
        <p:nvSpPr>
          <p:cNvPr id="17453" name="Isosceles Triangle 17452"/>
          <p:cNvSpPr/>
          <p:nvPr/>
        </p:nvSpPr>
        <p:spPr>
          <a:xfrm rot="5400000">
            <a:off x="8951976" y="1828799"/>
            <a:ext cx="201168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Rounded Rectangle 17453"/>
          <p:cNvSpPr/>
          <p:nvPr/>
        </p:nvSpPr>
        <p:spPr>
          <a:xfrm>
            <a:off x="9189720" y="1554480"/>
            <a:ext cx="2240280" cy="71323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55" name="Rounded Rectangle 17454"/>
          <p:cNvSpPr/>
          <p:nvPr/>
        </p:nvSpPr>
        <p:spPr>
          <a:xfrm>
            <a:off x="9272016" y="163677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573768" y="1645920"/>
            <a:ext cx="1764792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F2B46"/>
                </a:solidFill>
                <a:latin typeface="Calibri"/>
              </a:rPr>
              <a:t>BREACH HYDROGRAPH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9299448" y="1901952"/>
            <a:ext cx="2020824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4 regressions, Monte-Carlo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p05–p95 117,061–353,612 m³/s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10309860" y="2267712"/>
            <a:ext cx="20116" cy="146304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9" name="Rectangle 17458"/>
          <p:cNvSpPr/>
          <p:nvPr/>
        </p:nvSpPr>
        <p:spPr>
          <a:xfrm>
            <a:off x="5900166" y="2395728"/>
            <a:ext cx="4409694" cy="20116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0" name="Isosceles Triangle 17459"/>
          <p:cNvSpPr/>
          <p:nvPr/>
        </p:nvSpPr>
        <p:spPr>
          <a:xfrm rot="10800000">
            <a:off x="5817870" y="2414016"/>
            <a:ext cx="164592" cy="146304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Isosceles Triangle 17460"/>
          <p:cNvSpPr/>
          <p:nvPr/>
        </p:nvSpPr>
        <p:spPr>
          <a:xfrm rot="10800000">
            <a:off x="9608058" y="2414016"/>
            <a:ext cx="164592" cy="146304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Rounded Rectangle 17461"/>
          <p:cNvSpPr/>
          <p:nvPr/>
        </p:nvSpPr>
        <p:spPr>
          <a:xfrm>
            <a:off x="4160520" y="2578608"/>
            <a:ext cx="3479292" cy="859536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63" name="Rounded Rectangle 17462"/>
          <p:cNvSpPr/>
          <p:nvPr/>
        </p:nvSpPr>
        <p:spPr>
          <a:xfrm>
            <a:off x="4242816" y="2660903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4a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4544568" y="2670048"/>
            <a:ext cx="3003804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E7C7B"/>
                </a:solidFill>
                <a:latin typeface="Calibri"/>
              </a:rPr>
              <a:t>NEAR FIELD — SPH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4270248" y="2926079"/>
            <a:ext cx="3259836" cy="438911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Lagrangian, mesh-free. The violent,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non-hydrostatic breach jet, where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depth-averaging is invalid. ~600 m, 15 s.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950708" y="2578608"/>
            <a:ext cx="3479292" cy="859536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67" name="Rounded Rectangle 17466"/>
          <p:cNvSpPr/>
          <p:nvPr/>
        </p:nvSpPr>
        <p:spPr>
          <a:xfrm>
            <a:off x="8033004" y="2660903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4b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8334756" y="2670048"/>
            <a:ext cx="3003804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F2B46"/>
                </a:solidFill>
                <a:latin typeface="Calibri"/>
              </a:rPr>
              <a:t>FAR FIELD — 2D SWE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060436" y="2926079"/>
            <a:ext cx="3259836" cy="438911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Eulerian finite volume, HLLC + Audusse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+ MUSCL. 600×600 cells at 200 m,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60 km radius, 3 h simulated.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4160520" y="3456432"/>
            <a:ext cx="726948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60" b="0" i="0">
                <a:solidFill>
                  <a:srgbClr val="5A6672"/>
                </a:solidFill>
                <a:latin typeface="Calibri"/>
              </a:rPr>
              <a:t>One-way handoff only (SWE → SPH at breach time). No two-way feedback is claimed.</a:t>
            </a:r>
          </a:p>
        </p:txBody>
      </p:sp>
      <p:sp>
        <p:nvSpPr>
          <p:cNvPr id="17471" name="Isosceles Triangle 17470"/>
          <p:cNvSpPr/>
          <p:nvPr/>
        </p:nvSpPr>
        <p:spPr>
          <a:xfrm rot="10800000">
            <a:off x="7712964" y="3639312"/>
            <a:ext cx="164592" cy="146304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2" name="Rounded Rectangle 17471"/>
          <p:cNvSpPr/>
          <p:nvPr/>
        </p:nvSpPr>
        <p:spPr>
          <a:xfrm>
            <a:off x="4160520" y="3803904"/>
            <a:ext cx="7269480" cy="56692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73" name="Rounded Rectangle 17472"/>
          <p:cNvSpPr/>
          <p:nvPr/>
        </p:nvSpPr>
        <p:spPr>
          <a:xfrm>
            <a:off x="4242816" y="388620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4544568" y="3895344"/>
            <a:ext cx="6793992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B02E2A"/>
                </a:solidFill>
                <a:latin typeface="Calibri"/>
              </a:rPr>
              <a:t>CROSS-CHECK  —  the step most entries skip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4270248" y="4151376"/>
            <a:ext cx="7050024" cy="146303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Ritter vs the exact solution: </a:t>
            </a:r>
            <a:r>
              <a:rPr sz="810" b="1" i="0">
                <a:solidFill>
                  <a:srgbClr val="1F2933"/>
                </a:solidFill>
                <a:latin typeface="Calibri"/>
              </a:rPr>
              <a:t>0.0317 m</a:t>
            </a:r>
            <a:r>
              <a:rPr sz="810" b="0" i="0">
                <a:solidFill>
                  <a:srgbClr val="1F2933"/>
                </a:solidFill>
                <a:latin typeface="Calibri"/>
              </a:rPr>
              <a:t> (JalRaksha) against </a:t>
            </a:r>
            <a:r>
              <a:rPr sz="810" b="1" i="0">
                <a:solidFill>
                  <a:srgbClr val="1F2933"/>
                </a:solidFill>
                <a:latin typeface="Calibri"/>
              </a:rPr>
              <a:t>0.0349 m</a:t>
            </a:r>
            <a:r>
              <a:rPr sz="810" b="0" i="0">
                <a:solidFill>
                  <a:srgbClr val="1F2933"/>
                </a:solidFill>
                <a:latin typeface="Calibri"/>
              </a:rPr>
              <a:t> (Delft3D FM) · lake-at-rest 5.98e-14 m/s · mass conservation 0.000000%</a:t>
            </a:r>
          </a:p>
        </p:txBody>
      </p:sp>
      <p:sp>
        <p:nvSpPr>
          <p:cNvPr id="17476" name="Isosceles Triangle 17475"/>
          <p:cNvSpPr/>
          <p:nvPr/>
        </p:nvSpPr>
        <p:spPr>
          <a:xfrm rot="10800000">
            <a:off x="7712964" y="4389120"/>
            <a:ext cx="164592" cy="146304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7" name="Rounded Rectangle 17476"/>
          <p:cNvSpPr/>
          <p:nvPr/>
        </p:nvSpPr>
        <p:spPr>
          <a:xfrm>
            <a:off x="4160520" y="4553712"/>
            <a:ext cx="3479292" cy="7315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78" name="Rounded Rectangle 17477"/>
          <p:cNvSpPr/>
          <p:nvPr/>
        </p:nvSpPr>
        <p:spPr>
          <a:xfrm>
            <a:off x="4242816" y="463600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4544568" y="4645152"/>
            <a:ext cx="3003804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E7C7B"/>
                </a:solidFill>
                <a:latin typeface="Calibri"/>
              </a:rPr>
              <a:t>IMPACT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4270248" y="4901184"/>
            <a:ext cx="3259836" cy="31089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GHSL population by warning lead time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1,760 at risk — 193 under 15 min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7950708" y="4553712"/>
            <a:ext cx="3479292" cy="7315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82" name="Rounded Rectangle 17481"/>
          <p:cNvSpPr/>
          <p:nvPr/>
        </p:nvSpPr>
        <p:spPr>
          <a:xfrm>
            <a:off x="8033004" y="463600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8334756" y="4645152"/>
            <a:ext cx="3003804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F2B46"/>
                </a:solidFill>
                <a:latin typeface="Calibri"/>
              </a:rPr>
              <a:t>OUTPUT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8060436" y="4901184"/>
            <a:ext cx="3259836" cy="31089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dashboard · arrival-time map</a:t>
            </a:r>
          </a:p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GeoTIFF · .SHP · .KML/KMZ</a:t>
            </a:r>
          </a:p>
        </p:txBody>
      </p:sp>
      <p:sp>
        <p:nvSpPr>
          <p:cNvPr id="17485" name="Isosceles Triangle 17484"/>
          <p:cNvSpPr/>
          <p:nvPr/>
        </p:nvSpPr>
        <p:spPr>
          <a:xfrm rot="10800000">
            <a:off x="7712964" y="5303520"/>
            <a:ext cx="164592" cy="146304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6" name="Rounded Rectangle 17485"/>
          <p:cNvSpPr/>
          <p:nvPr/>
        </p:nvSpPr>
        <p:spPr>
          <a:xfrm>
            <a:off x="4160520" y="5468112"/>
            <a:ext cx="7269480" cy="676656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87" name="Rounded Rectangle 17486"/>
          <p:cNvSpPr/>
          <p:nvPr/>
        </p:nvSpPr>
        <p:spPr>
          <a:xfrm>
            <a:off x="4242816" y="555040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4544568" y="5559552"/>
            <a:ext cx="6793992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40" b="1" i="0">
                <a:solidFill>
                  <a:srgbClr val="0E7C7B"/>
                </a:solidFill>
                <a:latin typeface="Calibri"/>
              </a:rPr>
              <a:t>GEE VALIDATION LOOP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4270248" y="5815584"/>
            <a:ext cx="7050024" cy="256031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4000"/>
              </a:lnSpc>
              <a:spcAft>
                <a:spcPts val="120"/>
              </a:spcAft>
            </a:pPr>
            <a:r>
              <a:rPr sz="810" b="0" i="0">
                <a:solidFill>
                  <a:srgbClr val="1F2933"/>
                </a:solidFill>
                <a:latin typeface="Calibri"/>
              </a:rPr>
              <a:t>Sentinel-1 observed extent scored against the simulation. Scenes below 0.50 precision against JRC water are refused, not drawn.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11430000" y="5806440"/>
            <a:ext cx="182879" cy="20116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1" name="Rectangle 17490"/>
          <p:cNvSpPr/>
          <p:nvPr/>
        </p:nvSpPr>
        <p:spPr>
          <a:xfrm>
            <a:off x="11612880" y="4087368"/>
            <a:ext cx="20116" cy="171907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2" name="Rectangle 17491"/>
          <p:cNvSpPr/>
          <p:nvPr/>
        </p:nvSpPr>
        <p:spPr>
          <a:xfrm>
            <a:off x="11558016" y="4087368"/>
            <a:ext cx="54863" cy="20116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3" name="Isosceles Triangle 17492"/>
          <p:cNvSpPr/>
          <p:nvPr/>
        </p:nvSpPr>
        <p:spPr>
          <a:xfrm rot="16200000">
            <a:off x="11375136" y="4014216"/>
            <a:ext cx="18288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207008"/>
            <a:ext cx="6327648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17904"/>
            <a:ext cx="6327648" cy="2340864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29768" y="1591056"/>
            <a:ext cx="6108192" cy="40233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Not a proposal — a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built system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. These gates run against the live build, and are the same checks that block a merge in CI: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429768" y="2011680"/>
          <a:ext cx="6108192" cy="8339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19856"/>
                <a:gridCol w="1463040"/>
                <a:gridCol w="1225296"/>
              </a:tblGrid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Blocking gate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</a:tr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Lake at rest — spurious velocity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5.98e-14 m/s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1e-8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Mass conservation — volume drift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0.000000 %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0.1 %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</a:tr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Ritter dam-break — RMSE vs exact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0.0317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0.10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4" name="TextBox 17413"/>
          <p:cNvSpPr txBox="1"/>
          <p:nvPr/>
        </p:nvSpPr>
        <p:spPr>
          <a:xfrm>
            <a:off x="429768" y="2889504"/>
            <a:ext cx="6108192" cy="20116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Both engines against the exact Ritter solution, same grid, same instant: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/>
        </p:nvGraphicFramePr>
        <p:xfrm>
          <a:off x="429768" y="3108960"/>
          <a:ext cx="6108192" cy="6254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19856"/>
                <a:gridCol w="1463040"/>
                <a:gridCol w="1225296"/>
              </a:tblGrid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RMSE vs exact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Depth at dam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</a:tr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JalRaksha 2D SWE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0.0317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4.532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Delft3D FM (dflowfm-cli)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0.0349 m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4.515 m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</a:tr>
            </a:tbl>
          </a:graphicData>
        </a:graphic>
      </p:graphicFrame>
      <p:sp>
        <p:nvSpPr>
          <p:cNvPr id="17416" name="TextBox 17415"/>
          <p:cNvSpPr txBox="1"/>
          <p:nvPr/>
        </p:nvSpPr>
        <p:spPr>
          <a:xfrm>
            <a:off x="6812280" y="1207008"/>
            <a:ext cx="489204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The gates, run from the dashboard</a:t>
            </a:r>
          </a:p>
        </p:txBody>
      </p:sp>
      <p:pic>
        <p:nvPicPr>
          <p:cNvPr id="17417" name="Picture 17416" descr="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517904"/>
            <a:ext cx="4892040" cy="232551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812280" y="3889133"/>
            <a:ext cx="489204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All three PASS. h₀ = 10 m, t = 40 s, Δx = 10 m, frictionless flat bed; exact 4h₀/9 = 4.444 m, and the two engines agree to 0.0294 m RMSE.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20040" y="4151376"/>
            <a:ext cx="5742432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B02E2A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4462272"/>
            <a:ext cx="5742432" cy="1773936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29768" y="4553712"/>
            <a:ext cx="5522976" cy="159105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Wet–dry front instability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negative depths and spurious velocities. This fails visibly in a live demo.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30 m GLO-30 is a surface model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with no reservoir bathymetry; it flattens water and puts canopy in the channel. 1–2 cells span a Himalayan gorge.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Breach regressions disagree by 3–4×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the dominant uncertainty term, and a documented state of the art rather than a defect in this implementation.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SPH does not scale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uniform resolution is an acknowledged limitation (SPHERIC Grand Challenge 3); it cannot span a basin.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Debris, not clear water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Chamoli was ~80% rock by volume, and clear-water physics understates such an event.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Manning's n is uncertain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, and inundation extent is sensitive to it.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199632" y="4151376"/>
            <a:ext cx="5641848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E7C7B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9632" y="4462272"/>
            <a:ext cx="5641848" cy="1773936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6309360" y="4553712"/>
            <a:ext cx="5422392" cy="159105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Positivity-preserving scheme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Audusse reconstruction under a CFL ≤ 1/2 bound; lake-at-rest and mass conservation gate every merge, and both pass now.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Lead with arrival time and extent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, not point depth. Every depth figure here is labelled indicative; the DEM limit is stated, not buried.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Quote the band, never the number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Monte-Carlo over all four regressions returns p05 / median / p95 for outflow, depth and arrival time.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Confine SPH to a near-field box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(~600 m, 15 s) and hand off one-way; the far field is left to the depth-averaged solver, where it is valid.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Positioned as a Tier-1 screening layer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under CWC CDSO_GUD_DS_05: it triages which dams warrant a full Tier-2/3 study, and does not replace one.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38912" y="1234440"/>
            <a:ext cx="1971446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F2B46"/>
                </a:solidFill>
                <a:latin typeface="Calibri"/>
              </a:rPr>
              <a:t>1,180,102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38912" y="1645920"/>
            <a:ext cx="1971446" cy="32918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people in the modelled domain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(GHSL P2023A, epoch 2020)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648102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2766974" y="1234440"/>
            <a:ext cx="1971446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B02E2A"/>
                </a:solidFill>
                <a:latin typeface="Calibri"/>
              </a:rPr>
              <a:t>1,760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766974" y="1645920"/>
            <a:ext cx="1971446" cy="32918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reach 0.1 m depth or more — the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population actually at risk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976164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5095036" y="1234440"/>
            <a:ext cx="1971446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B02E2A"/>
                </a:solidFill>
                <a:latin typeface="Calibri"/>
              </a:rPr>
              <a:t>193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095036" y="1645920"/>
            <a:ext cx="1971446" cy="32918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have under 15 min of warning at a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30 min lead-time assumption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304227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7423099" y="1234440"/>
            <a:ext cx="1971446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E7C7B"/>
                </a:solidFill>
                <a:latin typeface="Calibri"/>
              </a:rPr>
              <a:t>50.2</a:t>
            </a:r>
            <a:r>
              <a:rPr sz="950">
                <a:solidFill>
                  <a:srgbClr val="5A6672"/>
                </a:solidFill>
                <a:latin typeface="Calibri"/>
              </a:rPr>
              <a:t> min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23099" y="1645920"/>
            <a:ext cx="1971446" cy="32918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for the wave to reach Koteshwar,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13.0 km downstream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632289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9751161" y="1234440"/>
            <a:ext cx="1971446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E7C7B"/>
                </a:solidFill>
                <a:latin typeface="Calibri"/>
              </a:rPr>
              <a:t>46.44</a:t>
            </a:r>
            <a:r>
              <a:rPr sz="950">
                <a:solidFill>
                  <a:srgbClr val="5A6672"/>
                </a:solidFill>
                <a:latin typeface="Calibri"/>
              </a:rPr>
              <a:t> km²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751161" y="1645920"/>
            <a:ext cx="1971446" cy="329184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inundated envelope, severity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index 0.94 over water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0040" y="2084831"/>
            <a:ext cx="1152144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One real run, not an illustration: Tehri Dam (260 m, 3,540 MCM), central breach, 600×600 cells at 200 m over a 60 km radius, 3 h simulated. Peak breach outflow 229,952 m³/s (p05–p95 117,061–353,612); breach formation 29.3 min; maximum depth anywhere 99.9 m (75.1–120.6 m). Depth on a 30 m DEM is indicative — lead with arrival time.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20040" y="2322576"/>
            <a:ext cx="576072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350" b="1" i="0">
                <a:solidFill>
                  <a:srgbClr val="0F2B46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2633472"/>
            <a:ext cx="5760720" cy="1499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F2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48056" y="2724912"/>
            <a:ext cx="5504688" cy="131673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NDMA / SDMA / DDMA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depth, extent and arrival time are exactly what an evacuation order needs; .kml drops into the GIS they already run.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CWC / NDSA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a Tier-1 screening layer under CDSO_GUD_DS_05, to triage which of India's large dams warrant a full expert study first.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NTRO / HADR planners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scenarios for dams and landslide lakes that cannot be ground-surveyed, including reaches with no site access.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Army / BRO / NDRF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pre-positioning, and deliberate-breach planning of the kind executed at Phuktal in 2015.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Downstream communities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the people counted in the 1,760 above, who at Chamoli in 2021 received no warning at all.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4187952"/>
            <a:ext cx="576072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350" b="1" i="0">
                <a:solidFill>
                  <a:srgbClr val="0F2B46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498848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411479" y="4572000"/>
            <a:ext cx="1664208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B02E2A"/>
                </a:solidFill>
                <a:latin typeface="Calibri"/>
              </a:rPr>
              <a:t>SOCIAL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29768" y="4846320"/>
            <a:ext cx="1627632" cy="122529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Arrival time is lead time, and lead time is evacuation. The exposed population is split by how many minutes each group actually has — 193 of them under 15. Works for terrain that cannot be surveyed or reached at all.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2276856" y="4498848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2368296" y="4572000"/>
            <a:ext cx="1664208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ECONOMIC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2386584" y="4846320"/>
            <a:ext cx="1627632" cy="122529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Zero licence cost, and automation replaces weeks of specialist setup per site. .shp / .kml at the 1:50,000 and 1:10,000 scales CWC's Emergency Action Plan guidelines specify — usable, not merely viewable.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233672" y="4498848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4325112" y="4572000"/>
            <a:ext cx="1664208" cy="219456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E7C7B"/>
                </a:solidFill>
                <a:latin typeface="Calibri"/>
              </a:rPr>
              <a:t>ENVIRONMENTAL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43400" y="4846320"/>
            <a:ext cx="1627632" cy="1225296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Identifies cropland and ecosystems in the flood path, and supports scheduled controlled release over emergency release. Open and reproducible: anyone can re-run the cross-check and get these numbers.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5080" y="2322576"/>
            <a:ext cx="548640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Real terrain, real reach</a:t>
            </a:r>
          </a:p>
        </p:txBody>
      </p:sp>
      <p:pic>
        <p:nvPicPr>
          <p:cNvPr id="17440" name="Picture 17439" descr="terrain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2670048"/>
            <a:ext cx="5120640" cy="2969342"/>
          </a:xfrm>
          <a:prstGeom prst="rect">
            <a:avLst/>
          </a:prstGeom>
        </p:spPr>
      </p:pic>
      <p:sp>
        <p:nvSpPr>
          <p:cNvPr id="17441" name="Rounded Rectangle 17440"/>
          <p:cNvSpPr/>
          <p:nvPr/>
        </p:nvSpPr>
        <p:spPr>
          <a:xfrm>
            <a:off x="6355080" y="5712542"/>
            <a:ext cx="5486400" cy="676656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6483096" y="5785694"/>
            <a:ext cx="5230368" cy="53035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Bhagirathi valley below Tehri on Copernicus GLO-30, rendered in ParaView with the computed depth draped over it. Rishikesh and Haridwar report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no arrival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— Rishikesh sits 18 m above the nearest channel. Reported as a null, not dropped.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88720"/>
            <a:ext cx="1152144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17904"/>
            <a:ext cx="3785615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Problem domain — Indian events and regulation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828800"/>
            <a:ext cx="3785615" cy="3675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29768" y="1929384"/>
            <a:ext cx="3566159" cy="34747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 / CDSO,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Guidelines for Mapping Flood Risks Associated with Dams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CDSO_GUD_DS_05 v1.0, 2018 — the Tier 1–3 framework this tool targets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Emergency Action Plan guidelines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index maps 1:50,000, detailed maps 1:10,000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Shugar et al. 2021,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Science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373:300–306, doi 10.1126/science.abh4455 — Chamoli; travel times matched to under 5%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Rana et al. 2023,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Natural Hazards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doi 10.1007/s11069-023-05972-5 — an independent reconstruction of the same event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Sinha 2009,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Current Science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97:429–433 — the 2008 Kosi avulsion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Costa &amp; Schuster 1988,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GSA Bulletin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formation and failure of natural dams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NRLD 2019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and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NRSD 2025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national dam registers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24528" y="1517904"/>
            <a:ext cx="3785615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Numerical methods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24528" y="1828800"/>
            <a:ext cx="3785615" cy="3675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334256" y="1929384"/>
            <a:ext cx="3566159" cy="34747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Toro 2001,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Shock-Capturing Methods for Free-Surface Shallow Flows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Wiley — HLLC wave speeds, two-rarefaction estimate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Audusse et al. 2004,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SIAM J. Sci. Comput.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25:2050 — hydrostatic reconstruction, the well-balanced property this solver rests 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Froehlich 2008,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Hydraul.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134(12) — embankment breach regressions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Xu &amp; Zhang 2009,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Geotech. Geoenviron.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135(12)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Wahl 2004,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Hydraul.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130(5) — uncertainty of breach parameters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Maranzoni &amp; Tomirotti 2023,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Water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15(17):3130, doi 10.3390/w15173130 — recommends exactly this coupled 2D–3D decomposition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Vacondio et al. 2020,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Comp. Particle Mech.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8:575 — SPH Grand Challenge 3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Ramachandran et al. 2021,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ACM TOMS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47(4), doi 10.1145/3460773 — PySPH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138160" y="1517904"/>
            <a:ext cx="3703320" cy="2743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E7C7B"/>
                </a:solidFill>
                <a:latin typeface="Calibri"/>
              </a:rPr>
              <a:t>Open data and software — free, none login-gated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828800"/>
            <a:ext cx="3703320" cy="367588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8247888" y="1929384"/>
            <a:ext cx="3483863" cy="34747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Copernicus DEM GLO-30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30 m, public AWS Cloud-Optimized GeoTIFFs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Sentinel-1 GRD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and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JRC Global Surface Water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via Google Earth Engine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GHSL P2023A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gridded population, epoch 2020 (JRC)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ESA WorldCover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land cover driving Manning's 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Google Open Buildings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CC BY 4.0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Delft3D FM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Deltares — Suite 2026.01 HM, dflowfm-cli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PySPH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BSD licence, developed at IIT Bombay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0" i="1">
                <a:solidFill>
                  <a:srgbClr val="1F2933"/>
                </a:solidFill>
                <a:latin typeface="Calibri"/>
              </a:rPr>
              <a:t>Deliberately excluded: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FABDEM (CC BY-NC-SA), MERIT (CC BY-NC / ODbL) and OSM (ODbL share-alike) are kept out of redistributed outputs on licence grounds.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5669280"/>
            <a:ext cx="11521440" cy="51206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5760720"/>
            <a:ext cx="11210544" cy="36576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Reproduce every number on this deck:</a:t>
            </a:r>
            <a:r>
              <a:rPr sz="919" b="0" i="0">
                <a:solidFill>
                  <a:srgbClr val="FFFFFF"/>
                </a:solidFill>
                <a:latin typeface="Calibri"/>
              </a:rPr>
              <a:t>   python scripts/validate_against_delft3d.py --case ritter   |   jalraksha run --dam tehri   |   dashboard at localhost:3000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