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Relationship Id="rId13" Type="http://schemas.openxmlformats.org/officeDocument/2006/relationships/image" Target="../media/image13.png"/><Relationship Id="rId14" Type="http://schemas.openxmlformats.org/officeDocument/2006/relationships/image" Target="../media/image1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8000"/>
              </a:lnSpc>
              <a:spcAft>
                <a:spcPts val="1000"/>
              </a:spcAft>
            </a:pPr>
            <a:r>
              <a:rPr sz="1300" b="1" i="0">
                <a:solidFill>
                  <a:srgbClr val="1F2933"/>
                </a:solidFill>
                <a:latin typeface="Calibri"/>
              </a:rPr>
              <a:t>Problem Statement ID —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  26161</a:t>
            </a:r>
            <a:endParaRPr lang="en-US" dirty="0"/>
          </a:p>
          <a:p>
            <a:pPr algn="l">
              <a:lnSpc>
                <a:spcPct val="98000"/>
              </a:lnSpc>
              <a:spcAft>
                <a:spcPts val="1000"/>
              </a:spcAft>
            </a:pPr>
            <a:r>
              <a:rPr sz="1300" b="1" i="0">
                <a:solidFill>
                  <a:srgbClr val="1F2933"/>
                </a:solidFill>
                <a:latin typeface="Calibri"/>
              </a:rPr>
              <a:t>Problem Statement Title —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  Dam Break Inundation Modelling Using Hydrodynamic Modelling of any River</a:t>
            </a:r>
          </a:p>
          <a:p>
            <a:pPr algn="l">
              <a:lnSpc>
                <a:spcPct val="98000"/>
              </a:lnSpc>
              <a:spcAft>
                <a:spcPts val="1000"/>
              </a:spcAft>
            </a:pPr>
            <a:r>
              <a:rPr sz="1300" b="1" i="0">
                <a:solidFill>
                  <a:srgbClr val="1F2933"/>
                </a:solidFill>
                <a:latin typeface="Calibri"/>
              </a:rPr>
              <a:t>Theme —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  Disaster Management</a:t>
            </a:r>
          </a:p>
          <a:p>
            <a:pPr algn="l">
              <a:lnSpc>
                <a:spcPct val="98000"/>
              </a:lnSpc>
              <a:spcAft>
                <a:spcPts val="1000"/>
              </a:spcAft>
            </a:pPr>
            <a:r>
              <a:rPr sz="1300" b="1" i="0">
                <a:solidFill>
                  <a:srgbClr val="1F2933"/>
                </a:solidFill>
                <a:latin typeface="Calibri"/>
              </a:rPr>
              <a:t>PS Category —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  Software</a:t>
            </a:r>
          </a:p>
          <a:p>
            <a:pPr algn="l">
              <a:lnSpc>
                <a:spcPct val="98000"/>
              </a:lnSpc>
              <a:spcAft>
                <a:spcPts val="1000"/>
              </a:spcAft>
            </a:pPr>
            <a:r>
              <a:rPr sz="1300" b="1" i="0">
                <a:solidFill>
                  <a:srgbClr val="1F2933"/>
                </a:solidFill>
                <a:latin typeface="Calibri"/>
              </a:rPr>
              <a:t>Team ID —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  &lt;Team ID from SIH portal&gt;</a:t>
            </a:r>
          </a:p>
          <a:p>
            <a:pPr algn="l">
              <a:lnSpc>
                <a:spcPct val="98000"/>
              </a:lnSpc>
              <a:spcAft>
                <a:spcPts val="1000"/>
              </a:spcAft>
            </a:pPr>
            <a:r>
              <a:rPr sz="1300" b="1" i="0">
                <a:solidFill>
                  <a:srgbClr val="1F2933"/>
                </a:solidFill>
                <a:latin typeface="Calibri"/>
              </a:rPr>
              <a:t>Team Name (Registered on portal) —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  &lt;TEAM NAME&gt;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Oval 37"/>
          <p:cNvSpPr/>
          <p:nvPr/>
        </p:nvSpPr>
        <p:spPr>
          <a:xfrm>
            <a:off x="365760" y="1060704"/>
            <a:ext cx="749808" cy="749808"/>
          </a:xfrm>
          <a:prstGeom prst="ellipse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Double Wave 38"/>
          <p:cNvSpPr/>
          <p:nvPr/>
        </p:nvSpPr>
        <p:spPr>
          <a:xfrm>
            <a:off x="463235" y="1435607"/>
            <a:ext cx="554857" cy="224942"/>
          </a:xfrm>
          <a:prstGeom prst="doubleWav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03173" y="1210665"/>
            <a:ext cx="74980" cy="34491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25296" y="1078992"/>
            <a:ext cx="4206240" cy="633984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>
              <a:lnSpc>
                <a:spcPct val="95000"/>
              </a:lnSpc>
              <a:spcAft>
                <a:spcPts val="0"/>
              </a:spcAft>
            </a:pPr>
            <a:r>
              <a:rPr sz="3200" b="1">
                <a:solidFill>
                  <a:srgbClr val="0F2B46"/>
                </a:solidFill>
                <a:latin typeface="Calibri"/>
              </a:rPr>
              <a:t>Jal</a:t>
            </a:r>
            <a:r>
              <a:rPr sz="3200" b="1">
                <a:solidFill>
                  <a:srgbClr val="0E7C7B"/>
                </a:solidFill>
                <a:latin typeface="Calibri"/>
              </a:rPr>
              <a:t>Raksha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61872" y="1591056"/>
            <a:ext cx="5120640" cy="219456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50" b="0" i="1">
                <a:solidFill>
                  <a:srgbClr val="0E7C7B"/>
                </a:solidFill>
                <a:latin typeface="Calibri"/>
              </a:rPr>
              <a:t>Dam-break screening you can check.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4846320"/>
            <a:ext cx="2743200" cy="201168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00" b="1" i="0">
                <a:solidFill>
                  <a:srgbClr val="0F2B46"/>
                </a:solidFill>
                <a:latin typeface="Calibri"/>
              </a:rPr>
              <a:t>THEME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65760" y="5084064"/>
            <a:ext cx="201168" cy="201168"/>
          </a:xfrm>
          <a:prstGeom prst="roundRect">
            <a:avLst>
              <a:gd name="adj" fmla="val 20000"/>
            </a:avLst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2648" y="5084064"/>
            <a:ext cx="548640" cy="201168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740" b="0" i="0">
                <a:solidFill>
                  <a:srgbClr val="5A6672"/>
                </a:solidFill>
                <a:latin typeface="Calibri"/>
              </a:rPr>
              <a:t>#0F2B46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207008" y="5084064"/>
            <a:ext cx="201168" cy="201168"/>
          </a:xfrm>
          <a:prstGeom prst="roundRect">
            <a:avLst>
              <a:gd name="adj" fmla="val 20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453896" y="5084064"/>
            <a:ext cx="548640" cy="201168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740" b="0" i="0">
                <a:solidFill>
                  <a:srgbClr val="5A6672"/>
                </a:solidFill>
                <a:latin typeface="Calibri"/>
              </a:rPr>
              <a:t>#0E7C7B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048256" y="5084064"/>
            <a:ext cx="201168" cy="201168"/>
          </a:xfrm>
          <a:prstGeom prst="roundRect">
            <a:avLst>
              <a:gd name="adj" fmla="val 20000"/>
            </a:avLst>
          </a:prstGeom>
          <a:solidFill>
            <a:srgbClr val="B0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295144" y="5084064"/>
            <a:ext cx="548640" cy="201168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740" b="0" i="0">
                <a:solidFill>
                  <a:srgbClr val="5A6672"/>
                </a:solidFill>
                <a:latin typeface="Calibri"/>
              </a:rPr>
              <a:t>#B02E2A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9184" y="5623560"/>
            <a:ext cx="5852160" cy="8686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50"/>
              </a:spcAft>
            </a:pPr>
            <a:r>
              <a:rPr sz="1050" b="1" i="0">
                <a:solidFill>
                  <a:srgbClr val="5A6672"/>
                </a:solidFill>
                <a:latin typeface="Calibri"/>
              </a:rPr>
              <a:t>Near-field SPH × far-field 2D shallow water, cross-checked against a real Delft3D FM kernel</a:t>
            </a:r>
            <a:r>
              <a:rPr sz="1050" b="0" i="0">
                <a:solidFill>
                  <a:srgbClr val="5A6672"/>
                </a:solidFill>
                <a:latin typeface="Calibri"/>
              </a:rPr>
              <a:t> — arrival-time maps for any Indian dam from nothing but lat/lon, height and storage. Open data only. No ground survey.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737360" y="0"/>
            <a:ext cx="7909560" cy="1143000"/>
          </a:xfrm>
        </p:spPr>
        <p:txBody>
          <a:bodyPr/>
          <a:lstStyle/>
          <a:p>
            <a:pPr eaLnBrk="1" hangingPunct="1"/>
            <a:r>
              <a:rPr sz="2100" b="1">
                <a:latin typeface="Times New Roman"/>
              </a:rPr>
              <a:t>JALRAKSHA — dam-break screening, with the model checked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800" b="1" i="0">
                <a:solidFill>
                  <a:srgbClr val="1F2933"/>
                </a:solidFill>
                <a:latin typeface="Calibri"/>
              </a:rPr>
              <a:t>&lt;TEAM NAME&gt;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TextBox 15361"/>
          <p:cNvSpPr txBox="1"/>
          <p:nvPr/>
        </p:nvSpPr>
        <p:spPr>
          <a:xfrm>
            <a:off x="320040" y="1225296"/>
            <a:ext cx="2852928" cy="27432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150" b="1" i="0">
                <a:solidFill>
                  <a:srgbClr val="0F2B46"/>
                </a:solidFill>
                <a:latin typeface="Calibri"/>
              </a:rPr>
              <a:t>Detailed explanation of the proposed solution</a:t>
            </a:r>
          </a:p>
        </p:txBody>
      </p:sp>
      <p:sp>
        <p:nvSpPr>
          <p:cNvPr id="15363" name="Rounded Rectangle 15362"/>
          <p:cNvSpPr/>
          <p:nvPr/>
        </p:nvSpPr>
        <p:spPr>
          <a:xfrm>
            <a:off x="320040" y="1536192"/>
            <a:ext cx="2852928" cy="4645152"/>
          </a:xfrm>
          <a:prstGeom prst="roundRect">
            <a:avLst>
              <a:gd name="adj" fmla="val 8000"/>
            </a:avLst>
          </a:prstGeom>
          <a:solidFill>
            <a:srgbClr val="EEF4F9"/>
          </a:solidFill>
          <a:ln w="11430">
            <a:solidFill>
              <a:srgbClr val="C9D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/>
          </a:p>
        </p:txBody>
      </p:sp>
      <p:sp>
        <p:nvSpPr>
          <p:cNvPr id="15364" name="TextBox 15363"/>
          <p:cNvSpPr txBox="1"/>
          <p:nvPr/>
        </p:nvSpPr>
        <p:spPr>
          <a:xfrm>
            <a:off x="429768" y="1636776"/>
            <a:ext cx="2633472" cy="4443984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50"/>
              </a:spcAft>
            </a:pPr>
            <a:r>
              <a:rPr sz="990" b="0" i="0">
                <a:solidFill>
                  <a:srgbClr val="1F2933"/>
                </a:solidFill>
                <a:latin typeface="Calibri"/>
              </a:rPr>
              <a:t>▪ </a:t>
            </a:r>
            <a:r>
              <a:rPr sz="990" b="1" i="0">
                <a:solidFill>
                  <a:srgbClr val="1F2933"/>
                </a:solidFill>
                <a:latin typeface="Calibri"/>
              </a:rPr>
              <a:t>Operator enters four things</a:t>
            </a:r>
            <a:r>
              <a:rPr sz="990" b="0" i="0">
                <a:solidFill>
                  <a:srgbClr val="1F2933"/>
                </a:solidFill>
                <a:latin typeface="Calibri"/>
              </a:rPr>
              <a:t> — lat/lon, dam height, gross storage, breach mode. Nothing else.</a:t>
            </a:r>
          </a:p>
          <a:p>
            <a:pPr algn="l">
              <a:lnSpc>
                <a:spcPct val="95000"/>
              </a:lnSpc>
              <a:spcAft>
                <a:spcPts val="850"/>
              </a:spcAft>
            </a:pPr>
            <a:r>
              <a:rPr sz="990" b="0" i="0">
                <a:solidFill>
                  <a:srgbClr val="1F2933"/>
                </a:solidFill>
                <a:latin typeface="Calibri"/>
              </a:rPr>
              <a:t>▪ </a:t>
            </a:r>
            <a:r>
              <a:rPr sz="990" b="1" i="0">
                <a:solidFill>
                  <a:srgbClr val="1F2933"/>
                </a:solidFill>
                <a:latin typeface="Calibri"/>
              </a:rPr>
              <a:t>Data fetches itself:</a:t>
            </a:r>
            <a:r>
              <a:rPr sz="990" b="0" i="0">
                <a:solidFill>
                  <a:srgbClr val="1F2933"/>
                </a:solidFill>
                <a:latin typeface="Calibri"/>
              </a:rPr>
              <a:t> Copernicus GLO-30 DEM from public AWS COGs, GHSL population, Sentinel-1 SAR via Earth Engine, ESA WorldCover roughness.</a:t>
            </a:r>
          </a:p>
          <a:p>
            <a:pPr algn="l">
              <a:lnSpc>
                <a:spcPct val="95000"/>
              </a:lnSpc>
              <a:spcAft>
                <a:spcPts val="850"/>
              </a:spcAft>
            </a:pPr>
            <a:r>
              <a:rPr sz="990" b="0" i="0">
                <a:solidFill>
                  <a:srgbClr val="1F2933"/>
                </a:solidFill>
                <a:latin typeface="Calibri"/>
              </a:rPr>
              <a:t>▪ </a:t>
            </a:r>
            <a:r>
              <a:rPr sz="990" b="1" i="0">
                <a:solidFill>
                  <a:srgbClr val="1F2933"/>
                </a:solidFill>
                <a:latin typeface="Calibri"/>
              </a:rPr>
              <a:t>Breach hydrograph</a:t>
            </a:r>
            <a:r>
              <a:rPr sz="990" b="0" i="0">
                <a:solidFill>
                  <a:srgbClr val="1F2933"/>
                </a:solidFill>
                <a:latin typeface="Calibri"/>
              </a:rPr>
              <a:t> from a 4-regression Monte-Carlo ensemble — Costa 1985, Froehlich 1995, MacDonald–Langridge 1984, Von Thun–Gillette 1990.</a:t>
            </a:r>
          </a:p>
          <a:p>
            <a:pPr algn="l">
              <a:lnSpc>
                <a:spcPct val="95000"/>
              </a:lnSpc>
              <a:spcAft>
                <a:spcPts val="850"/>
              </a:spcAft>
            </a:pPr>
            <a:r>
              <a:rPr sz="990" b="0" i="0">
                <a:solidFill>
                  <a:srgbClr val="1F2933"/>
                </a:solidFill>
                <a:latin typeface="Calibri"/>
              </a:rPr>
              <a:t>▪ </a:t>
            </a:r>
            <a:r>
              <a:rPr sz="990" b="1" i="0">
                <a:solidFill>
                  <a:srgbClr val="1F2933"/>
                </a:solidFill>
                <a:latin typeface="Calibri"/>
              </a:rPr>
              <a:t>Far field:</a:t>
            </a:r>
            <a:r>
              <a:rPr sz="990" b="0" i="0">
                <a:solidFill>
                  <a:srgbClr val="1F2933"/>
                </a:solidFill>
                <a:latin typeface="Calibri"/>
              </a:rPr>
              <a:t> in-house 2D shallow-water finite volume — HLLC Riemann solver, Audusse hydrostatic reconstruction, MUSCL, wetting and drying.</a:t>
            </a:r>
          </a:p>
          <a:p>
            <a:pPr algn="l">
              <a:lnSpc>
                <a:spcPct val="95000"/>
              </a:lnSpc>
              <a:spcAft>
                <a:spcPts val="850"/>
              </a:spcAft>
            </a:pPr>
            <a:r>
              <a:rPr sz="990" b="0" i="0">
                <a:solidFill>
                  <a:srgbClr val="1F2933"/>
                </a:solidFill>
                <a:latin typeface="Calibri"/>
              </a:rPr>
              <a:t>▪ </a:t>
            </a:r>
            <a:r>
              <a:rPr sz="990" b="1" i="0">
                <a:solidFill>
                  <a:srgbClr val="1F2933"/>
                </a:solidFill>
                <a:latin typeface="Calibri"/>
              </a:rPr>
              <a:t>Near field:</a:t>
            </a:r>
            <a:r>
              <a:rPr sz="990" b="0" i="0">
                <a:solidFill>
                  <a:srgbClr val="1F2933"/>
                </a:solidFill>
                <a:latin typeface="Calibri"/>
              </a:rPr>
              <a:t> Smoothed Particle Hydrodynamics resolves the non-hydrostatic breach jet, where depth-averaging is invalid. One-way handoff, ~600 m over 15 s.</a:t>
            </a:r>
          </a:p>
          <a:p>
            <a:pPr algn="l">
              <a:lnSpc>
                <a:spcPct val="95000"/>
              </a:lnSpc>
              <a:spcAft>
                <a:spcPts val="850"/>
              </a:spcAft>
            </a:pPr>
            <a:r>
              <a:rPr sz="990" b="0" i="0">
                <a:solidFill>
                  <a:srgbClr val="1F2933"/>
                </a:solidFill>
                <a:latin typeface="Calibri"/>
              </a:rPr>
              <a:t>▪ </a:t>
            </a:r>
            <a:r>
              <a:rPr sz="990" b="1" i="0">
                <a:solidFill>
                  <a:srgbClr val="1F2933"/>
                </a:solidFill>
                <a:latin typeface="Calibri"/>
              </a:rPr>
              <a:t>Outputs</a:t>
            </a:r>
            <a:r>
              <a:rPr sz="990" b="0" i="0">
                <a:solidFill>
                  <a:srgbClr val="1F2933"/>
                </a:solidFill>
                <a:latin typeface="Calibri"/>
              </a:rPr>
              <a:t> depth, velocity and arrival-time rasters to a browser dashboard, plus GeoTIFF, .SHP and .KML/KMZ.</a:t>
            </a:r>
          </a:p>
        </p:txBody>
      </p:sp>
      <p:sp>
        <p:nvSpPr>
          <p:cNvPr id="15365" name="TextBox 15364"/>
          <p:cNvSpPr txBox="1"/>
          <p:nvPr/>
        </p:nvSpPr>
        <p:spPr>
          <a:xfrm>
            <a:off x="3291840" y="1225296"/>
            <a:ext cx="5285232" cy="27432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150" b="1" i="0">
                <a:solidFill>
                  <a:srgbClr val="0F2B46"/>
                </a:solidFill>
                <a:latin typeface="Calibri"/>
              </a:rPr>
              <a:t>The prototype, running</a:t>
            </a:r>
          </a:p>
        </p:txBody>
      </p:sp>
      <p:pic>
        <p:nvPicPr>
          <p:cNvPr id="15366" name="Picture 15365" descr="workspa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1554480"/>
            <a:ext cx="5285232" cy="3458977"/>
          </a:xfrm>
          <a:prstGeom prst="rect">
            <a:avLst/>
          </a:prstGeom>
        </p:spPr>
      </p:pic>
      <p:sp>
        <p:nvSpPr>
          <p:cNvPr id="15367" name="TextBox 15366"/>
          <p:cNvSpPr txBox="1"/>
          <p:nvPr/>
        </p:nvSpPr>
        <p:spPr>
          <a:xfrm>
            <a:off x="3291840" y="5068321"/>
            <a:ext cx="5285232" cy="45720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150"/>
              </a:spcAft>
            </a:pPr>
            <a:r>
              <a:rPr sz="780" b="0" i="0">
                <a:solidFill>
                  <a:srgbClr val="5A6672"/>
                </a:solidFill>
                <a:latin typeface="Calibri"/>
              </a:rPr>
              <a:t>Live dashboard — Tehri (260 m, 3,540 MCM). Left: Leaflet inundation envelope with hazard classes over the Bhagirathi. Right: the same envelope on Cesium 3D over Copernicus terrain, with gauges labelled by downstream distance. 600×600 cells at 200 m, 60 km radius, 3 h simulated, EPSG:32644.</a:t>
            </a:r>
          </a:p>
        </p:txBody>
      </p:sp>
      <p:sp>
        <p:nvSpPr>
          <p:cNvPr id="15368" name="TextBox 15367"/>
          <p:cNvSpPr txBox="1"/>
          <p:nvPr/>
        </p:nvSpPr>
        <p:spPr>
          <a:xfrm>
            <a:off x="8705088" y="1225296"/>
            <a:ext cx="3136392" cy="27432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150" b="1" i="0">
                <a:solidFill>
                  <a:srgbClr val="0F2B46"/>
                </a:solidFill>
                <a:latin typeface="Calibri"/>
              </a:rPr>
              <a:t>How it addresses the problem</a:t>
            </a:r>
          </a:p>
        </p:txBody>
      </p:sp>
      <p:sp>
        <p:nvSpPr>
          <p:cNvPr id="15369" name="Rounded Rectangle 15368"/>
          <p:cNvSpPr/>
          <p:nvPr/>
        </p:nvSpPr>
        <p:spPr>
          <a:xfrm>
            <a:off x="8705088" y="1536192"/>
            <a:ext cx="3136392" cy="2084831"/>
          </a:xfrm>
          <a:prstGeom prst="roundRect">
            <a:avLst>
              <a:gd name="adj" fmla="val 8000"/>
            </a:avLst>
          </a:prstGeom>
          <a:solidFill>
            <a:srgbClr val="EEF4F9"/>
          </a:solidFill>
          <a:ln w="11430">
            <a:solidFill>
              <a:srgbClr val="C9D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/>
          </a:p>
        </p:txBody>
      </p:sp>
      <p:sp>
        <p:nvSpPr>
          <p:cNvPr id="15370" name="TextBox 15369"/>
          <p:cNvSpPr txBox="1"/>
          <p:nvPr/>
        </p:nvSpPr>
        <p:spPr>
          <a:xfrm>
            <a:off x="8814815" y="1627632"/>
            <a:ext cx="2916936" cy="1901952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500"/>
              </a:spcAft>
            </a:pPr>
            <a:r>
              <a:rPr sz="900" b="0" i="0">
                <a:solidFill>
                  <a:srgbClr val="1F2933"/>
                </a:solidFill>
                <a:latin typeface="Calibri"/>
              </a:rPr>
              <a:t>▪ Engineered dam break </a:t>
            </a:r>
            <a:r>
              <a:rPr sz="900" b="1" i="0">
                <a:solidFill>
                  <a:srgbClr val="1F2933"/>
                </a:solidFill>
                <a:latin typeface="Calibri"/>
              </a:rPr>
              <a:t>and</a:t>
            </a:r>
            <a:r>
              <a:rPr sz="900" b="0" i="0">
                <a:solidFill>
                  <a:srgbClr val="1F2933"/>
                </a:solidFill>
                <a:latin typeface="Calibri"/>
              </a:rPr>
              <a:t> natural landslide-dam blockage, one pipeline.</a:t>
            </a:r>
          </a:p>
          <a:p>
            <a:pPr algn="l">
              <a:lnSpc>
                <a:spcPct val="95000"/>
              </a:lnSpc>
              <a:spcAft>
                <a:spcPts val="500"/>
              </a:spcAft>
            </a:pPr>
            <a:r>
              <a:rPr sz="900" b="0" i="0">
                <a:solidFill>
                  <a:srgbClr val="1F2933"/>
                </a:solidFill>
                <a:latin typeface="Calibri"/>
              </a:rPr>
              <a:t>▪ GUI for input and tiled output; </a:t>
            </a:r>
            <a:r>
              <a:rPr sz="900" b="1" i="0">
                <a:solidFill>
                  <a:srgbClr val="1F2933"/>
                </a:solidFill>
                <a:latin typeface="Calibri"/>
              </a:rPr>
              <a:t>.shp / .kml export</a:t>
            </a:r>
            <a:r>
              <a:rPr sz="900" b="0" i="0">
                <a:solidFill>
                  <a:srgbClr val="1F2933"/>
                </a:solidFill>
                <a:latin typeface="Calibri"/>
              </a:rPr>
              <a:t> exactly as the PS asks.</a:t>
            </a:r>
          </a:p>
          <a:p>
            <a:pPr algn="l">
              <a:lnSpc>
                <a:spcPct val="95000"/>
              </a:lnSpc>
              <a:spcAft>
                <a:spcPts val="500"/>
              </a:spcAft>
            </a:pPr>
            <a:r>
              <a:rPr sz="900" b="0" i="0">
                <a:solidFill>
                  <a:srgbClr val="1F2933"/>
                </a:solidFill>
                <a:latin typeface="Calibri"/>
              </a:rPr>
              <a:t>▪ Any DEM, any AOI, any Indian dam — five presets plus custom coordinates.</a:t>
            </a:r>
          </a:p>
          <a:p>
            <a:pPr algn="l">
              <a:lnSpc>
                <a:spcPct val="95000"/>
              </a:lnSpc>
              <a:spcAft>
                <a:spcPts val="500"/>
              </a:spcAft>
            </a:pPr>
            <a:r>
              <a:rPr sz="900" b="0" i="0">
                <a:solidFill>
                  <a:srgbClr val="1F2933"/>
                </a:solidFill>
                <a:latin typeface="Calibri"/>
              </a:rPr>
              <a:t>▪ Sentinel-1 SAR loop scores simulated extent against </a:t>
            </a:r>
            <a:r>
              <a:rPr sz="900" b="1" i="0">
                <a:solidFill>
                  <a:srgbClr val="1F2933"/>
                </a:solidFill>
                <a:latin typeface="Calibri"/>
              </a:rPr>
              <a:t>observed</a:t>
            </a:r>
            <a:r>
              <a:rPr sz="900" b="0" i="0">
                <a:solidFill>
                  <a:srgbClr val="1F2933"/>
                </a:solidFill>
                <a:latin typeface="Calibri"/>
              </a:rPr>
              <a:t> flood extent.</a:t>
            </a:r>
          </a:p>
          <a:p>
            <a:pPr algn="l">
              <a:lnSpc>
                <a:spcPct val="95000"/>
              </a:lnSpc>
              <a:spcAft>
                <a:spcPts val="500"/>
              </a:spcAft>
            </a:pPr>
            <a:r>
              <a:rPr sz="900" b="0" i="0">
                <a:solidFill>
                  <a:srgbClr val="1F2933"/>
                </a:solidFill>
                <a:latin typeface="Calibri"/>
              </a:rPr>
              <a:t>▪ Runs </a:t>
            </a:r>
            <a:r>
              <a:rPr sz="900" b="1" i="0">
                <a:solidFill>
                  <a:srgbClr val="1F2933"/>
                </a:solidFill>
                <a:latin typeface="Calibri"/>
              </a:rPr>
              <a:t>offline from cache</a:t>
            </a:r>
            <a:r>
              <a:rPr sz="900" b="0" i="0">
                <a:solidFill>
                  <a:srgbClr val="1F2933"/>
                </a:solidFill>
                <a:latin typeface="Calibri"/>
              </a:rPr>
              <a:t> after first fetch — demo-day networks assumed hostile.</a:t>
            </a:r>
          </a:p>
        </p:txBody>
      </p:sp>
      <p:sp>
        <p:nvSpPr>
          <p:cNvPr id="15371" name="TextBox 15370"/>
          <p:cNvSpPr txBox="1"/>
          <p:nvPr/>
        </p:nvSpPr>
        <p:spPr>
          <a:xfrm>
            <a:off x="8705088" y="3730752"/>
            <a:ext cx="3136392" cy="27432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150" b="1" i="0">
                <a:solidFill>
                  <a:srgbClr val="0F2B46"/>
                </a:solidFill>
                <a:latin typeface="Calibri"/>
              </a:rPr>
              <a:t>Innovation and uniqueness of the solution</a:t>
            </a:r>
          </a:p>
        </p:txBody>
      </p:sp>
      <p:sp>
        <p:nvSpPr>
          <p:cNvPr id="15372" name="Rounded Rectangle 15371"/>
          <p:cNvSpPr/>
          <p:nvPr/>
        </p:nvSpPr>
        <p:spPr>
          <a:xfrm>
            <a:off x="8705088" y="4041648"/>
            <a:ext cx="3136392" cy="2395728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 w="11430">
            <a:solidFill>
              <a:srgbClr val="ECD3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/>
          </a:p>
        </p:txBody>
      </p:sp>
      <p:sp>
        <p:nvSpPr>
          <p:cNvPr id="15373" name="TextBox 15372"/>
          <p:cNvSpPr txBox="1"/>
          <p:nvPr/>
        </p:nvSpPr>
        <p:spPr>
          <a:xfrm>
            <a:off x="8814815" y="4114800"/>
            <a:ext cx="2916936" cy="1828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40" b="0" i="0">
                <a:solidFill>
                  <a:srgbClr val="1F2933"/>
                </a:solidFill>
                <a:latin typeface="Calibri"/>
              </a:rPr>
              <a:t>Against how Tier-1 screening is done today:</a:t>
            </a:r>
          </a:p>
        </p:txBody>
      </p:sp>
      <p:graphicFrame>
        <p:nvGraphicFramePr>
          <p:cNvPr id="15374" name="Table 15373"/>
          <p:cNvGraphicFramePr>
            <a:graphicFrameLocks noGrp="1"/>
          </p:cNvGraphicFramePr>
          <p:nvPr/>
        </p:nvGraphicFramePr>
        <p:xfrm>
          <a:off x="8814815" y="4315968"/>
          <a:ext cx="2916936" cy="12344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17320"/>
                <a:gridCol w="1499616"/>
              </a:tblGrid>
              <a:tr h="205740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770" b="1" i="0">
                          <a:solidFill>
                            <a:srgbClr val="FFFFFF"/>
                          </a:solidFill>
                          <a:latin typeface="Calibri"/>
                        </a:rPr>
                        <a:t>Current practice</a:t>
                      </a:r>
                    </a:p>
                  </a:txBody>
                  <a:tcPr marL="64008" marR="64008" marT="13716" marB="13716" anchor="ctr">
                    <a:solidFill>
                      <a:srgbClr val="B02E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770" b="1" i="0">
                          <a:solidFill>
                            <a:srgbClr val="FFFFFF"/>
                          </a:solidFill>
                          <a:latin typeface="Calibri"/>
                        </a:rPr>
                        <a:t>JalRaksha</a:t>
                      </a:r>
                    </a:p>
                  </a:txBody>
                  <a:tcPr marL="64008" marR="64008" marT="13716" marB="13716" anchor="ctr">
                    <a:solidFill>
                      <a:srgbClr val="B02E2A"/>
                    </a:solidFill>
                  </a:tcPr>
                </a:tc>
              </a:tr>
              <a:tr h="205740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770" b="0" i="0">
                          <a:solidFill>
                            <a:srgbClr val="1F2933"/>
                          </a:solidFill>
                          <a:latin typeface="Calibri"/>
                        </a:rPr>
                        <a:t>Weeks of specialist setup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770" b="0" i="0">
                          <a:solidFill>
                            <a:srgbClr val="1F2933"/>
                          </a:solidFill>
                          <a:latin typeface="Calibri"/>
                        </a:rPr>
                        <a:t>Minutes, 4 inputs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770" b="0" i="0">
                          <a:solidFill>
                            <a:srgbClr val="1F2933"/>
                          </a:solidFill>
                          <a:latin typeface="Calibri"/>
                        </a:rPr>
                        <a:t>Licence + field survey</a:t>
                      </a:r>
                    </a:p>
                  </a:txBody>
                  <a:tcPr marL="64008" marR="64008" marT="13716" marB="13716" anchor="ctr">
                    <a:solidFill>
                      <a:srgbClr val="EEF4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770" b="0" i="0">
                          <a:solidFill>
                            <a:srgbClr val="1F2933"/>
                          </a:solidFill>
                          <a:latin typeface="Calibri"/>
                        </a:rPr>
                        <a:t>Free data, no survey</a:t>
                      </a:r>
                    </a:p>
                  </a:txBody>
                  <a:tcPr marL="64008" marR="64008" marT="13716" marB="13716" anchor="ctr">
                    <a:solidFill>
                      <a:srgbClr val="EEF4F9"/>
                    </a:solidFill>
                  </a:tcPr>
                </a:tc>
              </a:tr>
              <a:tr h="205740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770" b="0" i="0">
                          <a:solidFill>
                            <a:srgbClr val="1F2933"/>
                          </a:solidFill>
                          <a:latin typeface="Calibri"/>
                        </a:rPr>
                        <a:t>No independent check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770" b="0" i="0">
                          <a:solidFill>
                            <a:srgbClr val="1F2933"/>
                          </a:solidFill>
                          <a:latin typeface="Calibri"/>
                        </a:rPr>
                        <a:t>Scored vs Delft3D FM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770" b="0" i="0">
                          <a:solidFill>
                            <a:srgbClr val="1F2933"/>
                          </a:solidFill>
                          <a:latin typeface="Calibri"/>
                        </a:rPr>
                        <a:t>One number for peak flow</a:t>
                      </a:r>
                    </a:p>
                  </a:txBody>
                  <a:tcPr marL="64008" marR="64008" marT="13716" marB="13716" anchor="ctr">
                    <a:solidFill>
                      <a:srgbClr val="EEF4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770" b="0" i="0">
                          <a:solidFill>
                            <a:srgbClr val="1F2933"/>
                          </a:solidFill>
                          <a:latin typeface="Calibri"/>
                        </a:rPr>
                        <a:t>p05–p95 band</a:t>
                      </a:r>
                    </a:p>
                  </a:txBody>
                  <a:tcPr marL="64008" marR="64008" marT="13716" marB="13716" anchor="ctr">
                    <a:solidFill>
                      <a:srgbClr val="EEF4F9"/>
                    </a:solidFill>
                  </a:tcPr>
                </a:tc>
              </a:tr>
              <a:tr h="205740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770" b="0" i="0">
                          <a:solidFill>
                            <a:srgbClr val="1F2933"/>
                          </a:solidFill>
                          <a:latin typeface="Calibri"/>
                        </a:rPr>
                        <a:t>Bad SAR scenes drawn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770" b="0" i="0">
                          <a:solidFill>
                            <a:srgbClr val="1F2933"/>
                          </a:solidFill>
                          <a:latin typeface="Calibri"/>
                        </a:rPr>
                        <a:t>Refused at a 0.50 gate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375" name="TextBox 15374"/>
          <p:cNvSpPr txBox="1"/>
          <p:nvPr/>
        </p:nvSpPr>
        <p:spPr>
          <a:xfrm>
            <a:off x="8814815" y="5614416"/>
            <a:ext cx="2916936" cy="7315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840" b="1" i="0">
                <a:solidFill>
                  <a:srgbClr val="1F2933"/>
                </a:solidFill>
                <a:latin typeface="Calibri"/>
              </a:rPr>
              <a:t>The cross-check is the product.</a:t>
            </a:r>
            <a:r>
              <a:rPr sz="840" b="0" i="0">
                <a:solidFill>
                  <a:srgbClr val="1F2933"/>
                </a:solidFill>
                <a:latin typeface="Calibri"/>
              </a:rPr>
              <a:t> The same Ritter dam-break runs through our solver and through a real Deltares kernel, and both are scored against the exact solution. Most entries have no independent check at all.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800" b="1" i="0">
                <a:solidFill>
                  <a:srgbClr val="1F2933"/>
                </a:solidFill>
                <a:latin typeface="Calibri"/>
              </a:rPr>
              <a:t>&lt;TEAM NAME&gt;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320040" y="1170432"/>
            <a:ext cx="11521440" cy="27432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150" b="1" i="0">
                <a:solidFill>
                  <a:srgbClr val="0F2B46"/>
                </a:solidFill>
                <a:latin typeface="Calibri"/>
              </a:rPr>
              <a:t>Technologies to be used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320040" y="1481328"/>
            <a:ext cx="11521440" cy="1389888"/>
          </a:xfrm>
          <a:prstGeom prst="roundRect">
            <a:avLst>
              <a:gd name="adj" fmla="val 8000"/>
            </a:avLst>
          </a:prstGeom>
          <a:solidFill>
            <a:srgbClr val="EEF4F9"/>
          </a:solidFill>
          <a:ln w="11430">
            <a:solidFill>
              <a:srgbClr val="C9D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/>
          </a:p>
        </p:txBody>
      </p:sp>
      <p:sp>
        <p:nvSpPr>
          <p:cNvPr id="17412" name="Rounded Rectangle 17411"/>
          <p:cNvSpPr/>
          <p:nvPr/>
        </p:nvSpPr>
        <p:spPr>
          <a:xfrm>
            <a:off x="457200" y="1572768"/>
            <a:ext cx="1060704" cy="201168"/>
          </a:xfrm>
          <a:prstGeom prst="roundRect">
            <a:avLst>
              <a:gd name="adj" fmla="val 22000"/>
            </a:avLst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780" b="1" i="0">
                <a:solidFill>
                  <a:srgbClr val="FFFFFF"/>
                </a:solidFill>
                <a:latin typeface="Calibri"/>
              </a:rPr>
              <a:t>SOLVERS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457200" y="1801368"/>
            <a:ext cx="3703320" cy="475488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97000"/>
              </a:lnSpc>
              <a:spcAft>
                <a:spcPts val="0"/>
              </a:spcAft>
            </a:pPr>
            <a:r>
              <a:rPr sz="800" b="0" i="0">
                <a:solidFill>
                  <a:srgbClr val="1F2933"/>
                </a:solidFill>
                <a:latin typeface="Calibri"/>
              </a:rPr>
              <a:t>In-house </a:t>
            </a:r>
            <a:r>
              <a:rPr sz="800" b="1" i="0">
                <a:solidFill>
                  <a:srgbClr val="1F2933"/>
                </a:solidFill>
                <a:latin typeface="Calibri"/>
              </a:rPr>
              <a:t>2D shallow-water finite volume</a:t>
            </a:r>
            <a:r>
              <a:rPr sz="800" b="0" i="0">
                <a:solidFill>
                  <a:srgbClr val="1F2933"/>
                </a:solidFill>
                <a:latin typeface="Calibri"/>
              </a:rPr>
              <a:t> — HLLC flux · Audusse hydrostatic reconstruction · MUSCL/minmod on η = b + h. </a:t>
            </a:r>
            <a:r>
              <a:rPr sz="800" b="1" i="0">
                <a:solidFill>
                  <a:srgbClr val="1F2933"/>
                </a:solidFill>
                <a:latin typeface="Calibri"/>
              </a:rPr>
              <a:t>SPH</a:t>
            </a:r>
            <a:r>
              <a:rPr sz="800" b="0" i="0">
                <a:solidFill>
                  <a:srgbClr val="1F2933"/>
                </a:solidFill>
                <a:latin typeface="Calibri"/>
              </a:rPr>
              <a:t> near field. </a:t>
            </a:r>
            <a:r>
              <a:rPr sz="800" b="1" i="0">
                <a:solidFill>
                  <a:srgbClr val="1F2933"/>
                </a:solidFill>
                <a:latin typeface="Calibri"/>
              </a:rPr>
              <a:t>Delft3D FM</a:t>
            </a:r>
            <a:r>
              <a:rPr sz="800" b="0" i="0">
                <a:solidFill>
                  <a:srgbClr val="1F2933"/>
                </a:solidFill>
                <a:latin typeface="Calibri"/>
              </a:rPr>
              <a:t> (dflowfm-cli) as reference kernel.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4297680" y="1572768"/>
            <a:ext cx="1060704" cy="201168"/>
          </a:xfrm>
          <a:prstGeom prst="roundRect">
            <a:avLst>
              <a:gd name="adj" fmla="val 22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780" b="1" i="0">
                <a:solidFill>
                  <a:srgbClr val="FFFFFF"/>
                </a:solidFill>
                <a:latin typeface="Calibri"/>
              </a:rPr>
              <a:t>OPEN DATA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4297680" y="1801368"/>
            <a:ext cx="3703320" cy="475488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97000"/>
              </a:lnSpc>
              <a:spcAft>
                <a:spcPts val="0"/>
              </a:spcAft>
            </a:pPr>
            <a:r>
              <a:rPr sz="800" b="0" i="0">
                <a:solidFill>
                  <a:srgbClr val="1F2933"/>
                </a:solidFill>
                <a:latin typeface="Calibri"/>
              </a:rPr>
              <a:t>Copernicus </a:t>
            </a:r>
            <a:r>
              <a:rPr sz="800" b="1" i="0">
                <a:solidFill>
                  <a:srgbClr val="1F2933"/>
                </a:solidFill>
                <a:latin typeface="Calibri"/>
              </a:rPr>
              <a:t>GLO-30</a:t>
            </a:r>
            <a:r>
              <a:rPr sz="800" b="0" i="0">
                <a:solidFill>
                  <a:srgbClr val="1F2933"/>
                </a:solidFill>
                <a:latin typeface="Calibri"/>
              </a:rPr>
              <a:t> from public AWS COGs · </a:t>
            </a:r>
            <a:r>
              <a:rPr sz="800" b="1" i="0">
                <a:solidFill>
                  <a:srgbClr val="1F2933"/>
                </a:solidFill>
                <a:latin typeface="Calibri"/>
              </a:rPr>
              <a:t>GHSL P2023A</a:t>
            </a:r>
            <a:r>
              <a:rPr sz="800" b="0" i="0">
                <a:solidFill>
                  <a:srgbClr val="1F2933"/>
                </a:solidFill>
                <a:latin typeface="Calibri"/>
              </a:rPr>
              <a:t> · </a:t>
            </a:r>
            <a:r>
              <a:rPr sz="800" b="1" i="0">
                <a:solidFill>
                  <a:srgbClr val="1F2933"/>
                </a:solidFill>
                <a:latin typeface="Calibri"/>
              </a:rPr>
              <a:t>Sentinel-1 GRD</a:t>
            </a:r>
            <a:r>
              <a:rPr sz="800" b="0" i="0">
                <a:solidFill>
                  <a:srgbClr val="1F2933"/>
                </a:solidFill>
                <a:latin typeface="Calibri"/>
              </a:rPr>
              <a:t> · JRC Global Surface Water · ESA WorldCover · CWC NRLD/NRSD. None login-gated.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8138160" y="1572768"/>
            <a:ext cx="1060704" cy="201168"/>
          </a:xfrm>
          <a:prstGeom prst="roundRect">
            <a:avLst>
              <a:gd name="adj" fmla="val 22000"/>
            </a:avLst>
          </a:prstGeom>
          <a:solidFill>
            <a:srgbClr val="B0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780" b="1" i="0">
                <a:solidFill>
                  <a:srgbClr val="FFFFFF"/>
                </a:solidFill>
                <a:latin typeface="Calibri"/>
              </a:rPr>
              <a:t>PROOF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8138160" y="1801368"/>
            <a:ext cx="3703320" cy="475488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97000"/>
              </a:lnSpc>
              <a:spcAft>
                <a:spcPts val="0"/>
              </a:spcAft>
            </a:pPr>
            <a:r>
              <a:rPr sz="800" b="0" i="0">
                <a:solidFill>
                  <a:srgbClr val="1F2933"/>
                </a:solidFill>
                <a:latin typeface="Calibri"/>
              </a:rPr>
              <a:t>Monte-Carlo over four breach regressions with Wahl bands. </a:t>
            </a:r>
            <a:r>
              <a:rPr sz="800" b="1" i="0">
                <a:solidFill>
                  <a:srgbClr val="1F2933"/>
                </a:solidFill>
                <a:latin typeface="Calibri"/>
              </a:rPr>
              <a:t>pytest gates</a:t>
            </a:r>
            <a:r>
              <a:rPr sz="800" b="0" i="0">
                <a:solidFill>
                  <a:srgbClr val="1F2933"/>
                </a:solidFill>
                <a:latin typeface="Calibri"/>
              </a:rPr>
              <a:t> — analytical, lake-at-rest, mass conservation and the Delft3D FM cross-check, all currently passing.</a:t>
            </a:r>
          </a:p>
        </p:txBody>
      </p:sp>
      <p:pic>
        <p:nvPicPr>
          <p:cNvPr id="17418" name="Picture 17417" descr="pyth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560" y="2340864"/>
            <a:ext cx="237744" cy="237744"/>
          </a:xfrm>
          <a:prstGeom prst="rect">
            <a:avLst/>
          </a:prstGeom>
        </p:spPr>
      </p:pic>
      <p:sp>
        <p:nvSpPr>
          <p:cNvPr id="17419" name="TextBox 17418"/>
          <p:cNvSpPr txBox="1"/>
          <p:nvPr/>
        </p:nvSpPr>
        <p:spPr>
          <a:xfrm>
            <a:off x="457200" y="2624328"/>
            <a:ext cx="1022465" cy="146304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640" b="0" i="0">
                <a:solidFill>
                  <a:srgbClr val="5A6672"/>
                </a:solidFill>
                <a:latin typeface="Calibri"/>
              </a:rPr>
              <a:t>Python</a:t>
            </a:r>
          </a:p>
        </p:txBody>
      </p:sp>
      <p:pic>
        <p:nvPicPr>
          <p:cNvPr id="17420" name="Picture 17419" descr="nump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2026" y="2340864"/>
            <a:ext cx="237744" cy="237744"/>
          </a:xfrm>
          <a:prstGeom prst="rect">
            <a:avLst/>
          </a:prstGeom>
        </p:spPr>
      </p:pic>
      <p:sp>
        <p:nvSpPr>
          <p:cNvPr id="17421" name="TextBox 17420"/>
          <p:cNvSpPr txBox="1"/>
          <p:nvPr/>
        </p:nvSpPr>
        <p:spPr>
          <a:xfrm>
            <a:off x="1479665" y="2624328"/>
            <a:ext cx="1022465" cy="146304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640" b="0" i="0">
                <a:solidFill>
                  <a:srgbClr val="5A6672"/>
                </a:solidFill>
                <a:latin typeface="Calibri"/>
              </a:rPr>
              <a:t>NumPy</a:t>
            </a:r>
          </a:p>
        </p:txBody>
      </p:sp>
      <p:pic>
        <p:nvPicPr>
          <p:cNvPr id="17422" name="Picture 17421" descr="numb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94491" y="2340864"/>
            <a:ext cx="237744" cy="237744"/>
          </a:xfrm>
          <a:prstGeom prst="rect">
            <a:avLst/>
          </a:prstGeom>
        </p:spPr>
      </p:pic>
      <p:sp>
        <p:nvSpPr>
          <p:cNvPr id="17423" name="TextBox 17422"/>
          <p:cNvSpPr txBox="1"/>
          <p:nvPr/>
        </p:nvSpPr>
        <p:spPr>
          <a:xfrm>
            <a:off x="2502130" y="2624328"/>
            <a:ext cx="1022465" cy="146304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640" b="0" i="0">
                <a:solidFill>
                  <a:srgbClr val="5A6672"/>
                </a:solidFill>
                <a:latin typeface="Calibri"/>
              </a:rPr>
              <a:t>Numba</a:t>
            </a:r>
          </a:p>
        </p:txBody>
      </p:sp>
      <p:pic>
        <p:nvPicPr>
          <p:cNvPr id="17424" name="Picture 17423" descr="gd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16957" y="2340864"/>
            <a:ext cx="237744" cy="237744"/>
          </a:xfrm>
          <a:prstGeom prst="rect">
            <a:avLst/>
          </a:prstGeom>
        </p:spPr>
      </p:pic>
      <p:sp>
        <p:nvSpPr>
          <p:cNvPr id="17425" name="TextBox 17424"/>
          <p:cNvSpPr txBox="1"/>
          <p:nvPr/>
        </p:nvSpPr>
        <p:spPr>
          <a:xfrm>
            <a:off x="3524596" y="2624328"/>
            <a:ext cx="1022465" cy="146304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640" b="0" i="0">
                <a:solidFill>
                  <a:srgbClr val="5A6672"/>
                </a:solidFill>
                <a:latin typeface="Calibri"/>
              </a:rPr>
              <a:t>GDAL</a:t>
            </a:r>
          </a:p>
        </p:txBody>
      </p:sp>
      <p:pic>
        <p:nvPicPr>
          <p:cNvPr id="17426" name="Picture 17425" descr="fastapi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9422" y="2340864"/>
            <a:ext cx="237744" cy="237744"/>
          </a:xfrm>
          <a:prstGeom prst="rect">
            <a:avLst/>
          </a:prstGeom>
        </p:spPr>
      </p:pic>
      <p:sp>
        <p:nvSpPr>
          <p:cNvPr id="17427" name="TextBox 17426"/>
          <p:cNvSpPr txBox="1"/>
          <p:nvPr/>
        </p:nvSpPr>
        <p:spPr>
          <a:xfrm>
            <a:off x="4547061" y="2624328"/>
            <a:ext cx="1022465" cy="146304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640" b="0" i="0">
                <a:solidFill>
                  <a:srgbClr val="5A6672"/>
                </a:solidFill>
                <a:latin typeface="Calibri"/>
              </a:rPr>
              <a:t>FastAPI</a:t>
            </a:r>
          </a:p>
        </p:txBody>
      </p:sp>
      <p:pic>
        <p:nvPicPr>
          <p:cNvPr id="17428" name="Picture 17427" descr="sql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61888" y="2340864"/>
            <a:ext cx="237744" cy="237744"/>
          </a:xfrm>
          <a:prstGeom prst="rect">
            <a:avLst/>
          </a:prstGeom>
        </p:spPr>
      </p:pic>
      <p:sp>
        <p:nvSpPr>
          <p:cNvPr id="17429" name="TextBox 17428"/>
          <p:cNvSpPr txBox="1"/>
          <p:nvPr/>
        </p:nvSpPr>
        <p:spPr>
          <a:xfrm>
            <a:off x="5569527" y="2624328"/>
            <a:ext cx="1022465" cy="146304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640" b="0" i="0">
                <a:solidFill>
                  <a:srgbClr val="5A6672"/>
                </a:solidFill>
                <a:latin typeface="Calibri"/>
              </a:rPr>
              <a:t>SQLite</a:t>
            </a:r>
          </a:p>
        </p:txBody>
      </p:sp>
      <p:pic>
        <p:nvPicPr>
          <p:cNvPr id="17430" name="Picture 17429" descr="reac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84353" y="2340864"/>
            <a:ext cx="237744" cy="237744"/>
          </a:xfrm>
          <a:prstGeom prst="rect">
            <a:avLst/>
          </a:prstGeom>
        </p:spPr>
      </p:pic>
      <p:sp>
        <p:nvSpPr>
          <p:cNvPr id="17431" name="TextBox 17430"/>
          <p:cNvSpPr txBox="1"/>
          <p:nvPr/>
        </p:nvSpPr>
        <p:spPr>
          <a:xfrm>
            <a:off x="6591992" y="2624328"/>
            <a:ext cx="1022465" cy="146304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640" b="0" i="0">
                <a:solidFill>
                  <a:srgbClr val="5A6672"/>
                </a:solidFill>
                <a:latin typeface="Calibri"/>
              </a:rPr>
              <a:t>React</a:t>
            </a:r>
          </a:p>
        </p:txBody>
      </p:sp>
      <p:pic>
        <p:nvPicPr>
          <p:cNvPr id="17432" name="Picture 17431" descr="leafle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06818" y="2340864"/>
            <a:ext cx="237744" cy="237744"/>
          </a:xfrm>
          <a:prstGeom prst="rect">
            <a:avLst/>
          </a:prstGeom>
        </p:spPr>
      </p:pic>
      <p:sp>
        <p:nvSpPr>
          <p:cNvPr id="17433" name="TextBox 17432"/>
          <p:cNvSpPr txBox="1"/>
          <p:nvPr/>
        </p:nvSpPr>
        <p:spPr>
          <a:xfrm>
            <a:off x="7614458" y="2624328"/>
            <a:ext cx="1022465" cy="146304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640" b="0" i="0">
                <a:solidFill>
                  <a:srgbClr val="5A6672"/>
                </a:solidFill>
                <a:latin typeface="Calibri"/>
              </a:rPr>
              <a:t>Leaflet</a:t>
            </a:r>
          </a:p>
        </p:txBody>
      </p:sp>
      <p:pic>
        <p:nvPicPr>
          <p:cNvPr id="17434" name="Picture 17433" descr="cesium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29284" y="2340864"/>
            <a:ext cx="237744" cy="237744"/>
          </a:xfrm>
          <a:prstGeom prst="rect">
            <a:avLst/>
          </a:prstGeom>
        </p:spPr>
      </p:pic>
      <p:sp>
        <p:nvSpPr>
          <p:cNvPr id="17435" name="TextBox 17434"/>
          <p:cNvSpPr txBox="1"/>
          <p:nvPr/>
        </p:nvSpPr>
        <p:spPr>
          <a:xfrm>
            <a:off x="8636923" y="2624328"/>
            <a:ext cx="1022465" cy="146304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640" b="0" i="0">
                <a:solidFill>
                  <a:srgbClr val="5A6672"/>
                </a:solidFill>
                <a:latin typeface="Calibri"/>
              </a:rPr>
              <a:t>Cesium</a:t>
            </a:r>
          </a:p>
        </p:txBody>
      </p:sp>
      <p:pic>
        <p:nvPicPr>
          <p:cNvPr id="17436" name="Picture 17435" descr="googleearthengin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051749" y="2340864"/>
            <a:ext cx="237744" cy="237744"/>
          </a:xfrm>
          <a:prstGeom prst="rect">
            <a:avLst/>
          </a:prstGeom>
        </p:spPr>
      </p:pic>
      <p:sp>
        <p:nvSpPr>
          <p:cNvPr id="17437" name="TextBox 17436"/>
          <p:cNvSpPr txBox="1"/>
          <p:nvPr/>
        </p:nvSpPr>
        <p:spPr>
          <a:xfrm>
            <a:off x="9659389" y="2624328"/>
            <a:ext cx="1022465" cy="146304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640" b="0" i="0">
                <a:solidFill>
                  <a:srgbClr val="5A6672"/>
                </a:solidFill>
                <a:latin typeface="Calibri"/>
              </a:rPr>
              <a:t>Earth Engine</a:t>
            </a:r>
          </a:p>
        </p:txBody>
      </p:sp>
      <p:pic>
        <p:nvPicPr>
          <p:cNvPr id="17438" name="Picture 17437" descr="pytest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074215" y="2340864"/>
            <a:ext cx="237744" cy="237744"/>
          </a:xfrm>
          <a:prstGeom prst="rect">
            <a:avLst/>
          </a:prstGeom>
        </p:spPr>
      </p:pic>
      <p:sp>
        <p:nvSpPr>
          <p:cNvPr id="17439" name="TextBox 17438"/>
          <p:cNvSpPr txBox="1"/>
          <p:nvPr/>
        </p:nvSpPr>
        <p:spPr>
          <a:xfrm>
            <a:off x="10681854" y="2624328"/>
            <a:ext cx="1022465" cy="146304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640" b="0" i="0">
                <a:solidFill>
                  <a:srgbClr val="5A6672"/>
                </a:solidFill>
                <a:latin typeface="Calibri"/>
              </a:rPr>
              <a:t>pytest</a:t>
            </a:r>
          </a:p>
        </p:txBody>
      </p:sp>
      <p:sp>
        <p:nvSpPr>
          <p:cNvPr id="17440" name="TextBox 17439"/>
          <p:cNvSpPr txBox="1"/>
          <p:nvPr/>
        </p:nvSpPr>
        <p:spPr>
          <a:xfrm>
            <a:off x="320040" y="2962656"/>
            <a:ext cx="11521440" cy="27432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150" b="1" i="0">
                <a:solidFill>
                  <a:srgbClr val="0F2B46"/>
                </a:solidFill>
                <a:latin typeface="Calibri"/>
              </a:rPr>
              <a:t>Methodology and process for implementation</a:t>
            </a:r>
          </a:p>
        </p:txBody>
      </p:sp>
      <p:sp>
        <p:nvSpPr>
          <p:cNvPr id="17441" name="Rounded Rectangle 17440"/>
          <p:cNvSpPr/>
          <p:nvPr/>
        </p:nvSpPr>
        <p:spPr>
          <a:xfrm>
            <a:off x="320040" y="3310128"/>
            <a:ext cx="2880360" cy="2578608"/>
          </a:xfrm>
          <a:prstGeom prst="roundRect">
            <a:avLst>
              <a:gd name="adj" fmla="val 8000"/>
            </a:avLst>
          </a:prstGeom>
          <a:solidFill>
            <a:srgbClr val="EEF4F9"/>
          </a:solidFill>
          <a:ln w="11430">
            <a:solidFill>
              <a:srgbClr val="C9D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/>
          </a:p>
        </p:txBody>
      </p:sp>
      <p:sp>
        <p:nvSpPr>
          <p:cNvPr id="17442" name="TextBox 17441"/>
          <p:cNvSpPr txBox="1"/>
          <p:nvPr/>
        </p:nvSpPr>
        <p:spPr>
          <a:xfrm>
            <a:off x="411479" y="3364992"/>
            <a:ext cx="2697479" cy="201168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819" b="1" i="0">
                <a:solidFill>
                  <a:srgbClr val="0E7C7B"/>
                </a:solidFill>
                <a:latin typeface="Calibri"/>
              </a:rPr>
              <a:t>INGEST  —  open data, no login</a:t>
            </a:r>
          </a:p>
        </p:txBody>
      </p:sp>
      <p:sp>
        <p:nvSpPr>
          <p:cNvPr id="17443" name="Rectangle 17442"/>
          <p:cNvSpPr/>
          <p:nvPr/>
        </p:nvSpPr>
        <p:spPr>
          <a:xfrm>
            <a:off x="448056" y="3602736"/>
            <a:ext cx="2624328" cy="502920"/>
          </a:xfrm>
          <a:prstGeom prst="rect">
            <a:avLst/>
          </a:prstGeom>
          <a:solidFill>
            <a:srgbClr val="FFFFFF"/>
          </a:solidFill>
          <a:ln w="1079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/>
          </a:p>
        </p:txBody>
      </p:sp>
      <p:sp>
        <p:nvSpPr>
          <p:cNvPr id="17444" name="TextBox 17443"/>
          <p:cNvSpPr txBox="1"/>
          <p:nvPr/>
        </p:nvSpPr>
        <p:spPr>
          <a:xfrm>
            <a:off x="502920" y="3648456"/>
            <a:ext cx="2514600" cy="41148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>
              <a:lnSpc>
                <a:spcPct val="94000"/>
              </a:lnSpc>
              <a:spcAft>
                <a:spcPts val="60"/>
              </a:spcAft>
            </a:pPr>
            <a:r>
              <a:rPr sz="740" b="1" i="0">
                <a:solidFill>
                  <a:srgbClr val="1F2933"/>
                </a:solidFill>
                <a:latin typeface="Calibri"/>
              </a:rPr>
              <a:t>Operator input</a:t>
            </a:r>
          </a:p>
          <a:p>
            <a:pPr algn="ctr">
              <a:lnSpc>
                <a:spcPct val="94000"/>
              </a:lnSpc>
              <a:spcAft>
                <a:spcPts val="60"/>
              </a:spcAft>
            </a:pPr>
            <a:r>
              <a:rPr sz="740" b="0" i="0">
                <a:solidFill>
                  <a:srgbClr val="1F2933"/>
                </a:solidFill>
                <a:latin typeface="Calibri"/>
              </a:rPr>
              <a:t>lat/lon · height · storage · breach mode</a:t>
            </a:r>
          </a:p>
        </p:txBody>
      </p:sp>
      <p:sp>
        <p:nvSpPr>
          <p:cNvPr id="17445" name="Rectangle 17444"/>
          <p:cNvSpPr/>
          <p:nvPr/>
        </p:nvSpPr>
        <p:spPr>
          <a:xfrm>
            <a:off x="448056" y="4160520"/>
            <a:ext cx="2624328" cy="502920"/>
          </a:xfrm>
          <a:prstGeom prst="rect">
            <a:avLst/>
          </a:prstGeom>
          <a:solidFill>
            <a:srgbClr val="FFFFFF"/>
          </a:solidFill>
          <a:ln w="1079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/>
          </a:p>
        </p:txBody>
      </p:sp>
      <p:sp>
        <p:nvSpPr>
          <p:cNvPr id="17446" name="TextBox 17445"/>
          <p:cNvSpPr txBox="1"/>
          <p:nvPr/>
        </p:nvSpPr>
        <p:spPr>
          <a:xfrm>
            <a:off x="502920" y="4206240"/>
            <a:ext cx="2514600" cy="41148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>
              <a:lnSpc>
                <a:spcPct val="94000"/>
              </a:lnSpc>
              <a:spcAft>
                <a:spcPts val="60"/>
              </a:spcAft>
            </a:pPr>
            <a:r>
              <a:rPr sz="740" b="1" i="0">
                <a:solidFill>
                  <a:srgbClr val="1F2933"/>
                </a:solidFill>
                <a:latin typeface="Calibri"/>
              </a:rPr>
              <a:t>Copernicus GLO-30</a:t>
            </a:r>
          </a:p>
          <a:p>
            <a:pPr algn="ctr">
              <a:lnSpc>
                <a:spcPct val="94000"/>
              </a:lnSpc>
              <a:spcAft>
                <a:spcPts val="60"/>
              </a:spcAft>
            </a:pPr>
            <a:r>
              <a:rPr sz="740" b="0" i="0">
                <a:solidFill>
                  <a:srgbClr val="1F2933"/>
                </a:solidFill>
                <a:latin typeface="Calibri"/>
              </a:rPr>
              <a:t>30 m DEM, public AWS COGs</a:t>
            </a:r>
          </a:p>
        </p:txBody>
      </p:sp>
      <p:sp>
        <p:nvSpPr>
          <p:cNvPr id="17447" name="Rectangle 17446"/>
          <p:cNvSpPr/>
          <p:nvPr/>
        </p:nvSpPr>
        <p:spPr>
          <a:xfrm>
            <a:off x="448056" y="4718304"/>
            <a:ext cx="2624328" cy="502920"/>
          </a:xfrm>
          <a:prstGeom prst="rect">
            <a:avLst/>
          </a:prstGeom>
          <a:solidFill>
            <a:srgbClr val="FFFFFF"/>
          </a:solidFill>
          <a:ln w="1079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/>
          </a:p>
        </p:txBody>
      </p:sp>
      <p:sp>
        <p:nvSpPr>
          <p:cNvPr id="17448" name="TextBox 17447"/>
          <p:cNvSpPr txBox="1"/>
          <p:nvPr/>
        </p:nvSpPr>
        <p:spPr>
          <a:xfrm>
            <a:off x="502920" y="4764024"/>
            <a:ext cx="2514600" cy="41148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>
              <a:lnSpc>
                <a:spcPct val="94000"/>
              </a:lnSpc>
              <a:spcAft>
                <a:spcPts val="60"/>
              </a:spcAft>
            </a:pPr>
            <a:r>
              <a:rPr sz="740" b="1" i="0">
                <a:solidFill>
                  <a:srgbClr val="1F2933"/>
                </a:solidFill>
                <a:latin typeface="Calibri"/>
              </a:rPr>
              <a:t>Google Earth Engine</a:t>
            </a:r>
          </a:p>
          <a:p>
            <a:pPr algn="ctr">
              <a:lnSpc>
                <a:spcPct val="94000"/>
              </a:lnSpc>
              <a:spcAft>
                <a:spcPts val="60"/>
              </a:spcAft>
            </a:pPr>
            <a:r>
              <a:rPr sz="740" b="0" i="0">
                <a:solidFill>
                  <a:srgbClr val="1F2933"/>
                </a:solidFill>
                <a:latin typeface="Calibri"/>
              </a:rPr>
              <a:t>Sentinel-1 · GHSL P2023A · WorldCover</a:t>
            </a:r>
          </a:p>
        </p:txBody>
      </p:sp>
      <p:sp>
        <p:nvSpPr>
          <p:cNvPr id="17449" name="Magnetic Disk 17448"/>
          <p:cNvSpPr/>
          <p:nvPr/>
        </p:nvSpPr>
        <p:spPr>
          <a:xfrm>
            <a:off x="868680" y="5276088"/>
            <a:ext cx="1783080" cy="457200"/>
          </a:xfrm>
          <a:prstGeom prst="flowChartMagneticDisk">
            <a:avLst/>
          </a:prstGeom>
          <a:solidFill>
            <a:srgbClr val="FFFFFF"/>
          </a:solidFill>
          <a:ln w="10795">
            <a:solidFill>
              <a:srgbClr val="5A66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/>
          </a:p>
        </p:txBody>
      </p:sp>
      <p:sp>
        <p:nvSpPr>
          <p:cNvPr id="17450" name="TextBox 17449"/>
          <p:cNvSpPr txBox="1"/>
          <p:nvPr/>
        </p:nvSpPr>
        <p:spPr>
          <a:xfrm>
            <a:off x="923544" y="5321808"/>
            <a:ext cx="1673352" cy="36576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>
              <a:lnSpc>
                <a:spcPct val="94000"/>
              </a:lnSpc>
              <a:spcAft>
                <a:spcPts val="60"/>
              </a:spcAft>
            </a:pPr>
            <a:r>
              <a:rPr sz="740" b="1" i="0">
                <a:solidFill>
                  <a:srgbClr val="1F2933"/>
                </a:solidFill>
                <a:latin typeface="Calibri"/>
              </a:rPr>
              <a:t>Offline cache</a:t>
            </a:r>
          </a:p>
          <a:p>
            <a:pPr algn="ctr">
              <a:lnSpc>
                <a:spcPct val="94000"/>
              </a:lnSpc>
              <a:spcAft>
                <a:spcPts val="60"/>
              </a:spcAft>
            </a:pPr>
            <a:r>
              <a:rPr sz="740" b="0" i="0">
                <a:solidFill>
                  <a:srgbClr val="1F2933"/>
                </a:solidFill>
                <a:latin typeface="Calibri"/>
              </a:rPr>
              <a:t>COG + SQLite — runs from disk</a:t>
            </a:r>
          </a:p>
        </p:txBody>
      </p:sp>
      <p:sp>
        <p:nvSpPr>
          <p:cNvPr id="17451" name="Rectangle 17450"/>
          <p:cNvSpPr/>
          <p:nvPr/>
        </p:nvSpPr>
        <p:spPr>
          <a:xfrm>
            <a:off x="3255264" y="4498848"/>
            <a:ext cx="457200" cy="16459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2" name="Isosceles Triangle 17451"/>
          <p:cNvSpPr/>
          <p:nvPr/>
        </p:nvSpPr>
        <p:spPr>
          <a:xfrm rot="5400000">
            <a:off x="3694176" y="4424781"/>
            <a:ext cx="137160" cy="164592"/>
          </a:xfrm>
          <a:prstGeom prst="triangle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3" name="TextBox 17452"/>
          <p:cNvSpPr txBox="1"/>
          <p:nvPr/>
        </p:nvSpPr>
        <p:spPr>
          <a:xfrm>
            <a:off x="3200400" y="4169663"/>
            <a:ext cx="685800" cy="292608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630" b="0" i="0">
                <a:solidFill>
                  <a:srgbClr val="5A6672"/>
                </a:solidFill>
                <a:latin typeface="Calibri"/>
              </a:rPr>
              <a:t>conditioned DEM
+ Manning's n</a:t>
            </a:r>
          </a:p>
        </p:txBody>
      </p:sp>
      <p:sp>
        <p:nvSpPr>
          <p:cNvPr id="17454" name="Hexagon 17453"/>
          <p:cNvSpPr/>
          <p:nvPr/>
        </p:nvSpPr>
        <p:spPr>
          <a:xfrm>
            <a:off x="3886200" y="3968496"/>
            <a:ext cx="1325880" cy="1188720"/>
          </a:xfrm>
          <a:prstGeom prst="hexagon">
            <a:avLst/>
          </a:prstGeom>
          <a:solidFill>
            <a:srgbClr val="FFFFFF"/>
          </a:solidFill>
          <a:ln w="10795">
            <a:solidFill>
              <a:srgbClr val="B02E2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/>
          </a:p>
        </p:txBody>
      </p:sp>
      <p:sp>
        <p:nvSpPr>
          <p:cNvPr id="17455" name="TextBox 17454"/>
          <p:cNvSpPr txBox="1"/>
          <p:nvPr/>
        </p:nvSpPr>
        <p:spPr>
          <a:xfrm>
            <a:off x="4032504" y="4014215"/>
            <a:ext cx="1033271" cy="109728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>
              <a:lnSpc>
                <a:spcPct val="94000"/>
              </a:lnSpc>
              <a:spcAft>
                <a:spcPts val="60"/>
              </a:spcAft>
            </a:pPr>
            <a:r>
              <a:rPr sz="740" b="1" i="0">
                <a:solidFill>
                  <a:srgbClr val="1F2933"/>
                </a:solidFill>
                <a:latin typeface="Calibri"/>
              </a:rPr>
              <a:t>BREACH HYDROGRAPH</a:t>
            </a:r>
          </a:p>
          <a:p>
            <a:pPr algn="ctr">
              <a:lnSpc>
                <a:spcPct val="94000"/>
              </a:lnSpc>
              <a:spcAft>
                <a:spcPts val="60"/>
              </a:spcAft>
            </a:pPr>
            <a:r>
              <a:rPr sz="740" b="0" i="0">
                <a:solidFill>
                  <a:srgbClr val="1F2933"/>
                </a:solidFill>
                <a:latin typeface="Calibri"/>
              </a:rPr>
              <a:t>Monte-Carlo over 4 published
regressions — Q(t) with a
p05–p95 band, never one number</a:t>
            </a:r>
          </a:p>
        </p:txBody>
      </p:sp>
      <p:sp>
        <p:nvSpPr>
          <p:cNvPr id="17456" name="Rectangle 17455"/>
          <p:cNvSpPr/>
          <p:nvPr/>
        </p:nvSpPr>
        <p:spPr>
          <a:xfrm>
            <a:off x="5266944" y="4498848"/>
            <a:ext cx="457200" cy="16459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7" name="Isosceles Triangle 17456"/>
          <p:cNvSpPr/>
          <p:nvPr/>
        </p:nvSpPr>
        <p:spPr>
          <a:xfrm rot="5400000">
            <a:off x="5705855" y="4424781"/>
            <a:ext cx="137160" cy="164592"/>
          </a:xfrm>
          <a:prstGeom prst="triangle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8" name="TextBox 17457"/>
          <p:cNvSpPr txBox="1"/>
          <p:nvPr/>
        </p:nvSpPr>
        <p:spPr>
          <a:xfrm>
            <a:off x="5212080" y="4169663"/>
            <a:ext cx="685800" cy="292608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630" b="0" i="0">
                <a:solidFill>
                  <a:srgbClr val="5A6672"/>
                </a:solidFill>
                <a:latin typeface="Calibri"/>
              </a:rPr>
              <a:t>Q(t) at the breach
229,952 m³/s median</a:t>
            </a:r>
          </a:p>
        </p:txBody>
      </p:sp>
      <p:sp>
        <p:nvSpPr>
          <p:cNvPr id="17459" name="Rounded Rectangle 17458"/>
          <p:cNvSpPr/>
          <p:nvPr/>
        </p:nvSpPr>
        <p:spPr>
          <a:xfrm>
            <a:off x="5897880" y="3310128"/>
            <a:ext cx="2788920" cy="2578608"/>
          </a:xfrm>
          <a:prstGeom prst="roundRect">
            <a:avLst>
              <a:gd name="adj" fmla="val 8000"/>
            </a:avLst>
          </a:prstGeom>
          <a:solidFill>
            <a:srgbClr val="EEF4F9"/>
          </a:solidFill>
          <a:ln w="11430">
            <a:solidFill>
              <a:srgbClr val="C9D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/>
          </a:p>
        </p:txBody>
      </p:sp>
      <p:sp>
        <p:nvSpPr>
          <p:cNvPr id="17460" name="TextBox 17459"/>
          <p:cNvSpPr txBox="1"/>
          <p:nvPr/>
        </p:nvSpPr>
        <p:spPr>
          <a:xfrm>
            <a:off x="5989320" y="3364992"/>
            <a:ext cx="2606039" cy="201168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819" b="1" i="0">
                <a:solidFill>
                  <a:srgbClr val="0F2B46"/>
                </a:solidFill>
                <a:latin typeface="Calibri"/>
              </a:rPr>
              <a:t>SOLVE  —  near field + far field</a:t>
            </a:r>
          </a:p>
        </p:txBody>
      </p:sp>
      <p:sp>
        <p:nvSpPr>
          <p:cNvPr id="17461" name="Rectangle 17460"/>
          <p:cNvSpPr/>
          <p:nvPr/>
        </p:nvSpPr>
        <p:spPr>
          <a:xfrm>
            <a:off x="6025896" y="3602736"/>
            <a:ext cx="2532887" cy="658368"/>
          </a:xfrm>
          <a:prstGeom prst="rect">
            <a:avLst/>
          </a:prstGeom>
          <a:solidFill>
            <a:srgbClr val="FFFFFF"/>
          </a:solidFill>
          <a:ln w="10795">
            <a:solidFill>
              <a:srgbClr val="0F2B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/>
          </a:p>
        </p:txBody>
      </p:sp>
      <p:sp>
        <p:nvSpPr>
          <p:cNvPr id="17462" name="TextBox 17461"/>
          <p:cNvSpPr txBox="1"/>
          <p:nvPr/>
        </p:nvSpPr>
        <p:spPr>
          <a:xfrm>
            <a:off x="6080759" y="3648456"/>
            <a:ext cx="2423159" cy="566928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>
              <a:lnSpc>
                <a:spcPct val="94000"/>
              </a:lnSpc>
              <a:spcAft>
                <a:spcPts val="60"/>
              </a:spcAft>
            </a:pPr>
            <a:r>
              <a:rPr sz="740" b="1" i="0">
                <a:solidFill>
                  <a:srgbClr val="1F2933"/>
                </a:solidFill>
                <a:latin typeface="Calibri"/>
              </a:rPr>
              <a:t>Far field — 2D SWE</a:t>
            </a:r>
          </a:p>
          <a:p>
            <a:pPr algn="ctr">
              <a:lnSpc>
                <a:spcPct val="94000"/>
              </a:lnSpc>
              <a:spcAft>
                <a:spcPts val="60"/>
              </a:spcAft>
            </a:pPr>
            <a:r>
              <a:rPr sz="740" b="0" i="0">
                <a:solidFill>
                  <a:srgbClr val="1F2933"/>
                </a:solidFill>
                <a:latin typeface="Calibri"/>
              </a:rPr>
              <a:t>HLLC · Audusse · MUSCL
600×600 cells at 200 m, 3 h</a:t>
            </a:r>
          </a:p>
        </p:txBody>
      </p:sp>
      <p:sp>
        <p:nvSpPr>
          <p:cNvPr id="17463" name="Rectangle 17462"/>
          <p:cNvSpPr/>
          <p:nvPr/>
        </p:nvSpPr>
        <p:spPr>
          <a:xfrm>
            <a:off x="6025896" y="4334256"/>
            <a:ext cx="2532887" cy="658368"/>
          </a:xfrm>
          <a:prstGeom prst="rect">
            <a:avLst/>
          </a:prstGeom>
          <a:solidFill>
            <a:srgbClr val="FFFFFF"/>
          </a:solidFill>
          <a:ln w="1079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/>
          </a:p>
        </p:txBody>
      </p:sp>
      <p:sp>
        <p:nvSpPr>
          <p:cNvPr id="17464" name="TextBox 17463"/>
          <p:cNvSpPr txBox="1"/>
          <p:nvPr/>
        </p:nvSpPr>
        <p:spPr>
          <a:xfrm>
            <a:off x="6080759" y="4379976"/>
            <a:ext cx="2423159" cy="566928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>
              <a:lnSpc>
                <a:spcPct val="94000"/>
              </a:lnSpc>
              <a:spcAft>
                <a:spcPts val="60"/>
              </a:spcAft>
            </a:pPr>
            <a:r>
              <a:rPr sz="740" b="1" i="0">
                <a:solidFill>
                  <a:srgbClr val="1F2933"/>
                </a:solidFill>
                <a:latin typeface="Calibri"/>
              </a:rPr>
              <a:t>Near field — SPH</a:t>
            </a:r>
          </a:p>
          <a:p>
            <a:pPr algn="ctr">
              <a:lnSpc>
                <a:spcPct val="94000"/>
              </a:lnSpc>
              <a:spcAft>
                <a:spcPts val="60"/>
              </a:spcAft>
            </a:pPr>
            <a:r>
              <a:rPr sz="740" b="0" i="0">
                <a:solidFill>
                  <a:srgbClr val="1F2933"/>
                </a:solidFill>
                <a:latin typeface="Calibri"/>
              </a:rPr>
              <a:t>Lagrangian, non-hydrostatic
~600 m over 15 s, one-way</a:t>
            </a:r>
          </a:p>
        </p:txBody>
      </p:sp>
      <p:sp>
        <p:nvSpPr>
          <p:cNvPr id="17465" name="Rectangle 17464"/>
          <p:cNvSpPr/>
          <p:nvPr/>
        </p:nvSpPr>
        <p:spPr>
          <a:xfrm>
            <a:off x="6025896" y="5065776"/>
            <a:ext cx="2532887" cy="658368"/>
          </a:xfrm>
          <a:prstGeom prst="rect">
            <a:avLst/>
          </a:prstGeom>
          <a:solidFill>
            <a:srgbClr val="FFFFFF"/>
          </a:solidFill>
          <a:ln w="10795">
            <a:solidFill>
              <a:srgbClr val="B02E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/>
          </a:p>
        </p:txBody>
      </p:sp>
      <p:sp>
        <p:nvSpPr>
          <p:cNvPr id="17466" name="TextBox 17465"/>
          <p:cNvSpPr txBox="1"/>
          <p:nvPr/>
        </p:nvSpPr>
        <p:spPr>
          <a:xfrm>
            <a:off x="6080759" y="5111496"/>
            <a:ext cx="2423159" cy="566928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>
              <a:lnSpc>
                <a:spcPct val="94000"/>
              </a:lnSpc>
              <a:spcAft>
                <a:spcPts val="60"/>
              </a:spcAft>
            </a:pPr>
            <a:r>
              <a:rPr sz="740" b="1" i="0">
                <a:solidFill>
                  <a:srgbClr val="1F2933"/>
                </a:solidFill>
                <a:latin typeface="Calibri"/>
              </a:rPr>
              <a:t>Delft3D FM</a:t>
            </a:r>
          </a:p>
          <a:p>
            <a:pPr algn="ctr">
              <a:lnSpc>
                <a:spcPct val="94000"/>
              </a:lnSpc>
              <a:spcAft>
                <a:spcPts val="60"/>
              </a:spcAft>
            </a:pPr>
            <a:r>
              <a:rPr sz="740" b="0" i="0">
                <a:solidFill>
                  <a:srgbClr val="1F2933"/>
                </a:solidFill>
                <a:latin typeface="Calibri"/>
              </a:rPr>
              <a:t>dflowfm-cli — 0.0349 m RMSE
against our 0.0317 m</a:t>
            </a:r>
          </a:p>
        </p:txBody>
      </p:sp>
      <p:sp>
        <p:nvSpPr>
          <p:cNvPr id="17467" name="Rectangle 17466"/>
          <p:cNvSpPr/>
          <p:nvPr/>
        </p:nvSpPr>
        <p:spPr>
          <a:xfrm>
            <a:off x="8741664" y="4498848"/>
            <a:ext cx="457200" cy="16459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8" name="Isosceles Triangle 17467"/>
          <p:cNvSpPr/>
          <p:nvPr/>
        </p:nvSpPr>
        <p:spPr>
          <a:xfrm rot="5400000">
            <a:off x="9180576" y="4424781"/>
            <a:ext cx="137160" cy="164592"/>
          </a:xfrm>
          <a:prstGeom prst="triangle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9" name="TextBox 17468"/>
          <p:cNvSpPr txBox="1"/>
          <p:nvPr/>
        </p:nvSpPr>
        <p:spPr>
          <a:xfrm>
            <a:off x="8686800" y="4169663"/>
            <a:ext cx="685800" cy="292608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630" b="0" i="0">
                <a:solidFill>
                  <a:srgbClr val="5A6672"/>
                </a:solidFill>
                <a:latin typeface="Calibri"/>
              </a:rPr>
              <a:t>depth · velocity
· arrival time</a:t>
            </a:r>
          </a:p>
        </p:txBody>
      </p:sp>
      <p:sp>
        <p:nvSpPr>
          <p:cNvPr id="17470" name="Rounded Rectangle 17469"/>
          <p:cNvSpPr/>
          <p:nvPr/>
        </p:nvSpPr>
        <p:spPr>
          <a:xfrm>
            <a:off x="9372600" y="3310128"/>
            <a:ext cx="2468880" cy="2578608"/>
          </a:xfrm>
          <a:prstGeom prst="roundRect">
            <a:avLst>
              <a:gd name="adj" fmla="val 8000"/>
            </a:avLst>
          </a:prstGeom>
          <a:solidFill>
            <a:srgbClr val="EEF4F9"/>
          </a:solidFill>
          <a:ln w="11430">
            <a:solidFill>
              <a:srgbClr val="C9D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/>
          </a:p>
        </p:txBody>
      </p:sp>
      <p:sp>
        <p:nvSpPr>
          <p:cNvPr id="17471" name="TextBox 17470"/>
          <p:cNvSpPr txBox="1"/>
          <p:nvPr/>
        </p:nvSpPr>
        <p:spPr>
          <a:xfrm>
            <a:off x="9464040" y="3364992"/>
            <a:ext cx="2286000" cy="201168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819" b="1" i="0">
                <a:solidFill>
                  <a:srgbClr val="0E7C7B"/>
                </a:solidFill>
                <a:latin typeface="Calibri"/>
              </a:rPr>
              <a:t>DELIVER  —  decision products</a:t>
            </a:r>
          </a:p>
        </p:txBody>
      </p:sp>
      <p:sp>
        <p:nvSpPr>
          <p:cNvPr id="17472" name="Rectangle 17471"/>
          <p:cNvSpPr/>
          <p:nvPr/>
        </p:nvSpPr>
        <p:spPr>
          <a:xfrm>
            <a:off x="9500616" y="3602736"/>
            <a:ext cx="2212848" cy="658368"/>
          </a:xfrm>
          <a:prstGeom prst="rect">
            <a:avLst/>
          </a:prstGeom>
          <a:solidFill>
            <a:srgbClr val="FFFFFF"/>
          </a:solidFill>
          <a:ln w="1079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/>
          </a:p>
        </p:txBody>
      </p:sp>
      <p:sp>
        <p:nvSpPr>
          <p:cNvPr id="17473" name="TextBox 17472"/>
          <p:cNvSpPr txBox="1"/>
          <p:nvPr/>
        </p:nvSpPr>
        <p:spPr>
          <a:xfrm>
            <a:off x="9555480" y="3648456"/>
            <a:ext cx="2103120" cy="566928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>
              <a:lnSpc>
                <a:spcPct val="94000"/>
              </a:lnSpc>
              <a:spcAft>
                <a:spcPts val="60"/>
              </a:spcAft>
            </a:pPr>
            <a:r>
              <a:rPr sz="740" b="1" i="0">
                <a:solidFill>
                  <a:srgbClr val="1F2933"/>
                </a:solidFill>
                <a:latin typeface="Calibri"/>
              </a:rPr>
              <a:t>Impact</a:t>
            </a:r>
          </a:p>
          <a:p>
            <a:pPr algn="ctr">
              <a:lnSpc>
                <a:spcPct val="94000"/>
              </a:lnSpc>
              <a:spcAft>
                <a:spcPts val="60"/>
              </a:spcAft>
            </a:pPr>
            <a:r>
              <a:rPr sz="740" b="0" i="0">
                <a:solidFill>
                  <a:srgbClr val="1F2933"/>
                </a:solidFill>
                <a:latin typeface="Calibri"/>
              </a:rPr>
              <a:t>GHSL population at risk,
bucketed by warning lead time</a:t>
            </a:r>
          </a:p>
        </p:txBody>
      </p:sp>
      <p:sp>
        <p:nvSpPr>
          <p:cNvPr id="17474" name="Rectangle 17473"/>
          <p:cNvSpPr/>
          <p:nvPr/>
        </p:nvSpPr>
        <p:spPr>
          <a:xfrm>
            <a:off x="9500616" y="4334256"/>
            <a:ext cx="2212848" cy="658368"/>
          </a:xfrm>
          <a:prstGeom prst="rect">
            <a:avLst/>
          </a:prstGeom>
          <a:solidFill>
            <a:srgbClr val="FFFFFF"/>
          </a:solidFill>
          <a:ln w="1079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/>
          </a:p>
        </p:txBody>
      </p:sp>
      <p:sp>
        <p:nvSpPr>
          <p:cNvPr id="17475" name="TextBox 17474"/>
          <p:cNvSpPr txBox="1"/>
          <p:nvPr/>
        </p:nvSpPr>
        <p:spPr>
          <a:xfrm>
            <a:off x="9555480" y="4379976"/>
            <a:ext cx="2103120" cy="566928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>
              <a:lnSpc>
                <a:spcPct val="94000"/>
              </a:lnSpc>
              <a:spcAft>
                <a:spcPts val="60"/>
              </a:spcAft>
            </a:pPr>
            <a:r>
              <a:rPr sz="740" b="1" i="0">
                <a:solidFill>
                  <a:srgbClr val="1F2933"/>
                </a:solidFill>
                <a:latin typeface="Calibri"/>
              </a:rPr>
              <a:t>Export</a:t>
            </a:r>
          </a:p>
          <a:p>
            <a:pPr algn="ctr">
              <a:lnSpc>
                <a:spcPct val="94000"/>
              </a:lnSpc>
              <a:spcAft>
                <a:spcPts val="60"/>
              </a:spcAft>
            </a:pPr>
            <a:r>
              <a:rPr sz="740" b="0" i="0">
                <a:solidFill>
                  <a:srgbClr val="1F2933"/>
                </a:solidFill>
                <a:latin typeface="Calibri"/>
              </a:rPr>
              <a:t>Cloud-Optimized GeoTIFF
· .SHP · .KML / KMZ</a:t>
            </a:r>
          </a:p>
        </p:txBody>
      </p:sp>
      <p:sp>
        <p:nvSpPr>
          <p:cNvPr id="17476" name="Rectangle 17475"/>
          <p:cNvSpPr/>
          <p:nvPr/>
        </p:nvSpPr>
        <p:spPr>
          <a:xfrm>
            <a:off x="9500616" y="5065776"/>
            <a:ext cx="2212848" cy="658368"/>
          </a:xfrm>
          <a:prstGeom prst="rect">
            <a:avLst/>
          </a:prstGeom>
          <a:solidFill>
            <a:srgbClr val="FFFFFF"/>
          </a:solidFill>
          <a:ln w="1079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/>
          </a:p>
        </p:txBody>
      </p:sp>
      <p:sp>
        <p:nvSpPr>
          <p:cNvPr id="17477" name="TextBox 17476"/>
          <p:cNvSpPr txBox="1"/>
          <p:nvPr/>
        </p:nvSpPr>
        <p:spPr>
          <a:xfrm>
            <a:off x="9555480" y="5111496"/>
            <a:ext cx="2103120" cy="566928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>
              <a:lnSpc>
                <a:spcPct val="94000"/>
              </a:lnSpc>
              <a:spcAft>
                <a:spcPts val="60"/>
              </a:spcAft>
            </a:pPr>
            <a:r>
              <a:rPr sz="740" b="1" i="0">
                <a:solidFill>
                  <a:srgbClr val="1F2933"/>
                </a:solidFill>
                <a:latin typeface="Calibri"/>
              </a:rPr>
              <a:t>Dashboard</a:t>
            </a:r>
          </a:p>
          <a:p>
            <a:pPr algn="ctr">
              <a:lnSpc>
                <a:spcPct val="94000"/>
              </a:lnSpc>
              <a:spcAft>
                <a:spcPts val="60"/>
              </a:spcAft>
            </a:pPr>
            <a:r>
              <a:rPr sz="740" b="0" i="0">
                <a:solidFill>
                  <a:srgbClr val="1F2933"/>
                </a:solidFill>
                <a:latin typeface="Calibri"/>
              </a:rPr>
              <a:t>Leaflet 2D + Cesium 3D,
run picker works offline</a:t>
            </a:r>
          </a:p>
        </p:txBody>
      </p:sp>
      <p:sp>
        <p:nvSpPr>
          <p:cNvPr id="17478" name="Rectangle 17477"/>
          <p:cNvSpPr/>
          <p:nvPr/>
        </p:nvSpPr>
        <p:spPr>
          <a:xfrm>
            <a:off x="10607040" y="5888736"/>
            <a:ext cx="20116" cy="14630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9" name="Rectangle 17478"/>
          <p:cNvSpPr/>
          <p:nvPr/>
        </p:nvSpPr>
        <p:spPr>
          <a:xfrm>
            <a:off x="7292340" y="6035040"/>
            <a:ext cx="3314700" cy="201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80" name="Rectangle 17479"/>
          <p:cNvSpPr/>
          <p:nvPr/>
        </p:nvSpPr>
        <p:spPr>
          <a:xfrm>
            <a:off x="7292340" y="5888736"/>
            <a:ext cx="20116" cy="14630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81" name="Isosceles Triangle 17480"/>
          <p:cNvSpPr/>
          <p:nvPr/>
        </p:nvSpPr>
        <p:spPr>
          <a:xfrm>
            <a:off x="7210044" y="5769864"/>
            <a:ext cx="164592" cy="128016"/>
          </a:xfrm>
          <a:prstGeom prst="triangl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82" name="TextBox 17481"/>
          <p:cNvSpPr txBox="1"/>
          <p:nvPr/>
        </p:nvSpPr>
        <p:spPr>
          <a:xfrm>
            <a:off x="365760" y="5934455"/>
            <a:ext cx="6789420" cy="201168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r">
              <a:lnSpc>
                <a:spcPct val="95000"/>
              </a:lnSpc>
              <a:spcAft>
                <a:spcPts val="0"/>
              </a:spcAft>
            </a:pPr>
            <a:r>
              <a:rPr sz="680" b="0" i="0">
                <a:solidFill>
                  <a:srgbClr val="0E7C7B"/>
                </a:solidFill>
                <a:latin typeface="Calibri"/>
              </a:rPr>
              <a:t>GEE VALIDATION LOOP ↻  Sentinel-1 observed extent scored against the simulation; scenes below 0.50 precision against JRC water are refused, not drawn.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800" b="1" i="0">
                <a:solidFill>
                  <a:srgbClr val="1F2933"/>
                </a:solidFill>
                <a:latin typeface="Calibri"/>
              </a:rPr>
              <a:t>&lt;TEAM NAME&gt;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320040" y="1207008"/>
            <a:ext cx="6327648" cy="27432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150" b="1" i="0">
                <a:solidFill>
                  <a:srgbClr val="0F2B46"/>
                </a:solidFill>
                <a:latin typeface="Calibri"/>
              </a:rPr>
              <a:t>Analysis of the feasibility of the idea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320040" y="1517904"/>
            <a:ext cx="6327648" cy="2340864"/>
          </a:xfrm>
          <a:prstGeom prst="roundRect">
            <a:avLst>
              <a:gd name="adj" fmla="val 8000"/>
            </a:avLst>
          </a:prstGeom>
          <a:solidFill>
            <a:srgbClr val="EEF4F9"/>
          </a:solidFill>
          <a:ln w="11430">
            <a:solidFill>
              <a:srgbClr val="C9D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/>
          </a:p>
        </p:txBody>
      </p:sp>
      <p:sp>
        <p:nvSpPr>
          <p:cNvPr id="17412" name="TextBox 17411"/>
          <p:cNvSpPr txBox="1"/>
          <p:nvPr/>
        </p:nvSpPr>
        <p:spPr>
          <a:xfrm>
            <a:off x="429768" y="1591056"/>
            <a:ext cx="6108192" cy="402336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900" b="0" i="0">
                <a:solidFill>
                  <a:srgbClr val="1F2933"/>
                </a:solidFill>
                <a:latin typeface="Calibri"/>
              </a:rPr>
              <a:t>Not a proposal — a </a:t>
            </a:r>
            <a:r>
              <a:rPr sz="900" b="1" i="0">
                <a:solidFill>
                  <a:srgbClr val="1F2933"/>
                </a:solidFill>
                <a:latin typeface="Calibri"/>
              </a:rPr>
              <a:t>built system</a:t>
            </a:r>
            <a:r>
              <a:rPr sz="900" b="0" i="0">
                <a:solidFill>
                  <a:srgbClr val="1F2933"/>
                </a:solidFill>
                <a:latin typeface="Calibri"/>
              </a:rPr>
              <a:t>. These gates run against the live build, and are the same checks that block a merge in CI:</a:t>
            </a:r>
          </a:p>
        </p:txBody>
      </p:sp>
      <p:graphicFrame>
        <p:nvGraphicFramePr>
          <p:cNvPr id="17413" name="Table 17412"/>
          <p:cNvGraphicFramePr>
            <a:graphicFrameLocks noGrp="1"/>
          </p:cNvGraphicFramePr>
          <p:nvPr/>
        </p:nvGraphicFramePr>
        <p:xfrm>
          <a:off x="429768" y="2011680"/>
          <a:ext cx="6108192" cy="83393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419856"/>
                <a:gridCol w="1463040"/>
                <a:gridCol w="1225296"/>
              </a:tblGrid>
              <a:tr h="208483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860" b="1" i="0">
                          <a:solidFill>
                            <a:srgbClr val="FFFFFF"/>
                          </a:solidFill>
                          <a:latin typeface="Calibri"/>
                        </a:rPr>
                        <a:t>Blocking gate</a:t>
                      </a:r>
                    </a:p>
                  </a:txBody>
                  <a:tcPr marL="64008" marR="64008" marT="13716" marB="13716" anchor="ctr">
                    <a:solidFill>
                      <a:srgbClr val="0F2B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860" b="1" i="0">
                          <a:solidFill>
                            <a:srgbClr val="FFFFFF"/>
                          </a:solidFill>
                          <a:latin typeface="Calibri"/>
                        </a:rPr>
                        <a:t>Measured</a:t>
                      </a:r>
                    </a:p>
                  </a:txBody>
                  <a:tcPr marL="64008" marR="64008" marT="13716" marB="13716" anchor="ctr">
                    <a:solidFill>
                      <a:srgbClr val="0F2B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860" b="1" i="0">
                          <a:solidFill>
                            <a:srgbClr val="FFFFFF"/>
                          </a:solidFill>
                          <a:latin typeface="Calibri"/>
                        </a:rPr>
                        <a:t>Gate</a:t>
                      </a:r>
                    </a:p>
                  </a:txBody>
                  <a:tcPr marL="64008" marR="64008" marT="13716" marB="13716" anchor="ctr">
                    <a:solidFill>
                      <a:srgbClr val="0F2B46"/>
                    </a:solidFill>
                  </a:tcPr>
                </a:tc>
              </a:tr>
              <a:tr h="208483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860" b="0" i="0">
                          <a:solidFill>
                            <a:srgbClr val="1F2933"/>
                          </a:solidFill>
                          <a:latin typeface="Calibri"/>
                        </a:rPr>
                        <a:t>Lake at rest — spurious velocity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860" b="0" i="0">
                          <a:solidFill>
                            <a:srgbClr val="1F2933"/>
                          </a:solidFill>
                          <a:latin typeface="Calibri"/>
                        </a:rPr>
                        <a:t>5.98e-14 m/s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860" b="0" i="0">
                          <a:solidFill>
                            <a:srgbClr val="1F2933"/>
                          </a:solidFill>
                          <a:latin typeface="Calibri"/>
                        </a:rPr>
                        <a:t>&lt; 1e-8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208483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860" b="0" i="0">
                          <a:solidFill>
                            <a:srgbClr val="1F2933"/>
                          </a:solidFill>
                          <a:latin typeface="Calibri"/>
                        </a:rPr>
                        <a:t>Mass conservation — volume drift</a:t>
                      </a:r>
                    </a:p>
                  </a:txBody>
                  <a:tcPr marL="64008" marR="64008" marT="13716" marB="13716" anchor="ctr">
                    <a:solidFill>
                      <a:srgbClr val="EEF4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860" b="0" i="0">
                          <a:solidFill>
                            <a:srgbClr val="1F2933"/>
                          </a:solidFill>
                          <a:latin typeface="Calibri"/>
                        </a:rPr>
                        <a:t>0.000000 %</a:t>
                      </a:r>
                    </a:p>
                  </a:txBody>
                  <a:tcPr marL="64008" marR="64008" marT="13716" marB="13716" anchor="ctr">
                    <a:solidFill>
                      <a:srgbClr val="EEF4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860" b="0" i="0">
                          <a:solidFill>
                            <a:srgbClr val="1F2933"/>
                          </a:solidFill>
                          <a:latin typeface="Calibri"/>
                        </a:rPr>
                        <a:t>&lt; 0.1 %</a:t>
                      </a:r>
                    </a:p>
                  </a:txBody>
                  <a:tcPr marL="64008" marR="64008" marT="13716" marB="13716" anchor="ctr">
                    <a:solidFill>
                      <a:srgbClr val="EEF4F9"/>
                    </a:solidFill>
                  </a:tcPr>
                </a:tc>
              </a:tr>
              <a:tr h="208483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860" b="0" i="0">
                          <a:solidFill>
                            <a:srgbClr val="1F2933"/>
                          </a:solidFill>
                          <a:latin typeface="Calibri"/>
                        </a:rPr>
                        <a:t>Ritter dam-break — RMSE vs exact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860" b="0" i="0">
                          <a:solidFill>
                            <a:srgbClr val="1F2933"/>
                          </a:solidFill>
                          <a:latin typeface="Calibri"/>
                        </a:rPr>
                        <a:t>0.0317 m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860" b="0" i="0">
                          <a:solidFill>
                            <a:srgbClr val="1F2933"/>
                          </a:solidFill>
                          <a:latin typeface="Calibri"/>
                        </a:rPr>
                        <a:t>&lt; 0.10 m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414" name="TextBox 17413"/>
          <p:cNvSpPr txBox="1"/>
          <p:nvPr/>
        </p:nvSpPr>
        <p:spPr>
          <a:xfrm>
            <a:off x="429768" y="2889504"/>
            <a:ext cx="6108192" cy="201168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900" b="0" i="0">
                <a:solidFill>
                  <a:srgbClr val="1F2933"/>
                </a:solidFill>
                <a:latin typeface="Calibri"/>
              </a:rPr>
              <a:t>Both engines against the exact Ritter solution, same grid, same instant:</a:t>
            </a:r>
          </a:p>
        </p:txBody>
      </p:sp>
      <p:graphicFrame>
        <p:nvGraphicFramePr>
          <p:cNvPr id="17415" name="Table 17414"/>
          <p:cNvGraphicFramePr>
            <a:graphicFrameLocks noGrp="1"/>
          </p:cNvGraphicFramePr>
          <p:nvPr/>
        </p:nvGraphicFramePr>
        <p:xfrm>
          <a:off x="429768" y="3108960"/>
          <a:ext cx="6108192" cy="625449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419856"/>
                <a:gridCol w="1463040"/>
                <a:gridCol w="1225296"/>
              </a:tblGrid>
              <a:tr h="208483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860" b="1" i="0">
                          <a:solidFill>
                            <a:srgbClr val="FFFFFF"/>
                          </a:solidFill>
                          <a:latin typeface="Calibri"/>
                        </a:rPr>
                        <a:t>Engine</a:t>
                      </a:r>
                    </a:p>
                  </a:txBody>
                  <a:tcPr marL="64008" marR="64008" marT="13716" marB="13716" anchor="ctr">
                    <a:solidFill>
                      <a:srgbClr val="0E7C7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860" b="1" i="0">
                          <a:solidFill>
                            <a:srgbClr val="FFFFFF"/>
                          </a:solidFill>
                          <a:latin typeface="Calibri"/>
                        </a:rPr>
                        <a:t>RMSE vs exact</a:t>
                      </a:r>
                    </a:p>
                  </a:txBody>
                  <a:tcPr marL="64008" marR="64008" marT="13716" marB="13716" anchor="ctr">
                    <a:solidFill>
                      <a:srgbClr val="0E7C7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860" b="1" i="0">
                          <a:solidFill>
                            <a:srgbClr val="FFFFFF"/>
                          </a:solidFill>
                          <a:latin typeface="Calibri"/>
                        </a:rPr>
                        <a:t>Depth at dam</a:t>
                      </a:r>
                    </a:p>
                  </a:txBody>
                  <a:tcPr marL="64008" marR="64008" marT="13716" marB="13716" anchor="ctr">
                    <a:solidFill>
                      <a:srgbClr val="0E7C7B"/>
                    </a:solidFill>
                  </a:tcPr>
                </a:tc>
              </a:tr>
              <a:tr h="208483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860" b="0" i="0">
                          <a:solidFill>
                            <a:srgbClr val="1F2933"/>
                          </a:solidFill>
                          <a:latin typeface="Calibri"/>
                        </a:rPr>
                        <a:t>JalRaksha 2D SWE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860" b="0" i="0">
                          <a:solidFill>
                            <a:srgbClr val="1F2933"/>
                          </a:solidFill>
                          <a:latin typeface="Calibri"/>
                        </a:rPr>
                        <a:t>0.0317 m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860" b="0" i="0">
                          <a:solidFill>
                            <a:srgbClr val="1F2933"/>
                          </a:solidFill>
                          <a:latin typeface="Calibri"/>
                        </a:rPr>
                        <a:t>4.532 m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208483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860" b="0" i="0">
                          <a:solidFill>
                            <a:srgbClr val="1F2933"/>
                          </a:solidFill>
                          <a:latin typeface="Calibri"/>
                        </a:rPr>
                        <a:t>Delft3D FM (dflowfm-cli)</a:t>
                      </a:r>
                    </a:p>
                  </a:txBody>
                  <a:tcPr marL="64008" marR="64008" marT="13716" marB="13716" anchor="ctr">
                    <a:solidFill>
                      <a:srgbClr val="EEF4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860" b="0" i="0">
                          <a:solidFill>
                            <a:srgbClr val="1F2933"/>
                          </a:solidFill>
                          <a:latin typeface="Calibri"/>
                        </a:rPr>
                        <a:t>0.0349 m</a:t>
                      </a:r>
                    </a:p>
                  </a:txBody>
                  <a:tcPr marL="64008" marR="64008" marT="13716" marB="13716" anchor="ctr">
                    <a:solidFill>
                      <a:srgbClr val="EEF4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860" b="0" i="0">
                          <a:solidFill>
                            <a:srgbClr val="1F2933"/>
                          </a:solidFill>
                          <a:latin typeface="Calibri"/>
                        </a:rPr>
                        <a:t>4.515 m</a:t>
                      </a:r>
                    </a:p>
                  </a:txBody>
                  <a:tcPr marL="64008" marR="64008" marT="13716" marB="13716" anchor="ctr">
                    <a:solidFill>
                      <a:srgbClr val="EEF4F9"/>
                    </a:solidFill>
                  </a:tcPr>
                </a:tc>
              </a:tr>
            </a:tbl>
          </a:graphicData>
        </a:graphic>
      </p:graphicFrame>
      <p:sp>
        <p:nvSpPr>
          <p:cNvPr id="17416" name="TextBox 17415"/>
          <p:cNvSpPr txBox="1"/>
          <p:nvPr/>
        </p:nvSpPr>
        <p:spPr>
          <a:xfrm>
            <a:off x="6812280" y="1207008"/>
            <a:ext cx="4892040" cy="27432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150" b="1" i="0">
                <a:solidFill>
                  <a:srgbClr val="0F2B46"/>
                </a:solidFill>
                <a:latin typeface="Calibri"/>
              </a:rPr>
              <a:t>The gates, run from the dashboard</a:t>
            </a:r>
          </a:p>
        </p:txBody>
      </p:sp>
      <p:pic>
        <p:nvPicPr>
          <p:cNvPr id="17417" name="Picture 17416" descr="valid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1517904"/>
            <a:ext cx="4892040" cy="2325510"/>
          </a:xfrm>
          <a:prstGeom prst="rect">
            <a:avLst/>
          </a:prstGeom>
        </p:spPr>
      </p:pic>
      <p:sp>
        <p:nvSpPr>
          <p:cNvPr id="17418" name="TextBox 17417"/>
          <p:cNvSpPr txBox="1"/>
          <p:nvPr/>
        </p:nvSpPr>
        <p:spPr>
          <a:xfrm>
            <a:off x="6812280" y="3889133"/>
            <a:ext cx="4892040" cy="45720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150"/>
              </a:spcAft>
            </a:pPr>
            <a:r>
              <a:rPr sz="780" b="0" i="0">
                <a:solidFill>
                  <a:srgbClr val="5A6672"/>
                </a:solidFill>
                <a:latin typeface="Calibri"/>
              </a:rPr>
              <a:t>All three PASS. h₀ = 10 m, t = 40 s, Δx = 10 m, frictionless flat bed; exact 4h₀/9 = 4.444 m, and the two engines agree to 0.0294 m RMSE.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320040" y="4151376"/>
            <a:ext cx="5742432" cy="27432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150" b="1" i="0">
                <a:solidFill>
                  <a:srgbClr val="B02E2A"/>
                </a:solidFill>
                <a:latin typeface="Calibri"/>
              </a:rPr>
              <a:t>Potential challenges and risks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320040" y="4462272"/>
            <a:ext cx="5742432" cy="1773936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 w="11430">
            <a:solidFill>
              <a:srgbClr val="ECD3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/>
          </a:p>
        </p:txBody>
      </p:sp>
      <p:sp>
        <p:nvSpPr>
          <p:cNvPr id="17421" name="TextBox 17420"/>
          <p:cNvSpPr txBox="1"/>
          <p:nvPr/>
        </p:nvSpPr>
        <p:spPr>
          <a:xfrm>
            <a:off x="429768" y="4553712"/>
            <a:ext cx="5522976" cy="1591056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340"/>
              </a:spcAft>
            </a:pPr>
            <a:r>
              <a:rPr sz="850" b="0" i="0">
                <a:solidFill>
                  <a:srgbClr val="1F2933"/>
                </a:solidFill>
                <a:latin typeface="Calibri"/>
              </a:rPr>
              <a:t>▪ </a:t>
            </a:r>
            <a:r>
              <a:rPr sz="850" b="1" i="0">
                <a:solidFill>
                  <a:srgbClr val="1F2933"/>
                </a:solidFill>
                <a:latin typeface="Calibri"/>
              </a:rPr>
              <a:t>Wet–dry front instability</a:t>
            </a:r>
            <a:r>
              <a:rPr sz="850" b="0" i="0">
                <a:solidFill>
                  <a:srgbClr val="1F2933"/>
                </a:solidFill>
                <a:latin typeface="Calibri"/>
              </a:rPr>
              <a:t> — negative depths and spurious velocities. This fails visibly in a live demo.</a:t>
            </a:r>
          </a:p>
          <a:p>
            <a:pPr algn="l">
              <a:lnSpc>
                <a:spcPct val="95000"/>
              </a:lnSpc>
              <a:spcAft>
                <a:spcPts val="340"/>
              </a:spcAft>
            </a:pPr>
            <a:r>
              <a:rPr sz="850" b="0" i="0">
                <a:solidFill>
                  <a:srgbClr val="1F2933"/>
                </a:solidFill>
                <a:latin typeface="Calibri"/>
              </a:rPr>
              <a:t>▪ </a:t>
            </a:r>
            <a:r>
              <a:rPr sz="850" b="1" i="0">
                <a:solidFill>
                  <a:srgbClr val="1F2933"/>
                </a:solidFill>
                <a:latin typeface="Calibri"/>
              </a:rPr>
              <a:t>30 m GLO-30 is a surface model</a:t>
            </a:r>
            <a:r>
              <a:rPr sz="850" b="0" i="0">
                <a:solidFill>
                  <a:srgbClr val="1F2933"/>
                </a:solidFill>
                <a:latin typeface="Calibri"/>
              </a:rPr>
              <a:t> with no reservoir bathymetry; it flattens water and puts canopy in the channel. 1–2 cells span a Himalayan gorge.</a:t>
            </a:r>
          </a:p>
          <a:p>
            <a:pPr algn="l">
              <a:lnSpc>
                <a:spcPct val="95000"/>
              </a:lnSpc>
              <a:spcAft>
                <a:spcPts val="340"/>
              </a:spcAft>
            </a:pPr>
            <a:r>
              <a:rPr sz="850" b="0" i="0">
                <a:solidFill>
                  <a:srgbClr val="1F2933"/>
                </a:solidFill>
                <a:latin typeface="Calibri"/>
              </a:rPr>
              <a:t>▪ </a:t>
            </a:r>
            <a:r>
              <a:rPr sz="850" b="1" i="0">
                <a:solidFill>
                  <a:srgbClr val="1F2933"/>
                </a:solidFill>
                <a:latin typeface="Calibri"/>
              </a:rPr>
              <a:t>Breach regressions disagree by 3–4×</a:t>
            </a:r>
            <a:r>
              <a:rPr sz="850" b="0" i="0">
                <a:solidFill>
                  <a:srgbClr val="1F2933"/>
                </a:solidFill>
                <a:latin typeface="Calibri"/>
              </a:rPr>
              <a:t> — the dominant uncertainty term, and a documented state of the art rather than a defect in this implementation.</a:t>
            </a:r>
          </a:p>
          <a:p>
            <a:pPr algn="l">
              <a:lnSpc>
                <a:spcPct val="95000"/>
              </a:lnSpc>
              <a:spcAft>
                <a:spcPts val="340"/>
              </a:spcAft>
            </a:pPr>
            <a:r>
              <a:rPr sz="850" b="0" i="0">
                <a:solidFill>
                  <a:srgbClr val="1F2933"/>
                </a:solidFill>
                <a:latin typeface="Calibri"/>
              </a:rPr>
              <a:t>▪ </a:t>
            </a:r>
            <a:r>
              <a:rPr sz="850" b="1" i="0">
                <a:solidFill>
                  <a:srgbClr val="1F2933"/>
                </a:solidFill>
                <a:latin typeface="Calibri"/>
              </a:rPr>
              <a:t>SPH does not scale</a:t>
            </a:r>
            <a:r>
              <a:rPr sz="850" b="0" i="0">
                <a:solidFill>
                  <a:srgbClr val="1F2933"/>
                </a:solidFill>
                <a:latin typeface="Calibri"/>
              </a:rPr>
              <a:t> — uniform resolution is an acknowledged limitation (SPHERIC Grand Challenge 3); it cannot span a basin.</a:t>
            </a:r>
          </a:p>
          <a:p>
            <a:pPr algn="l">
              <a:lnSpc>
                <a:spcPct val="95000"/>
              </a:lnSpc>
              <a:spcAft>
                <a:spcPts val="340"/>
              </a:spcAft>
            </a:pPr>
            <a:r>
              <a:rPr sz="850" b="0" i="0">
                <a:solidFill>
                  <a:srgbClr val="1F2933"/>
                </a:solidFill>
                <a:latin typeface="Calibri"/>
              </a:rPr>
              <a:t>▪ </a:t>
            </a:r>
            <a:r>
              <a:rPr sz="850" b="1" i="0">
                <a:solidFill>
                  <a:srgbClr val="1F2933"/>
                </a:solidFill>
                <a:latin typeface="Calibri"/>
              </a:rPr>
              <a:t>Debris, not clear water</a:t>
            </a:r>
            <a:r>
              <a:rPr sz="850" b="0" i="0">
                <a:solidFill>
                  <a:srgbClr val="1F2933"/>
                </a:solidFill>
                <a:latin typeface="Calibri"/>
              </a:rPr>
              <a:t> — Chamoli was ~80% rock by volume, and clear-water physics understates such an event.</a:t>
            </a:r>
          </a:p>
          <a:p>
            <a:pPr algn="l">
              <a:lnSpc>
                <a:spcPct val="95000"/>
              </a:lnSpc>
              <a:spcAft>
                <a:spcPts val="340"/>
              </a:spcAft>
            </a:pPr>
            <a:r>
              <a:rPr sz="850" b="0" i="0">
                <a:solidFill>
                  <a:srgbClr val="1F2933"/>
                </a:solidFill>
                <a:latin typeface="Calibri"/>
              </a:rPr>
              <a:t>▪ </a:t>
            </a:r>
            <a:r>
              <a:rPr sz="850" b="1" i="0">
                <a:solidFill>
                  <a:srgbClr val="1F2933"/>
                </a:solidFill>
                <a:latin typeface="Calibri"/>
              </a:rPr>
              <a:t>Manning's n is uncertain</a:t>
            </a:r>
            <a:r>
              <a:rPr sz="850" b="0" i="0">
                <a:solidFill>
                  <a:srgbClr val="1F2933"/>
                </a:solidFill>
                <a:latin typeface="Calibri"/>
              </a:rPr>
              <a:t>, and inundation extent is sensitive to it.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6199632" y="4151376"/>
            <a:ext cx="5641848" cy="27432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150" b="1" i="0">
                <a:solidFill>
                  <a:srgbClr val="0E7C7B"/>
                </a:solidFill>
                <a:latin typeface="Calibri"/>
              </a:rPr>
              <a:t>Strategies for overcoming these challenges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6199632" y="4462272"/>
            <a:ext cx="5641848" cy="1773936"/>
          </a:xfrm>
          <a:prstGeom prst="roundRect">
            <a:avLst>
              <a:gd name="adj" fmla="val 8000"/>
            </a:avLst>
          </a:prstGeom>
          <a:solidFill>
            <a:srgbClr val="EEF4F9"/>
          </a:solidFill>
          <a:ln w="11430">
            <a:solidFill>
              <a:srgbClr val="C9D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/>
          </a:p>
        </p:txBody>
      </p:sp>
      <p:sp>
        <p:nvSpPr>
          <p:cNvPr id="17424" name="TextBox 17423"/>
          <p:cNvSpPr txBox="1"/>
          <p:nvPr/>
        </p:nvSpPr>
        <p:spPr>
          <a:xfrm>
            <a:off x="6309360" y="4553712"/>
            <a:ext cx="5422392" cy="1591056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340"/>
              </a:spcAft>
            </a:pPr>
            <a:r>
              <a:rPr sz="850" b="0" i="0">
                <a:solidFill>
                  <a:srgbClr val="1F2933"/>
                </a:solidFill>
                <a:latin typeface="Calibri"/>
              </a:rPr>
              <a:t>▪ </a:t>
            </a:r>
            <a:r>
              <a:rPr sz="850" b="1" i="0">
                <a:solidFill>
                  <a:srgbClr val="1F2933"/>
                </a:solidFill>
                <a:latin typeface="Calibri"/>
              </a:rPr>
              <a:t>Positivity-preserving scheme</a:t>
            </a:r>
            <a:r>
              <a:rPr sz="850" b="0" i="0">
                <a:solidFill>
                  <a:srgbClr val="1F2933"/>
                </a:solidFill>
                <a:latin typeface="Calibri"/>
              </a:rPr>
              <a:t> — Audusse reconstruction under a CFL ≤ 1/2 bound; lake-at-rest and mass conservation gate every merge, and both pass now.</a:t>
            </a:r>
          </a:p>
          <a:p>
            <a:pPr algn="l">
              <a:lnSpc>
                <a:spcPct val="95000"/>
              </a:lnSpc>
              <a:spcAft>
                <a:spcPts val="340"/>
              </a:spcAft>
            </a:pPr>
            <a:r>
              <a:rPr sz="850" b="0" i="0">
                <a:solidFill>
                  <a:srgbClr val="1F2933"/>
                </a:solidFill>
                <a:latin typeface="Calibri"/>
              </a:rPr>
              <a:t>▪ </a:t>
            </a:r>
            <a:r>
              <a:rPr sz="850" b="1" i="0">
                <a:solidFill>
                  <a:srgbClr val="1F2933"/>
                </a:solidFill>
                <a:latin typeface="Calibri"/>
              </a:rPr>
              <a:t>Lead with arrival time and extent</a:t>
            </a:r>
            <a:r>
              <a:rPr sz="850" b="0" i="0">
                <a:solidFill>
                  <a:srgbClr val="1F2933"/>
                </a:solidFill>
                <a:latin typeface="Calibri"/>
              </a:rPr>
              <a:t>, not point depth. Every depth figure here is labelled indicative; the DEM limit is stated, not buried.</a:t>
            </a:r>
          </a:p>
          <a:p>
            <a:pPr algn="l">
              <a:lnSpc>
                <a:spcPct val="95000"/>
              </a:lnSpc>
              <a:spcAft>
                <a:spcPts val="340"/>
              </a:spcAft>
            </a:pPr>
            <a:r>
              <a:rPr sz="850" b="0" i="0">
                <a:solidFill>
                  <a:srgbClr val="1F2933"/>
                </a:solidFill>
                <a:latin typeface="Calibri"/>
              </a:rPr>
              <a:t>▪ </a:t>
            </a:r>
            <a:r>
              <a:rPr sz="850" b="1" i="0">
                <a:solidFill>
                  <a:srgbClr val="1F2933"/>
                </a:solidFill>
                <a:latin typeface="Calibri"/>
              </a:rPr>
              <a:t>Quote the band, never the number</a:t>
            </a:r>
            <a:r>
              <a:rPr sz="850" b="0" i="0">
                <a:solidFill>
                  <a:srgbClr val="1F2933"/>
                </a:solidFill>
                <a:latin typeface="Calibri"/>
              </a:rPr>
              <a:t> — Monte-Carlo over all four regressions returns p05 / median / p95 for outflow, depth and arrival time.</a:t>
            </a:r>
          </a:p>
          <a:p>
            <a:pPr algn="l">
              <a:lnSpc>
                <a:spcPct val="95000"/>
              </a:lnSpc>
              <a:spcAft>
                <a:spcPts val="340"/>
              </a:spcAft>
            </a:pPr>
            <a:r>
              <a:rPr sz="850" b="0" i="0">
                <a:solidFill>
                  <a:srgbClr val="1F2933"/>
                </a:solidFill>
                <a:latin typeface="Calibri"/>
              </a:rPr>
              <a:t>▪ </a:t>
            </a:r>
            <a:r>
              <a:rPr sz="850" b="1" i="0">
                <a:solidFill>
                  <a:srgbClr val="1F2933"/>
                </a:solidFill>
                <a:latin typeface="Calibri"/>
              </a:rPr>
              <a:t>Confine SPH to a near-field box</a:t>
            </a:r>
            <a:r>
              <a:rPr sz="850" b="0" i="0">
                <a:solidFill>
                  <a:srgbClr val="1F2933"/>
                </a:solidFill>
                <a:latin typeface="Calibri"/>
              </a:rPr>
              <a:t> (~600 m, 15 s) and hand off one-way; the far field is left to the depth-averaged solver, where it is valid.</a:t>
            </a:r>
          </a:p>
          <a:p>
            <a:pPr algn="l">
              <a:lnSpc>
                <a:spcPct val="95000"/>
              </a:lnSpc>
              <a:spcAft>
                <a:spcPts val="340"/>
              </a:spcAft>
            </a:pPr>
            <a:r>
              <a:rPr sz="850" b="0" i="0">
                <a:solidFill>
                  <a:srgbClr val="1F2933"/>
                </a:solidFill>
                <a:latin typeface="Calibri"/>
              </a:rPr>
              <a:t>▪ </a:t>
            </a:r>
            <a:r>
              <a:rPr sz="850" b="1" i="0">
                <a:solidFill>
                  <a:srgbClr val="1F2933"/>
                </a:solidFill>
                <a:latin typeface="Calibri"/>
              </a:rPr>
              <a:t>Positioned as a Tier-1 screening layer</a:t>
            </a:r>
            <a:r>
              <a:rPr sz="850" b="0" i="0">
                <a:solidFill>
                  <a:srgbClr val="1F2933"/>
                </a:solidFill>
                <a:latin typeface="Calibri"/>
              </a:rPr>
              <a:t> under CWC CDSO_GUD_DS_05: it triages which dams warrant a full Tier-2/3 study, and does not replace one.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800" b="1" i="0">
                <a:solidFill>
                  <a:srgbClr val="1F2933"/>
                </a:solidFill>
                <a:latin typeface="Calibri"/>
              </a:rPr>
              <a:t>&lt;TEAM NAME&gt;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20040" y="1152144"/>
            <a:ext cx="2209190" cy="896112"/>
          </a:xfrm>
          <a:prstGeom prst="roundRect">
            <a:avLst>
              <a:gd name="adj" fmla="val 8000"/>
            </a:avLst>
          </a:prstGeom>
          <a:solidFill>
            <a:srgbClr val="EEF4F9"/>
          </a:solidFill>
          <a:ln w="11430">
            <a:solidFill>
              <a:srgbClr val="C9D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/>
          </a:p>
        </p:txBody>
      </p:sp>
      <p:sp>
        <p:nvSpPr>
          <p:cNvPr id="17411" name="TextBox 17410"/>
          <p:cNvSpPr txBox="1"/>
          <p:nvPr/>
        </p:nvSpPr>
        <p:spPr>
          <a:xfrm>
            <a:off x="438912" y="1234440"/>
            <a:ext cx="1971446" cy="384048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lnSpc>
                <a:spcPct val="92000"/>
              </a:lnSpc>
              <a:spcAft>
                <a:spcPts val="0"/>
              </a:spcAft>
            </a:pPr>
            <a:r>
              <a:rPr sz="2100" b="1">
                <a:solidFill>
                  <a:srgbClr val="0F2B46"/>
                </a:solidFill>
                <a:latin typeface="Calibri"/>
              </a:rPr>
              <a:t>1,180,102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438912" y="1645920"/>
            <a:ext cx="1971446" cy="329184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50"/>
              </a:spcAft>
            </a:pPr>
            <a:r>
              <a:rPr sz="800" b="0" i="0">
                <a:solidFill>
                  <a:srgbClr val="5A6672"/>
                </a:solidFill>
                <a:latin typeface="Calibri"/>
              </a:rPr>
              <a:t>people in the modelled domain</a:t>
            </a:r>
          </a:p>
          <a:p>
            <a:pPr algn="l">
              <a:lnSpc>
                <a:spcPct val="96000"/>
              </a:lnSpc>
              <a:spcAft>
                <a:spcPts val="50"/>
              </a:spcAft>
            </a:pPr>
            <a:r>
              <a:rPr sz="800" b="0" i="0">
                <a:solidFill>
                  <a:srgbClr val="5A6672"/>
                </a:solidFill>
                <a:latin typeface="Calibri"/>
              </a:rPr>
              <a:t>(GHSL P2023A, epoch 2020)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2648102" y="1152144"/>
            <a:ext cx="2209190" cy="896112"/>
          </a:xfrm>
          <a:prstGeom prst="roundRect">
            <a:avLst>
              <a:gd name="adj" fmla="val 8000"/>
            </a:avLst>
          </a:prstGeom>
          <a:solidFill>
            <a:srgbClr val="EEF4F9"/>
          </a:solidFill>
          <a:ln w="11430">
            <a:solidFill>
              <a:srgbClr val="C9D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/>
          </a:p>
        </p:txBody>
      </p:sp>
      <p:sp>
        <p:nvSpPr>
          <p:cNvPr id="17414" name="TextBox 17413"/>
          <p:cNvSpPr txBox="1"/>
          <p:nvPr/>
        </p:nvSpPr>
        <p:spPr>
          <a:xfrm>
            <a:off x="2766974" y="1234440"/>
            <a:ext cx="1971446" cy="384048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lnSpc>
                <a:spcPct val="92000"/>
              </a:lnSpc>
              <a:spcAft>
                <a:spcPts val="0"/>
              </a:spcAft>
            </a:pPr>
            <a:r>
              <a:rPr sz="2100" b="1">
                <a:solidFill>
                  <a:srgbClr val="B02E2A"/>
                </a:solidFill>
                <a:latin typeface="Calibri"/>
              </a:rPr>
              <a:t>1,760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2766974" y="1645920"/>
            <a:ext cx="1971446" cy="329184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50"/>
              </a:spcAft>
            </a:pPr>
            <a:r>
              <a:rPr sz="800" b="0" i="0">
                <a:solidFill>
                  <a:srgbClr val="5A6672"/>
                </a:solidFill>
                <a:latin typeface="Calibri"/>
              </a:rPr>
              <a:t>reach 0.1 m depth or more — the</a:t>
            </a:r>
          </a:p>
          <a:p>
            <a:pPr algn="l">
              <a:lnSpc>
                <a:spcPct val="96000"/>
              </a:lnSpc>
              <a:spcAft>
                <a:spcPts val="50"/>
              </a:spcAft>
            </a:pPr>
            <a:r>
              <a:rPr sz="800" b="0" i="0">
                <a:solidFill>
                  <a:srgbClr val="5A6672"/>
                </a:solidFill>
                <a:latin typeface="Calibri"/>
              </a:rPr>
              <a:t>population actually at risk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4976164" y="1152144"/>
            <a:ext cx="2209190" cy="896112"/>
          </a:xfrm>
          <a:prstGeom prst="roundRect">
            <a:avLst>
              <a:gd name="adj" fmla="val 8000"/>
            </a:avLst>
          </a:prstGeom>
          <a:solidFill>
            <a:srgbClr val="EEF4F9"/>
          </a:solidFill>
          <a:ln w="11430">
            <a:solidFill>
              <a:srgbClr val="C9D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/>
          </a:p>
        </p:txBody>
      </p:sp>
      <p:sp>
        <p:nvSpPr>
          <p:cNvPr id="17417" name="TextBox 17416"/>
          <p:cNvSpPr txBox="1"/>
          <p:nvPr/>
        </p:nvSpPr>
        <p:spPr>
          <a:xfrm>
            <a:off x="5095036" y="1234440"/>
            <a:ext cx="1971446" cy="384048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lnSpc>
                <a:spcPct val="92000"/>
              </a:lnSpc>
              <a:spcAft>
                <a:spcPts val="0"/>
              </a:spcAft>
            </a:pPr>
            <a:r>
              <a:rPr sz="2100" b="1">
                <a:solidFill>
                  <a:srgbClr val="B02E2A"/>
                </a:solidFill>
                <a:latin typeface="Calibri"/>
              </a:rPr>
              <a:t>193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5095036" y="1645920"/>
            <a:ext cx="1971446" cy="329184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50"/>
              </a:spcAft>
            </a:pPr>
            <a:r>
              <a:rPr sz="800" b="0" i="0">
                <a:solidFill>
                  <a:srgbClr val="5A6672"/>
                </a:solidFill>
                <a:latin typeface="Calibri"/>
              </a:rPr>
              <a:t>have under 15 min of warning at a</a:t>
            </a:r>
          </a:p>
          <a:p>
            <a:pPr algn="l">
              <a:lnSpc>
                <a:spcPct val="96000"/>
              </a:lnSpc>
              <a:spcAft>
                <a:spcPts val="50"/>
              </a:spcAft>
            </a:pPr>
            <a:r>
              <a:rPr sz="800" b="0" i="0">
                <a:solidFill>
                  <a:srgbClr val="5A6672"/>
                </a:solidFill>
                <a:latin typeface="Calibri"/>
              </a:rPr>
              <a:t>30 min lead-time assumption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7304227" y="1152144"/>
            <a:ext cx="2209190" cy="896112"/>
          </a:xfrm>
          <a:prstGeom prst="roundRect">
            <a:avLst>
              <a:gd name="adj" fmla="val 8000"/>
            </a:avLst>
          </a:prstGeom>
          <a:solidFill>
            <a:srgbClr val="EEF4F9"/>
          </a:solidFill>
          <a:ln w="11430">
            <a:solidFill>
              <a:srgbClr val="C9D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/>
          </a:p>
        </p:txBody>
      </p:sp>
      <p:sp>
        <p:nvSpPr>
          <p:cNvPr id="17420" name="TextBox 17419"/>
          <p:cNvSpPr txBox="1"/>
          <p:nvPr/>
        </p:nvSpPr>
        <p:spPr>
          <a:xfrm>
            <a:off x="7423099" y="1234440"/>
            <a:ext cx="1971446" cy="384048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lnSpc>
                <a:spcPct val="92000"/>
              </a:lnSpc>
              <a:spcAft>
                <a:spcPts val="0"/>
              </a:spcAft>
            </a:pPr>
            <a:r>
              <a:rPr sz="2100" b="1">
                <a:solidFill>
                  <a:srgbClr val="0E7C7B"/>
                </a:solidFill>
                <a:latin typeface="Calibri"/>
              </a:rPr>
              <a:t>50.2</a:t>
            </a:r>
            <a:r>
              <a:rPr sz="950">
                <a:solidFill>
                  <a:srgbClr val="5A6672"/>
                </a:solidFill>
                <a:latin typeface="Calibri"/>
              </a:rPr>
              <a:t> min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7423099" y="1645920"/>
            <a:ext cx="1971446" cy="329184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50"/>
              </a:spcAft>
            </a:pPr>
            <a:r>
              <a:rPr sz="800" b="0" i="0">
                <a:solidFill>
                  <a:srgbClr val="5A6672"/>
                </a:solidFill>
                <a:latin typeface="Calibri"/>
              </a:rPr>
              <a:t>for the wave to reach Koteshwar,</a:t>
            </a:r>
          </a:p>
          <a:p>
            <a:pPr algn="l">
              <a:lnSpc>
                <a:spcPct val="96000"/>
              </a:lnSpc>
              <a:spcAft>
                <a:spcPts val="50"/>
              </a:spcAft>
            </a:pPr>
            <a:r>
              <a:rPr sz="800" b="0" i="0">
                <a:solidFill>
                  <a:srgbClr val="5A6672"/>
                </a:solidFill>
                <a:latin typeface="Calibri"/>
              </a:rPr>
              <a:t>13.0 km downstream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9632289" y="1152144"/>
            <a:ext cx="2209190" cy="896112"/>
          </a:xfrm>
          <a:prstGeom prst="roundRect">
            <a:avLst>
              <a:gd name="adj" fmla="val 8000"/>
            </a:avLst>
          </a:prstGeom>
          <a:solidFill>
            <a:srgbClr val="EEF4F9"/>
          </a:solidFill>
          <a:ln w="11430">
            <a:solidFill>
              <a:srgbClr val="C9D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/>
          </a:p>
        </p:txBody>
      </p:sp>
      <p:sp>
        <p:nvSpPr>
          <p:cNvPr id="17423" name="TextBox 17422"/>
          <p:cNvSpPr txBox="1"/>
          <p:nvPr/>
        </p:nvSpPr>
        <p:spPr>
          <a:xfrm>
            <a:off x="9751161" y="1234440"/>
            <a:ext cx="1971446" cy="384048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lnSpc>
                <a:spcPct val="92000"/>
              </a:lnSpc>
              <a:spcAft>
                <a:spcPts val="0"/>
              </a:spcAft>
            </a:pPr>
            <a:r>
              <a:rPr sz="2100" b="1">
                <a:solidFill>
                  <a:srgbClr val="0E7C7B"/>
                </a:solidFill>
                <a:latin typeface="Calibri"/>
              </a:rPr>
              <a:t>46.44</a:t>
            </a:r>
            <a:r>
              <a:rPr sz="950">
                <a:solidFill>
                  <a:srgbClr val="5A6672"/>
                </a:solidFill>
                <a:latin typeface="Calibri"/>
              </a:rPr>
              <a:t> km²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9751161" y="1645920"/>
            <a:ext cx="1971446" cy="329184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50"/>
              </a:spcAft>
            </a:pPr>
            <a:r>
              <a:rPr sz="800" b="0" i="0">
                <a:solidFill>
                  <a:srgbClr val="5A6672"/>
                </a:solidFill>
                <a:latin typeface="Calibri"/>
              </a:rPr>
              <a:t>inundated envelope, severity</a:t>
            </a:r>
          </a:p>
          <a:p>
            <a:pPr algn="l">
              <a:lnSpc>
                <a:spcPct val="96000"/>
              </a:lnSpc>
              <a:spcAft>
                <a:spcPts val="50"/>
              </a:spcAft>
            </a:pPr>
            <a:r>
              <a:rPr sz="800" b="0" i="0">
                <a:solidFill>
                  <a:srgbClr val="5A6672"/>
                </a:solidFill>
                <a:latin typeface="Calibri"/>
              </a:rPr>
              <a:t>index 0.94 over water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320040" y="2084831"/>
            <a:ext cx="11521440" cy="45720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150"/>
              </a:spcAft>
            </a:pPr>
            <a:r>
              <a:rPr sz="780" b="0" i="0">
                <a:solidFill>
                  <a:srgbClr val="5A6672"/>
                </a:solidFill>
                <a:latin typeface="Calibri"/>
              </a:rPr>
              <a:t>One real run, not an illustration: Tehri Dam (260 m, 3,540 MCM), central breach, 600×600 cells at 200 m over a 60 km radius, 3 h simulated. Peak breach outflow 229,952 m³/s (p05–p95 117,061–353,612); breach formation 29.3 min; maximum depth anywhere 99.9 m (75.1–120.6 m). Depth on a 30 m DEM is indicative — lead with arrival time.   </a:t>
            </a:r>
            <a:r>
              <a:rPr sz="780" b="1" i="0">
                <a:solidFill>
                  <a:srgbClr val="5A6672"/>
                </a:solidFill>
                <a:latin typeface="Calibri"/>
              </a:rPr>
              <a:t>Target —</a:t>
            </a:r>
            <a:r>
              <a:rPr sz="780" b="0" i="0">
                <a:solidFill>
                  <a:srgbClr val="5A6672"/>
                </a:solidFill>
                <a:latin typeface="Calibri"/>
              </a:rPr>
              <a:t> at ~1 min per dam measured, screening all ~6,000 NRLD large dams at Tier-1 is under a week of compute; a state's worth in an afternoon.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320040" y="2377440"/>
            <a:ext cx="5760720" cy="27432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350" b="1" i="0">
                <a:solidFill>
                  <a:srgbClr val="0F2B46"/>
                </a:solidFill>
                <a:latin typeface="Calibri"/>
              </a:rPr>
              <a:t>Potential impact on the target audience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320040" y="2688336"/>
            <a:ext cx="5760720" cy="14996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0F2B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/>
          </a:p>
        </p:txBody>
      </p:sp>
      <p:sp>
        <p:nvSpPr>
          <p:cNvPr id="17428" name="TextBox 17427"/>
          <p:cNvSpPr txBox="1"/>
          <p:nvPr/>
        </p:nvSpPr>
        <p:spPr>
          <a:xfrm>
            <a:off x="448056" y="2779776"/>
            <a:ext cx="5504688" cy="1316736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320"/>
              </a:spcAft>
            </a:pPr>
            <a:r>
              <a:rPr sz="840" b="0" i="0">
                <a:solidFill>
                  <a:srgbClr val="1F2933"/>
                </a:solidFill>
                <a:latin typeface="Calibri"/>
              </a:rPr>
              <a:t>▪ </a:t>
            </a:r>
            <a:r>
              <a:rPr sz="840" b="1" i="0">
                <a:solidFill>
                  <a:srgbClr val="1F2933"/>
                </a:solidFill>
                <a:latin typeface="Calibri"/>
              </a:rPr>
              <a:t>NDMA / SDMA / DDMA</a:t>
            </a:r>
            <a:r>
              <a:rPr sz="840" b="0" i="0">
                <a:solidFill>
                  <a:srgbClr val="1F2933"/>
                </a:solidFill>
                <a:latin typeface="Calibri"/>
              </a:rPr>
              <a:t> — depth, extent and arrival time are exactly what an evacuation order needs; .kml drops into the GIS they already run.</a:t>
            </a:r>
          </a:p>
          <a:p>
            <a:pPr algn="l">
              <a:lnSpc>
                <a:spcPct val="95000"/>
              </a:lnSpc>
              <a:spcAft>
                <a:spcPts val="320"/>
              </a:spcAft>
            </a:pPr>
            <a:r>
              <a:rPr sz="840" b="0" i="0">
                <a:solidFill>
                  <a:srgbClr val="1F2933"/>
                </a:solidFill>
                <a:latin typeface="Calibri"/>
              </a:rPr>
              <a:t>▪ </a:t>
            </a:r>
            <a:r>
              <a:rPr sz="840" b="1" i="0">
                <a:solidFill>
                  <a:srgbClr val="1F2933"/>
                </a:solidFill>
                <a:latin typeface="Calibri"/>
              </a:rPr>
              <a:t>CWC / NDSA</a:t>
            </a:r>
            <a:r>
              <a:rPr sz="840" b="0" i="0">
                <a:solidFill>
                  <a:srgbClr val="1F2933"/>
                </a:solidFill>
                <a:latin typeface="Calibri"/>
              </a:rPr>
              <a:t> — a Tier-1 screening layer under CDSO_GUD_DS_05, to triage which of India's large dams warrant a full expert study first.</a:t>
            </a:r>
          </a:p>
          <a:p>
            <a:pPr algn="l">
              <a:lnSpc>
                <a:spcPct val="95000"/>
              </a:lnSpc>
              <a:spcAft>
                <a:spcPts val="320"/>
              </a:spcAft>
            </a:pPr>
            <a:r>
              <a:rPr sz="840" b="0" i="0">
                <a:solidFill>
                  <a:srgbClr val="1F2933"/>
                </a:solidFill>
                <a:latin typeface="Calibri"/>
              </a:rPr>
              <a:t>▪ </a:t>
            </a:r>
            <a:r>
              <a:rPr sz="840" b="1" i="0">
                <a:solidFill>
                  <a:srgbClr val="1F2933"/>
                </a:solidFill>
                <a:latin typeface="Calibri"/>
              </a:rPr>
              <a:t>NTRO / HADR planners</a:t>
            </a:r>
            <a:r>
              <a:rPr sz="840" b="0" i="0">
                <a:solidFill>
                  <a:srgbClr val="1F2933"/>
                </a:solidFill>
                <a:latin typeface="Calibri"/>
              </a:rPr>
              <a:t> — scenarios for dams and landslide lakes that cannot be ground-surveyed, including reaches with no site access.</a:t>
            </a:r>
          </a:p>
          <a:p>
            <a:pPr algn="l">
              <a:lnSpc>
                <a:spcPct val="95000"/>
              </a:lnSpc>
              <a:spcAft>
                <a:spcPts val="320"/>
              </a:spcAft>
            </a:pPr>
            <a:r>
              <a:rPr sz="840" b="0" i="0">
                <a:solidFill>
                  <a:srgbClr val="1F2933"/>
                </a:solidFill>
                <a:latin typeface="Calibri"/>
              </a:rPr>
              <a:t>▪ </a:t>
            </a:r>
            <a:r>
              <a:rPr sz="840" b="1" i="0">
                <a:solidFill>
                  <a:srgbClr val="1F2933"/>
                </a:solidFill>
                <a:latin typeface="Calibri"/>
              </a:rPr>
              <a:t>Army / BRO / NDRF</a:t>
            </a:r>
            <a:r>
              <a:rPr sz="840" b="0" i="0">
                <a:solidFill>
                  <a:srgbClr val="1F2933"/>
                </a:solidFill>
                <a:latin typeface="Calibri"/>
              </a:rPr>
              <a:t> — pre-positioning, and deliberate-breach planning of the kind executed at Phuktal in 2015.</a:t>
            </a:r>
          </a:p>
          <a:p>
            <a:pPr algn="l">
              <a:lnSpc>
                <a:spcPct val="95000"/>
              </a:lnSpc>
              <a:spcAft>
                <a:spcPts val="320"/>
              </a:spcAft>
            </a:pPr>
            <a:r>
              <a:rPr sz="840" b="0" i="0">
                <a:solidFill>
                  <a:srgbClr val="1F2933"/>
                </a:solidFill>
                <a:latin typeface="Calibri"/>
              </a:rPr>
              <a:t>▪ </a:t>
            </a:r>
            <a:r>
              <a:rPr sz="840" b="1" i="0">
                <a:solidFill>
                  <a:srgbClr val="1F2933"/>
                </a:solidFill>
                <a:latin typeface="Calibri"/>
              </a:rPr>
              <a:t>Downstream communities</a:t>
            </a:r>
            <a:r>
              <a:rPr sz="840" b="0" i="0">
                <a:solidFill>
                  <a:srgbClr val="1F2933"/>
                </a:solidFill>
                <a:latin typeface="Calibri"/>
              </a:rPr>
              <a:t> — the people counted in the 1,760 above, who at Chamoli in 2021 received no warning at all.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320040" y="4242816"/>
            <a:ext cx="5760720" cy="27432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350" b="1" i="0">
                <a:solidFill>
                  <a:srgbClr val="0F2B46"/>
                </a:solidFill>
                <a:latin typeface="Calibri"/>
              </a:rPr>
              <a:t>Benefits of the solution (social, economic, environmental)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320040" y="4553712"/>
            <a:ext cx="1847088" cy="1645920"/>
          </a:xfrm>
          <a:prstGeom prst="roundRect">
            <a:avLst>
              <a:gd name="adj" fmla="val 8000"/>
            </a:avLst>
          </a:prstGeom>
          <a:solidFill>
            <a:srgbClr val="EEF4F9"/>
          </a:solidFill>
          <a:ln w="11430">
            <a:solidFill>
              <a:srgbClr val="C9D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/>
          </a:p>
        </p:txBody>
      </p:sp>
      <p:sp>
        <p:nvSpPr>
          <p:cNvPr id="17431" name="TextBox 17430"/>
          <p:cNvSpPr txBox="1"/>
          <p:nvPr/>
        </p:nvSpPr>
        <p:spPr>
          <a:xfrm>
            <a:off x="411479" y="4626864"/>
            <a:ext cx="1664208" cy="219456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19" b="1" i="0">
                <a:solidFill>
                  <a:srgbClr val="B02E2A"/>
                </a:solidFill>
                <a:latin typeface="Calibri"/>
              </a:rPr>
              <a:t>SOCIAL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429768" y="4901183"/>
            <a:ext cx="1627632" cy="1225296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97000"/>
              </a:lnSpc>
              <a:spcAft>
                <a:spcPts val="0"/>
              </a:spcAft>
            </a:pPr>
            <a:r>
              <a:rPr sz="819" b="0" i="0">
                <a:solidFill>
                  <a:srgbClr val="1F2933"/>
                </a:solidFill>
                <a:latin typeface="Calibri"/>
              </a:rPr>
              <a:t>Arrival time is lead time, and lead time is evacuation. The exposed population is split by how many minutes each group actually has — 193 of them under 15. Works for terrain that cannot be surveyed or reached at all.</a:t>
            </a:r>
          </a:p>
        </p:txBody>
      </p:sp>
      <p:sp>
        <p:nvSpPr>
          <p:cNvPr id="17433" name="Rounded Rectangle 17432"/>
          <p:cNvSpPr/>
          <p:nvPr/>
        </p:nvSpPr>
        <p:spPr>
          <a:xfrm>
            <a:off x="2276856" y="4553712"/>
            <a:ext cx="1847088" cy="1645920"/>
          </a:xfrm>
          <a:prstGeom prst="roundRect">
            <a:avLst>
              <a:gd name="adj" fmla="val 8000"/>
            </a:avLst>
          </a:prstGeom>
          <a:solidFill>
            <a:srgbClr val="EEF4F9"/>
          </a:solidFill>
          <a:ln w="11430">
            <a:solidFill>
              <a:srgbClr val="C9D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/>
          </a:p>
        </p:txBody>
      </p:sp>
      <p:sp>
        <p:nvSpPr>
          <p:cNvPr id="17434" name="TextBox 17433"/>
          <p:cNvSpPr txBox="1"/>
          <p:nvPr/>
        </p:nvSpPr>
        <p:spPr>
          <a:xfrm>
            <a:off x="2368296" y="4626864"/>
            <a:ext cx="1664208" cy="219456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19" b="1" i="0">
                <a:solidFill>
                  <a:srgbClr val="0F2B46"/>
                </a:solidFill>
                <a:latin typeface="Calibri"/>
              </a:rPr>
              <a:t>ECONOMIC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2386584" y="4901183"/>
            <a:ext cx="1627632" cy="1225296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97000"/>
              </a:lnSpc>
              <a:spcAft>
                <a:spcPts val="0"/>
              </a:spcAft>
            </a:pPr>
            <a:r>
              <a:rPr sz="819" b="0" i="0">
                <a:solidFill>
                  <a:srgbClr val="1F2933"/>
                </a:solidFill>
                <a:latin typeface="Calibri"/>
              </a:rPr>
              <a:t>Zero licence cost, and automation replaces weeks of specialist setup per site. .shp / .kml at the 1:50,000 and 1:10,000 scales CWC's Emergency Action Plan guidelines specify — usable, not merely viewable.</a:t>
            </a:r>
          </a:p>
        </p:txBody>
      </p:sp>
      <p:sp>
        <p:nvSpPr>
          <p:cNvPr id="17436" name="Rounded Rectangle 17435"/>
          <p:cNvSpPr/>
          <p:nvPr/>
        </p:nvSpPr>
        <p:spPr>
          <a:xfrm>
            <a:off x="4233672" y="4553712"/>
            <a:ext cx="1847088" cy="1645920"/>
          </a:xfrm>
          <a:prstGeom prst="roundRect">
            <a:avLst>
              <a:gd name="adj" fmla="val 8000"/>
            </a:avLst>
          </a:prstGeom>
          <a:solidFill>
            <a:srgbClr val="EEF4F9"/>
          </a:solidFill>
          <a:ln w="11430">
            <a:solidFill>
              <a:srgbClr val="C9D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/>
          </a:p>
        </p:txBody>
      </p:sp>
      <p:sp>
        <p:nvSpPr>
          <p:cNvPr id="17437" name="TextBox 17436"/>
          <p:cNvSpPr txBox="1"/>
          <p:nvPr/>
        </p:nvSpPr>
        <p:spPr>
          <a:xfrm>
            <a:off x="4325112" y="4626864"/>
            <a:ext cx="1664208" cy="219456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19" b="1" i="0">
                <a:solidFill>
                  <a:srgbClr val="0E7C7B"/>
                </a:solidFill>
                <a:latin typeface="Calibri"/>
              </a:rPr>
              <a:t>ENVIRONMENTAL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4343400" y="4901183"/>
            <a:ext cx="1627632" cy="1225296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97000"/>
              </a:lnSpc>
              <a:spcAft>
                <a:spcPts val="0"/>
              </a:spcAft>
            </a:pPr>
            <a:r>
              <a:rPr sz="819" b="0" i="0">
                <a:solidFill>
                  <a:srgbClr val="1F2933"/>
                </a:solidFill>
                <a:latin typeface="Calibri"/>
              </a:rPr>
              <a:t>Identifies cropland and ecosystems in the flood path, and supports scheduled controlled release over emergency release. Open and reproducible: anyone can re-run the cross-check and get these numbers.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6355080" y="2377440"/>
            <a:ext cx="5486400" cy="27432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150" b="1" i="0">
                <a:solidFill>
                  <a:srgbClr val="0F2B46"/>
                </a:solidFill>
                <a:latin typeface="Calibri"/>
              </a:rPr>
              <a:t>Real terrain, real reach</a:t>
            </a:r>
          </a:p>
        </p:txBody>
      </p:sp>
      <p:pic>
        <p:nvPicPr>
          <p:cNvPr id="17440" name="Picture 17439" descr="terrain3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2688336"/>
            <a:ext cx="3566160" cy="2067935"/>
          </a:xfrm>
          <a:prstGeom prst="rect">
            <a:avLst/>
          </a:prstGeom>
        </p:spPr>
      </p:pic>
      <p:sp>
        <p:nvSpPr>
          <p:cNvPr id="17441" name="TextBox 17440"/>
          <p:cNvSpPr txBox="1"/>
          <p:nvPr/>
        </p:nvSpPr>
        <p:spPr>
          <a:xfrm>
            <a:off x="6355080" y="4811135"/>
            <a:ext cx="5486400" cy="45720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150"/>
              </a:spcAft>
            </a:pPr>
            <a:r>
              <a:rPr sz="720" b="0" i="0">
                <a:solidFill>
                  <a:srgbClr val="5A6672"/>
                </a:solidFill>
                <a:latin typeface="Calibri"/>
              </a:rPr>
              <a:t>Bhagirathi valley below Tehri on Copernicus GLO-30, rendered in ParaView with the computed depth draped over it. Rishikesh and Haridwar report no arrival — Rishikesh sits 18 m above the nearest channel — reported as a null, not dropped.</a:t>
            </a:r>
          </a:p>
        </p:txBody>
      </p:sp>
      <p:sp>
        <p:nvSpPr>
          <p:cNvPr id="17442" name="TextBox 17441"/>
          <p:cNvSpPr txBox="1"/>
          <p:nvPr/>
        </p:nvSpPr>
        <p:spPr>
          <a:xfrm>
            <a:off x="6355080" y="4974336"/>
            <a:ext cx="5486400" cy="27432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150" b="1" i="0">
                <a:solidFill>
                  <a:srgbClr val="0F2B46"/>
                </a:solidFill>
                <a:latin typeface="Calibri"/>
              </a:rPr>
              <a:t>Roadmap — done, now, next</a:t>
            </a:r>
          </a:p>
        </p:txBody>
      </p:sp>
      <p:sp>
        <p:nvSpPr>
          <p:cNvPr id="17443" name="Rectangle 17442"/>
          <p:cNvSpPr/>
          <p:nvPr/>
        </p:nvSpPr>
        <p:spPr>
          <a:xfrm>
            <a:off x="6629400" y="5376672"/>
            <a:ext cx="4937760" cy="18288"/>
          </a:xfrm>
          <a:prstGeom prst="rect">
            <a:avLst/>
          </a:prstGeom>
          <a:solidFill>
            <a:srgbClr val="C9D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4" name="Oval 17443"/>
          <p:cNvSpPr/>
          <p:nvPr/>
        </p:nvSpPr>
        <p:spPr>
          <a:xfrm>
            <a:off x="6501384" y="5303520"/>
            <a:ext cx="146304" cy="146304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/>
          </a:p>
        </p:txBody>
      </p:sp>
      <p:sp>
        <p:nvSpPr>
          <p:cNvPr id="17445" name="TextBox 17444"/>
          <p:cNvSpPr txBox="1"/>
          <p:nvPr/>
        </p:nvSpPr>
        <p:spPr>
          <a:xfrm>
            <a:off x="6702552" y="5294376"/>
            <a:ext cx="1426464" cy="164592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60" b="1" i="0">
                <a:solidFill>
                  <a:srgbClr val="0E7C7B"/>
                </a:solidFill>
                <a:latin typeface="Calibri"/>
              </a:rPr>
              <a:t>DONE</a:t>
            </a:r>
          </a:p>
        </p:txBody>
      </p:sp>
      <p:sp>
        <p:nvSpPr>
          <p:cNvPr id="17446" name="TextBox 17445"/>
          <p:cNvSpPr txBox="1"/>
          <p:nvPr/>
        </p:nvSpPr>
        <p:spPr>
          <a:xfrm>
            <a:off x="6501384" y="5477256"/>
            <a:ext cx="1609344" cy="146304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700" b="0" i="0">
                <a:solidFill>
                  <a:srgbClr val="5A6672"/>
                </a:solidFill>
                <a:latin typeface="Calibri"/>
              </a:rPr>
              <a:t>Jan – Aug 2026</a:t>
            </a:r>
          </a:p>
        </p:txBody>
      </p:sp>
      <p:sp>
        <p:nvSpPr>
          <p:cNvPr id="17447" name="TextBox 17446"/>
          <p:cNvSpPr txBox="1"/>
          <p:nvPr/>
        </p:nvSpPr>
        <p:spPr>
          <a:xfrm>
            <a:off x="6501384" y="5650992"/>
            <a:ext cx="1609344" cy="566928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120"/>
              </a:spcAft>
            </a:pPr>
            <a:r>
              <a:rPr sz="740" b="0" i="0">
                <a:solidFill>
                  <a:srgbClr val="1F2933"/>
                </a:solidFill>
                <a:latin typeface="Calibri"/>
              </a:rPr>
              <a:t>▪ Solver + blocking gates</a:t>
            </a:r>
          </a:p>
          <a:p>
            <a:pPr algn="l">
              <a:lnSpc>
                <a:spcPct val="95000"/>
              </a:lnSpc>
              <a:spcAft>
                <a:spcPts val="120"/>
              </a:spcAft>
            </a:pPr>
            <a:r>
              <a:rPr sz="740" b="0" i="0">
                <a:solidFill>
                  <a:srgbClr val="1F2933"/>
                </a:solidFill>
                <a:latin typeface="Calibri"/>
              </a:rPr>
              <a:t>▪ Delft3D FM cross-check</a:t>
            </a:r>
          </a:p>
          <a:p>
            <a:pPr algn="l">
              <a:lnSpc>
                <a:spcPct val="95000"/>
              </a:lnSpc>
              <a:spcAft>
                <a:spcPts val="120"/>
              </a:spcAft>
            </a:pPr>
            <a:r>
              <a:rPr sz="740" b="0" i="0">
                <a:solidFill>
                  <a:srgbClr val="1F2933"/>
                </a:solidFill>
                <a:latin typeface="Calibri"/>
              </a:rPr>
              <a:t>▪ Dashboard, exports, SPH</a:t>
            </a:r>
          </a:p>
        </p:txBody>
      </p:sp>
      <p:sp>
        <p:nvSpPr>
          <p:cNvPr id="17448" name="Oval 17447"/>
          <p:cNvSpPr/>
          <p:nvPr/>
        </p:nvSpPr>
        <p:spPr>
          <a:xfrm>
            <a:off x="8330183" y="5303520"/>
            <a:ext cx="146304" cy="146304"/>
          </a:xfrm>
          <a:prstGeom prst="ellipse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/>
          </a:p>
        </p:txBody>
      </p:sp>
      <p:sp>
        <p:nvSpPr>
          <p:cNvPr id="17449" name="TextBox 17448"/>
          <p:cNvSpPr txBox="1"/>
          <p:nvPr/>
        </p:nvSpPr>
        <p:spPr>
          <a:xfrm>
            <a:off x="8531352" y="5294376"/>
            <a:ext cx="1426464" cy="164592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60" b="1" i="0">
                <a:solidFill>
                  <a:srgbClr val="0F2B46"/>
                </a:solidFill>
                <a:latin typeface="Calibri"/>
              </a:rPr>
              <a:t>NOW</a:t>
            </a:r>
          </a:p>
        </p:txBody>
      </p:sp>
      <p:sp>
        <p:nvSpPr>
          <p:cNvPr id="17450" name="TextBox 17449"/>
          <p:cNvSpPr txBox="1"/>
          <p:nvPr/>
        </p:nvSpPr>
        <p:spPr>
          <a:xfrm>
            <a:off x="8330183" y="5477256"/>
            <a:ext cx="1609344" cy="146304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700" b="0" i="0">
                <a:solidFill>
                  <a:srgbClr val="5A6672"/>
                </a:solidFill>
                <a:latin typeface="Calibri"/>
              </a:rPr>
              <a:t>Sep 2026</a:t>
            </a:r>
          </a:p>
        </p:txBody>
      </p:sp>
      <p:sp>
        <p:nvSpPr>
          <p:cNvPr id="17451" name="TextBox 17450"/>
          <p:cNvSpPr txBox="1"/>
          <p:nvPr/>
        </p:nvSpPr>
        <p:spPr>
          <a:xfrm>
            <a:off x="8330183" y="5650992"/>
            <a:ext cx="1609344" cy="566928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120"/>
              </a:spcAft>
            </a:pPr>
            <a:r>
              <a:rPr sz="740" b="0" i="0">
                <a:solidFill>
                  <a:srgbClr val="1F2933"/>
                </a:solidFill>
                <a:latin typeface="Calibri"/>
              </a:rPr>
              <a:t>▪ Tehri + Khadakwasla runs</a:t>
            </a:r>
          </a:p>
          <a:p>
            <a:pPr algn="l">
              <a:lnSpc>
                <a:spcPct val="95000"/>
              </a:lnSpc>
              <a:spcAft>
                <a:spcPts val="120"/>
              </a:spcAft>
            </a:pPr>
            <a:r>
              <a:rPr sz="740" b="0" i="0">
                <a:solidFill>
                  <a:srgbClr val="1F2933"/>
                </a:solidFill>
                <a:latin typeface="Calibri"/>
              </a:rPr>
              <a:t>▪ Sentinel-1 validation loop</a:t>
            </a:r>
          </a:p>
          <a:p>
            <a:pPr algn="l">
              <a:lnSpc>
                <a:spcPct val="95000"/>
              </a:lnSpc>
              <a:spcAft>
                <a:spcPts val="120"/>
              </a:spcAft>
            </a:pPr>
            <a:r>
              <a:rPr sz="740" b="0" i="0">
                <a:solidFill>
                  <a:srgbClr val="1F2933"/>
                </a:solidFill>
                <a:latin typeface="Calibri"/>
              </a:rPr>
              <a:t>▪ SIH prototype review</a:t>
            </a:r>
          </a:p>
        </p:txBody>
      </p:sp>
      <p:sp>
        <p:nvSpPr>
          <p:cNvPr id="17452" name="Oval 17451"/>
          <p:cNvSpPr/>
          <p:nvPr/>
        </p:nvSpPr>
        <p:spPr>
          <a:xfrm>
            <a:off x="10158984" y="5303520"/>
            <a:ext cx="146304" cy="146304"/>
          </a:xfrm>
          <a:prstGeom prst="ellipse">
            <a:avLst/>
          </a:prstGeom>
          <a:solidFill>
            <a:srgbClr val="B02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/>
          </a:p>
        </p:txBody>
      </p:sp>
      <p:sp>
        <p:nvSpPr>
          <p:cNvPr id="17453" name="TextBox 17452"/>
          <p:cNvSpPr txBox="1"/>
          <p:nvPr/>
        </p:nvSpPr>
        <p:spPr>
          <a:xfrm>
            <a:off x="10360152" y="5294376"/>
            <a:ext cx="1426464" cy="164592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60" b="1" i="0">
                <a:solidFill>
                  <a:srgbClr val="B02E2A"/>
                </a:solidFill>
                <a:latin typeface="Calibri"/>
              </a:rPr>
              <a:t>NEXT</a:t>
            </a:r>
          </a:p>
        </p:txBody>
      </p:sp>
      <p:sp>
        <p:nvSpPr>
          <p:cNvPr id="17454" name="TextBox 17453"/>
          <p:cNvSpPr txBox="1"/>
          <p:nvPr/>
        </p:nvSpPr>
        <p:spPr>
          <a:xfrm>
            <a:off x="10158984" y="5477256"/>
            <a:ext cx="1609344" cy="146304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700" b="0" i="0">
                <a:solidFill>
                  <a:srgbClr val="5A6672"/>
                </a:solidFill>
                <a:latin typeface="Calibri"/>
              </a:rPr>
              <a:t>Oct 2026 →</a:t>
            </a:r>
          </a:p>
        </p:txBody>
      </p:sp>
      <p:sp>
        <p:nvSpPr>
          <p:cNvPr id="17455" name="TextBox 17454"/>
          <p:cNvSpPr txBox="1"/>
          <p:nvPr/>
        </p:nvSpPr>
        <p:spPr>
          <a:xfrm>
            <a:off x="10158984" y="5650992"/>
            <a:ext cx="1609344" cy="566928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120"/>
              </a:spcAft>
            </a:pPr>
            <a:r>
              <a:rPr sz="740" b="0" i="0">
                <a:solidFill>
                  <a:srgbClr val="1F2933"/>
                </a:solidFill>
                <a:latin typeface="Calibri"/>
              </a:rPr>
              <a:t>▪ All CWC NRLD dams</a:t>
            </a:r>
          </a:p>
          <a:p>
            <a:pPr algn="l">
              <a:lnSpc>
                <a:spcPct val="95000"/>
              </a:lnSpc>
              <a:spcAft>
                <a:spcPts val="120"/>
              </a:spcAft>
            </a:pPr>
            <a:r>
              <a:rPr sz="740" b="0" i="0">
                <a:solidFill>
                  <a:srgbClr val="1F2933"/>
                </a:solidFill>
                <a:latin typeface="Calibri"/>
              </a:rPr>
              <a:t>▪ EAP-format map packs</a:t>
            </a:r>
          </a:p>
          <a:p>
            <a:pPr algn="l">
              <a:lnSpc>
                <a:spcPct val="95000"/>
              </a:lnSpc>
              <a:spcAft>
                <a:spcPts val="120"/>
              </a:spcAft>
            </a:pPr>
            <a:r>
              <a:rPr sz="740" b="0" i="0">
                <a:solidFill>
                  <a:srgbClr val="1F2933"/>
                </a:solidFill>
                <a:latin typeface="Calibri"/>
              </a:rPr>
              <a:t>▪ SDMA field pilot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800" b="1" i="0">
                <a:solidFill>
                  <a:srgbClr val="1F2933"/>
                </a:solidFill>
                <a:latin typeface="Calibri"/>
              </a:rPr>
              <a:t>&lt;TEAM NAME&gt;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320040" y="1188720"/>
            <a:ext cx="11521440" cy="27432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150" b="1" i="0">
                <a:solidFill>
                  <a:srgbClr val="0F2B46"/>
                </a:solidFill>
                <a:latin typeface="Calibri"/>
              </a:rPr>
              <a:t>Details / Links of the reference and research work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320040" y="1517904"/>
            <a:ext cx="3785615" cy="27432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19" b="1" i="0">
                <a:solidFill>
                  <a:srgbClr val="0F2B46"/>
                </a:solidFill>
                <a:latin typeface="Calibri"/>
              </a:rPr>
              <a:t>Problem domain — Indian events and regulation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320040" y="1828800"/>
            <a:ext cx="3785615" cy="3675888"/>
          </a:xfrm>
          <a:prstGeom prst="roundRect">
            <a:avLst>
              <a:gd name="adj" fmla="val 8000"/>
            </a:avLst>
          </a:prstGeom>
          <a:solidFill>
            <a:srgbClr val="EEF4F9"/>
          </a:solidFill>
          <a:ln w="11430">
            <a:solidFill>
              <a:srgbClr val="C9D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/>
          </a:p>
        </p:txBody>
      </p:sp>
      <p:sp>
        <p:nvSpPr>
          <p:cNvPr id="17413" name="TextBox 17412"/>
          <p:cNvSpPr txBox="1"/>
          <p:nvPr/>
        </p:nvSpPr>
        <p:spPr>
          <a:xfrm>
            <a:off x="429768" y="1929384"/>
            <a:ext cx="3566159" cy="34747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950"/>
              </a:spcAft>
            </a:pPr>
            <a:r>
              <a:rPr sz="930" b="0" i="0">
                <a:solidFill>
                  <a:srgbClr val="1F2933"/>
                </a:solidFill>
                <a:latin typeface="Calibri"/>
              </a:rPr>
              <a:t>▪ CWC / CDSO, </a:t>
            </a:r>
            <a:r>
              <a:rPr sz="930" b="1" i="0">
                <a:solidFill>
                  <a:srgbClr val="1F2933"/>
                </a:solidFill>
                <a:latin typeface="Calibri"/>
              </a:rPr>
              <a:t>Guidelines for Mapping Flood Risks Associated with Dams</a:t>
            </a:r>
            <a:r>
              <a:rPr sz="930" b="0" i="0">
                <a:solidFill>
                  <a:srgbClr val="1F2933"/>
                </a:solidFill>
                <a:latin typeface="Calibri"/>
              </a:rPr>
              <a:t>, CDSO_GUD_DS_05 v1.0, 2018 — the Tier 1–3 framework this tool targets</a:t>
            </a:r>
          </a:p>
          <a:p>
            <a:pPr algn="l">
              <a:lnSpc>
                <a:spcPct val="96000"/>
              </a:lnSpc>
              <a:spcAft>
                <a:spcPts val="950"/>
              </a:spcAft>
            </a:pPr>
            <a:r>
              <a:rPr sz="930" b="0" i="0">
                <a:solidFill>
                  <a:srgbClr val="1F2933"/>
                </a:solidFill>
                <a:latin typeface="Calibri"/>
              </a:rPr>
              <a:t>▪ CWC, </a:t>
            </a:r>
            <a:r>
              <a:rPr sz="930" b="1" i="0">
                <a:solidFill>
                  <a:srgbClr val="1F2933"/>
                </a:solidFill>
                <a:latin typeface="Calibri"/>
              </a:rPr>
              <a:t>Emergency Action Plan guidelines</a:t>
            </a:r>
            <a:r>
              <a:rPr sz="930" b="0" i="0">
                <a:solidFill>
                  <a:srgbClr val="1F2933"/>
                </a:solidFill>
                <a:latin typeface="Calibri"/>
              </a:rPr>
              <a:t> — index maps 1:50,000, detailed maps 1:10,000</a:t>
            </a:r>
          </a:p>
          <a:p>
            <a:pPr algn="l">
              <a:lnSpc>
                <a:spcPct val="96000"/>
              </a:lnSpc>
              <a:spcAft>
                <a:spcPts val="950"/>
              </a:spcAft>
            </a:pPr>
            <a:r>
              <a:rPr sz="930" b="0" i="0">
                <a:solidFill>
                  <a:srgbClr val="1F2933"/>
                </a:solidFill>
                <a:latin typeface="Calibri"/>
              </a:rPr>
              <a:t>▪ Shugar et al. 2021, </a:t>
            </a:r>
            <a:r>
              <a:rPr sz="930" b="1" i="0">
                <a:solidFill>
                  <a:srgbClr val="1F2933"/>
                </a:solidFill>
                <a:latin typeface="Calibri"/>
              </a:rPr>
              <a:t>Science</a:t>
            </a:r>
            <a:r>
              <a:rPr sz="930" b="0" i="0">
                <a:solidFill>
                  <a:srgbClr val="1F2933"/>
                </a:solidFill>
                <a:latin typeface="Calibri"/>
              </a:rPr>
              <a:t> 373:300–306, doi 10.1126/science.abh4455 — Chamoli; travel times matched to under 5%</a:t>
            </a:r>
          </a:p>
          <a:p>
            <a:pPr algn="l">
              <a:lnSpc>
                <a:spcPct val="96000"/>
              </a:lnSpc>
              <a:spcAft>
                <a:spcPts val="950"/>
              </a:spcAft>
            </a:pPr>
            <a:r>
              <a:rPr sz="930" b="0" i="0">
                <a:solidFill>
                  <a:srgbClr val="1F2933"/>
                </a:solidFill>
                <a:latin typeface="Calibri"/>
              </a:rPr>
              <a:t>▪ Rana et al. 2023, </a:t>
            </a:r>
            <a:r>
              <a:rPr sz="930" b="1" i="0">
                <a:solidFill>
                  <a:srgbClr val="1F2933"/>
                </a:solidFill>
                <a:latin typeface="Calibri"/>
              </a:rPr>
              <a:t>Natural Hazards</a:t>
            </a:r>
            <a:r>
              <a:rPr sz="930" b="0" i="0">
                <a:solidFill>
                  <a:srgbClr val="1F2933"/>
                </a:solidFill>
                <a:latin typeface="Calibri"/>
              </a:rPr>
              <a:t>, doi 10.1007/s11069-023-05972-5 — an independent reconstruction of the same event</a:t>
            </a:r>
          </a:p>
          <a:p>
            <a:pPr algn="l">
              <a:lnSpc>
                <a:spcPct val="96000"/>
              </a:lnSpc>
              <a:spcAft>
                <a:spcPts val="950"/>
              </a:spcAft>
            </a:pPr>
            <a:r>
              <a:rPr sz="930" b="0" i="0">
                <a:solidFill>
                  <a:srgbClr val="1F2933"/>
                </a:solidFill>
                <a:latin typeface="Calibri"/>
              </a:rPr>
              <a:t>▪ Sinha 2009, </a:t>
            </a:r>
            <a:r>
              <a:rPr sz="930" b="1" i="0">
                <a:solidFill>
                  <a:srgbClr val="1F2933"/>
                </a:solidFill>
                <a:latin typeface="Calibri"/>
              </a:rPr>
              <a:t>Current Science</a:t>
            </a:r>
            <a:r>
              <a:rPr sz="930" b="0" i="0">
                <a:solidFill>
                  <a:srgbClr val="1F2933"/>
                </a:solidFill>
                <a:latin typeface="Calibri"/>
              </a:rPr>
              <a:t> 97:429–433 — the 2008 Kosi avulsion</a:t>
            </a:r>
          </a:p>
          <a:p>
            <a:pPr algn="l">
              <a:lnSpc>
                <a:spcPct val="96000"/>
              </a:lnSpc>
              <a:spcAft>
                <a:spcPts val="950"/>
              </a:spcAft>
            </a:pPr>
            <a:r>
              <a:rPr sz="930" b="0" i="0">
                <a:solidFill>
                  <a:srgbClr val="1F2933"/>
                </a:solidFill>
                <a:latin typeface="Calibri"/>
              </a:rPr>
              <a:t>▪ Costa &amp; Schuster 1988, </a:t>
            </a:r>
            <a:r>
              <a:rPr sz="930" b="1" i="0">
                <a:solidFill>
                  <a:srgbClr val="1F2933"/>
                </a:solidFill>
                <a:latin typeface="Calibri"/>
              </a:rPr>
              <a:t>GSA Bulletin</a:t>
            </a:r>
            <a:r>
              <a:rPr sz="930" b="0" i="0">
                <a:solidFill>
                  <a:srgbClr val="1F2933"/>
                </a:solidFill>
                <a:latin typeface="Calibri"/>
              </a:rPr>
              <a:t> — formation and failure of natural dams</a:t>
            </a:r>
          </a:p>
          <a:p>
            <a:pPr algn="l">
              <a:lnSpc>
                <a:spcPct val="96000"/>
              </a:lnSpc>
              <a:spcAft>
                <a:spcPts val="950"/>
              </a:spcAft>
            </a:pPr>
            <a:r>
              <a:rPr sz="930" b="0" i="0">
                <a:solidFill>
                  <a:srgbClr val="1F2933"/>
                </a:solidFill>
                <a:latin typeface="Calibri"/>
              </a:rPr>
              <a:t>▪ CWC </a:t>
            </a:r>
            <a:r>
              <a:rPr sz="930" b="1" i="0">
                <a:solidFill>
                  <a:srgbClr val="1F2933"/>
                </a:solidFill>
                <a:latin typeface="Calibri"/>
              </a:rPr>
              <a:t>NRLD 2019</a:t>
            </a:r>
            <a:r>
              <a:rPr sz="930" b="0" i="0">
                <a:solidFill>
                  <a:srgbClr val="1F2933"/>
                </a:solidFill>
                <a:latin typeface="Calibri"/>
              </a:rPr>
              <a:t> and </a:t>
            </a:r>
            <a:r>
              <a:rPr sz="930" b="1" i="0">
                <a:solidFill>
                  <a:srgbClr val="1F2933"/>
                </a:solidFill>
                <a:latin typeface="Calibri"/>
              </a:rPr>
              <a:t>NRSD 2025</a:t>
            </a:r>
            <a:r>
              <a:rPr sz="930" b="0" i="0">
                <a:solidFill>
                  <a:srgbClr val="1F2933"/>
                </a:solidFill>
                <a:latin typeface="Calibri"/>
              </a:rPr>
              <a:t> national dam registers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4224528" y="1517904"/>
            <a:ext cx="3785615" cy="27432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19" b="1" i="0">
                <a:solidFill>
                  <a:srgbClr val="0F2B46"/>
                </a:solidFill>
                <a:latin typeface="Calibri"/>
              </a:rPr>
              <a:t>Numerical methods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4224528" y="1828800"/>
            <a:ext cx="3785615" cy="3675888"/>
          </a:xfrm>
          <a:prstGeom prst="roundRect">
            <a:avLst>
              <a:gd name="adj" fmla="val 8000"/>
            </a:avLst>
          </a:prstGeom>
          <a:solidFill>
            <a:srgbClr val="EEF4F9"/>
          </a:solidFill>
          <a:ln w="11430">
            <a:solidFill>
              <a:srgbClr val="C9D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/>
          </a:p>
        </p:txBody>
      </p:sp>
      <p:sp>
        <p:nvSpPr>
          <p:cNvPr id="17416" name="TextBox 17415"/>
          <p:cNvSpPr txBox="1"/>
          <p:nvPr/>
        </p:nvSpPr>
        <p:spPr>
          <a:xfrm>
            <a:off x="4334256" y="1929384"/>
            <a:ext cx="3566159" cy="34747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950"/>
              </a:spcAft>
            </a:pPr>
            <a:r>
              <a:rPr sz="930" b="0" i="0">
                <a:solidFill>
                  <a:srgbClr val="1F2933"/>
                </a:solidFill>
                <a:latin typeface="Calibri"/>
              </a:rPr>
              <a:t>▪ Toro 2001, </a:t>
            </a:r>
            <a:r>
              <a:rPr sz="930" b="1" i="0">
                <a:solidFill>
                  <a:srgbClr val="1F2933"/>
                </a:solidFill>
                <a:latin typeface="Calibri"/>
              </a:rPr>
              <a:t>Shock-Capturing Methods for Free-Surface Shallow Flows</a:t>
            </a:r>
            <a:r>
              <a:rPr sz="930" b="0" i="0">
                <a:solidFill>
                  <a:srgbClr val="1F2933"/>
                </a:solidFill>
                <a:latin typeface="Calibri"/>
              </a:rPr>
              <a:t>, Wiley — HLLC wave speeds, two-rarefaction estimate</a:t>
            </a:r>
          </a:p>
          <a:p>
            <a:pPr algn="l">
              <a:lnSpc>
                <a:spcPct val="96000"/>
              </a:lnSpc>
              <a:spcAft>
                <a:spcPts val="950"/>
              </a:spcAft>
            </a:pPr>
            <a:r>
              <a:rPr sz="930" b="0" i="0">
                <a:solidFill>
                  <a:srgbClr val="1F2933"/>
                </a:solidFill>
                <a:latin typeface="Calibri"/>
              </a:rPr>
              <a:t>▪ Audusse et al. 2004, </a:t>
            </a:r>
            <a:r>
              <a:rPr sz="930" b="1" i="0">
                <a:solidFill>
                  <a:srgbClr val="1F2933"/>
                </a:solidFill>
                <a:latin typeface="Calibri"/>
              </a:rPr>
              <a:t>SIAM J. Sci. Comput.</a:t>
            </a:r>
            <a:r>
              <a:rPr sz="930" b="0" i="0">
                <a:solidFill>
                  <a:srgbClr val="1F2933"/>
                </a:solidFill>
                <a:latin typeface="Calibri"/>
              </a:rPr>
              <a:t> 25:2050 — hydrostatic reconstruction, the well-balanced property this solver rests on</a:t>
            </a:r>
          </a:p>
          <a:p>
            <a:pPr algn="l">
              <a:lnSpc>
                <a:spcPct val="96000"/>
              </a:lnSpc>
              <a:spcAft>
                <a:spcPts val="950"/>
              </a:spcAft>
            </a:pPr>
            <a:r>
              <a:rPr sz="930" b="0" i="0">
                <a:solidFill>
                  <a:srgbClr val="1F2933"/>
                </a:solidFill>
                <a:latin typeface="Calibri"/>
              </a:rPr>
              <a:t>▪ Froehlich 2008, </a:t>
            </a:r>
            <a:r>
              <a:rPr sz="930" b="1" i="0">
                <a:solidFill>
                  <a:srgbClr val="1F2933"/>
                </a:solidFill>
                <a:latin typeface="Calibri"/>
              </a:rPr>
              <a:t>J. Hydraul. Eng.</a:t>
            </a:r>
            <a:r>
              <a:rPr sz="930" b="0" i="0">
                <a:solidFill>
                  <a:srgbClr val="1F2933"/>
                </a:solidFill>
                <a:latin typeface="Calibri"/>
              </a:rPr>
              <a:t> 134(12) — embankment breach regressions</a:t>
            </a:r>
          </a:p>
          <a:p>
            <a:pPr algn="l">
              <a:lnSpc>
                <a:spcPct val="96000"/>
              </a:lnSpc>
              <a:spcAft>
                <a:spcPts val="950"/>
              </a:spcAft>
            </a:pPr>
            <a:r>
              <a:rPr sz="930" b="0" i="0">
                <a:solidFill>
                  <a:srgbClr val="1F2933"/>
                </a:solidFill>
                <a:latin typeface="Calibri"/>
              </a:rPr>
              <a:t>▪ Xu &amp; Zhang 2009, </a:t>
            </a:r>
            <a:r>
              <a:rPr sz="930" b="1" i="0">
                <a:solidFill>
                  <a:srgbClr val="1F2933"/>
                </a:solidFill>
                <a:latin typeface="Calibri"/>
              </a:rPr>
              <a:t>J. Geotech. Geoenviron. Eng.</a:t>
            </a:r>
            <a:r>
              <a:rPr sz="930" b="0" i="0">
                <a:solidFill>
                  <a:srgbClr val="1F2933"/>
                </a:solidFill>
                <a:latin typeface="Calibri"/>
              </a:rPr>
              <a:t> 135(12)</a:t>
            </a:r>
          </a:p>
          <a:p>
            <a:pPr algn="l">
              <a:lnSpc>
                <a:spcPct val="96000"/>
              </a:lnSpc>
              <a:spcAft>
                <a:spcPts val="950"/>
              </a:spcAft>
            </a:pPr>
            <a:r>
              <a:rPr sz="930" b="0" i="0">
                <a:solidFill>
                  <a:srgbClr val="1F2933"/>
                </a:solidFill>
                <a:latin typeface="Calibri"/>
              </a:rPr>
              <a:t>▪ Wahl 2004, </a:t>
            </a:r>
            <a:r>
              <a:rPr sz="930" b="1" i="0">
                <a:solidFill>
                  <a:srgbClr val="1F2933"/>
                </a:solidFill>
                <a:latin typeface="Calibri"/>
              </a:rPr>
              <a:t>J. Hydraul. Eng.</a:t>
            </a:r>
            <a:r>
              <a:rPr sz="930" b="0" i="0">
                <a:solidFill>
                  <a:srgbClr val="1F2933"/>
                </a:solidFill>
                <a:latin typeface="Calibri"/>
              </a:rPr>
              <a:t> 130(5) — uncertainty of breach parameters</a:t>
            </a:r>
          </a:p>
          <a:p>
            <a:pPr algn="l">
              <a:lnSpc>
                <a:spcPct val="96000"/>
              </a:lnSpc>
              <a:spcAft>
                <a:spcPts val="950"/>
              </a:spcAft>
            </a:pPr>
            <a:r>
              <a:rPr sz="930" b="0" i="0">
                <a:solidFill>
                  <a:srgbClr val="1F2933"/>
                </a:solidFill>
                <a:latin typeface="Calibri"/>
              </a:rPr>
              <a:t>▪ Maranzoni &amp; Tomirotti 2023, </a:t>
            </a:r>
            <a:r>
              <a:rPr sz="930" b="1" i="0">
                <a:solidFill>
                  <a:srgbClr val="1F2933"/>
                </a:solidFill>
                <a:latin typeface="Calibri"/>
              </a:rPr>
              <a:t>Water</a:t>
            </a:r>
            <a:r>
              <a:rPr sz="930" b="0" i="0">
                <a:solidFill>
                  <a:srgbClr val="1F2933"/>
                </a:solidFill>
                <a:latin typeface="Calibri"/>
              </a:rPr>
              <a:t> 15(17):3130, doi 10.3390/w15173130 — recommends exactly this coupled 2D–3D decomposition</a:t>
            </a:r>
          </a:p>
          <a:p>
            <a:pPr algn="l">
              <a:lnSpc>
                <a:spcPct val="96000"/>
              </a:lnSpc>
              <a:spcAft>
                <a:spcPts val="950"/>
              </a:spcAft>
            </a:pPr>
            <a:r>
              <a:rPr sz="930" b="0" i="0">
                <a:solidFill>
                  <a:srgbClr val="1F2933"/>
                </a:solidFill>
                <a:latin typeface="Calibri"/>
              </a:rPr>
              <a:t>▪ Vacondio et al. 2020, </a:t>
            </a:r>
            <a:r>
              <a:rPr sz="930" b="1" i="0">
                <a:solidFill>
                  <a:srgbClr val="1F2933"/>
                </a:solidFill>
                <a:latin typeface="Calibri"/>
              </a:rPr>
              <a:t>Comp. Particle Mech.</a:t>
            </a:r>
            <a:r>
              <a:rPr sz="930" b="0" i="0">
                <a:solidFill>
                  <a:srgbClr val="1F2933"/>
                </a:solidFill>
                <a:latin typeface="Calibri"/>
              </a:rPr>
              <a:t> 8:575 — SPH Grand Challenge 3</a:t>
            </a:r>
          </a:p>
          <a:p>
            <a:pPr algn="l">
              <a:lnSpc>
                <a:spcPct val="96000"/>
              </a:lnSpc>
              <a:spcAft>
                <a:spcPts val="950"/>
              </a:spcAft>
            </a:pPr>
            <a:r>
              <a:rPr sz="930" b="0" i="0">
                <a:solidFill>
                  <a:srgbClr val="1F2933"/>
                </a:solidFill>
                <a:latin typeface="Calibri"/>
              </a:rPr>
              <a:t>▪ Ramachandran et al. 2021, </a:t>
            </a:r>
            <a:r>
              <a:rPr sz="930" b="1" i="0">
                <a:solidFill>
                  <a:srgbClr val="1F2933"/>
                </a:solidFill>
                <a:latin typeface="Calibri"/>
              </a:rPr>
              <a:t>ACM TOMS</a:t>
            </a:r>
            <a:r>
              <a:rPr sz="930" b="0" i="0">
                <a:solidFill>
                  <a:srgbClr val="1F2933"/>
                </a:solidFill>
                <a:latin typeface="Calibri"/>
              </a:rPr>
              <a:t> 47(4), doi 10.1145/3460773 — PySPH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8138160" y="1517904"/>
            <a:ext cx="3703320" cy="27432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19" b="1" i="0">
                <a:solidFill>
                  <a:srgbClr val="0E7C7B"/>
                </a:solidFill>
                <a:latin typeface="Calibri"/>
              </a:rPr>
              <a:t>Open data and software — free, none login-gated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8138160" y="1828800"/>
            <a:ext cx="3703320" cy="3675888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 w="11430">
            <a:solidFill>
              <a:srgbClr val="ECD3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/>
          </a:p>
        </p:txBody>
      </p:sp>
      <p:sp>
        <p:nvSpPr>
          <p:cNvPr id="17419" name="TextBox 17418"/>
          <p:cNvSpPr txBox="1"/>
          <p:nvPr/>
        </p:nvSpPr>
        <p:spPr>
          <a:xfrm>
            <a:off x="8247888" y="1929384"/>
            <a:ext cx="3483863" cy="34747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950"/>
              </a:spcAft>
            </a:pPr>
            <a:r>
              <a:rPr sz="930" b="0" i="0">
                <a:solidFill>
                  <a:srgbClr val="1F2933"/>
                </a:solidFill>
                <a:latin typeface="Calibri"/>
              </a:rPr>
              <a:t>▪ </a:t>
            </a:r>
            <a:r>
              <a:rPr sz="930" b="1" i="0">
                <a:solidFill>
                  <a:srgbClr val="1F2933"/>
                </a:solidFill>
                <a:latin typeface="Calibri"/>
              </a:rPr>
              <a:t>Copernicus DEM GLO-30</a:t>
            </a:r>
            <a:r>
              <a:rPr sz="930" b="0" i="0">
                <a:solidFill>
                  <a:srgbClr val="1F2933"/>
                </a:solidFill>
                <a:latin typeface="Calibri"/>
              </a:rPr>
              <a:t> — 30 m, public AWS Cloud-Optimized GeoTIFFs</a:t>
            </a:r>
          </a:p>
          <a:p>
            <a:pPr algn="l">
              <a:lnSpc>
                <a:spcPct val="96000"/>
              </a:lnSpc>
              <a:spcAft>
                <a:spcPts val="950"/>
              </a:spcAft>
            </a:pPr>
            <a:r>
              <a:rPr sz="930" b="0" i="0">
                <a:solidFill>
                  <a:srgbClr val="1F2933"/>
                </a:solidFill>
                <a:latin typeface="Calibri"/>
              </a:rPr>
              <a:t>▪ </a:t>
            </a:r>
            <a:r>
              <a:rPr sz="930" b="1" i="0">
                <a:solidFill>
                  <a:srgbClr val="1F2933"/>
                </a:solidFill>
                <a:latin typeface="Calibri"/>
              </a:rPr>
              <a:t>Sentinel-1 GRD</a:t>
            </a:r>
            <a:r>
              <a:rPr sz="930" b="0" i="0">
                <a:solidFill>
                  <a:srgbClr val="1F2933"/>
                </a:solidFill>
                <a:latin typeface="Calibri"/>
              </a:rPr>
              <a:t> and </a:t>
            </a:r>
            <a:r>
              <a:rPr sz="930" b="1" i="0">
                <a:solidFill>
                  <a:srgbClr val="1F2933"/>
                </a:solidFill>
                <a:latin typeface="Calibri"/>
              </a:rPr>
              <a:t>JRC Global Surface Water</a:t>
            </a:r>
            <a:r>
              <a:rPr sz="930" b="0" i="0">
                <a:solidFill>
                  <a:srgbClr val="1F2933"/>
                </a:solidFill>
                <a:latin typeface="Calibri"/>
              </a:rPr>
              <a:t> via Google Earth Engine</a:t>
            </a:r>
          </a:p>
          <a:p>
            <a:pPr algn="l">
              <a:lnSpc>
                <a:spcPct val="96000"/>
              </a:lnSpc>
              <a:spcAft>
                <a:spcPts val="950"/>
              </a:spcAft>
            </a:pPr>
            <a:r>
              <a:rPr sz="930" b="0" i="0">
                <a:solidFill>
                  <a:srgbClr val="1F2933"/>
                </a:solidFill>
                <a:latin typeface="Calibri"/>
              </a:rPr>
              <a:t>▪ </a:t>
            </a:r>
            <a:r>
              <a:rPr sz="930" b="1" i="0">
                <a:solidFill>
                  <a:srgbClr val="1F2933"/>
                </a:solidFill>
                <a:latin typeface="Calibri"/>
              </a:rPr>
              <a:t>GHSL P2023A</a:t>
            </a:r>
            <a:r>
              <a:rPr sz="930" b="0" i="0">
                <a:solidFill>
                  <a:srgbClr val="1F2933"/>
                </a:solidFill>
                <a:latin typeface="Calibri"/>
              </a:rPr>
              <a:t> gridded population, epoch 2020 (JRC)</a:t>
            </a:r>
          </a:p>
          <a:p>
            <a:pPr algn="l">
              <a:lnSpc>
                <a:spcPct val="96000"/>
              </a:lnSpc>
              <a:spcAft>
                <a:spcPts val="950"/>
              </a:spcAft>
            </a:pPr>
            <a:r>
              <a:rPr sz="930" b="0" i="0">
                <a:solidFill>
                  <a:srgbClr val="1F2933"/>
                </a:solidFill>
                <a:latin typeface="Calibri"/>
              </a:rPr>
              <a:t>▪ </a:t>
            </a:r>
            <a:r>
              <a:rPr sz="930" b="1" i="0">
                <a:solidFill>
                  <a:srgbClr val="1F2933"/>
                </a:solidFill>
                <a:latin typeface="Calibri"/>
              </a:rPr>
              <a:t>ESA WorldCover</a:t>
            </a:r>
            <a:r>
              <a:rPr sz="930" b="0" i="0">
                <a:solidFill>
                  <a:srgbClr val="1F2933"/>
                </a:solidFill>
                <a:latin typeface="Calibri"/>
              </a:rPr>
              <a:t> — land cover driving Manning's n</a:t>
            </a:r>
          </a:p>
          <a:p>
            <a:pPr algn="l">
              <a:lnSpc>
                <a:spcPct val="96000"/>
              </a:lnSpc>
              <a:spcAft>
                <a:spcPts val="950"/>
              </a:spcAft>
            </a:pPr>
            <a:r>
              <a:rPr sz="930" b="0" i="0">
                <a:solidFill>
                  <a:srgbClr val="1F2933"/>
                </a:solidFill>
                <a:latin typeface="Calibri"/>
              </a:rPr>
              <a:t>▪ </a:t>
            </a:r>
            <a:r>
              <a:rPr sz="930" b="1" i="0">
                <a:solidFill>
                  <a:srgbClr val="1F2933"/>
                </a:solidFill>
                <a:latin typeface="Calibri"/>
              </a:rPr>
              <a:t>Google Open Buildings</a:t>
            </a:r>
            <a:r>
              <a:rPr sz="930" b="0" i="0">
                <a:solidFill>
                  <a:srgbClr val="1F2933"/>
                </a:solidFill>
                <a:latin typeface="Calibri"/>
              </a:rPr>
              <a:t> — CC BY 4.0</a:t>
            </a:r>
          </a:p>
          <a:p>
            <a:pPr algn="l">
              <a:lnSpc>
                <a:spcPct val="96000"/>
              </a:lnSpc>
              <a:spcAft>
                <a:spcPts val="950"/>
              </a:spcAft>
            </a:pPr>
            <a:r>
              <a:rPr sz="930" b="0" i="0">
                <a:solidFill>
                  <a:srgbClr val="1F2933"/>
                </a:solidFill>
                <a:latin typeface="Calibri"/>
              </a:rPr>
              <a:t>▪ </a:t>
            </a:r>
            <a:r>
              <a:rPr sz="930" b="1" i="0">
                <a:solidFill>
                  <a:srgbClr val="1F2933"/>
                </a:solidFill>
                <a:latin typeface="Calibri"/>
              </a:rPr>
              <a:t>Delft3D FM</a:t>
            </a:r>
            <a:r>
              <a:rPr sz="930" b="0" i="0">
                <a:solidFill>
                  <a:srgbClr val="1F2933"/>
                </a:solidFill>
                <a:latin typeface="Calibri"/>
              </a:rPr>
              <a:t>, Deltares — Suite 2026.01 HM, dflowfm-cli</a:t>
            </a:r>
          </a:p>
          <a:p>
            <a:pPr algn="l">
              <a:lnSpc>
                <a:spcPct val="96000"/>
              </a:lnSpc>
              <a:spcAft>
                <a:spcPts val="950"/>
              </a:spcAft>
            </a:pPr>
            <a:r>
              <a:rPr sz="930" b="0" i="0">
                <a:solidFill>
                  <a:srgbClr val="1F2933"/>
                </a:solidFill>
                <a:latin typeface="Calibri"/>
              </a:rPr>
              <a:t>▪ </a:t>
            </a:r>
            <a:r>
              <a:rPr sz="930" b="1" i="0">
                <a:solidFill>
                  <a:srgbClr val="1F2933"/>
                </a:solidFill>
                <a:latin typeface="Calibri"/>
              </a:rPr>
              <a:t>PySPH</a:t>
            </a:r>
            <a:r>
              <a:rPr sz="930" b="0" i="0">
                <a:solidFill>
                  <a:srgbClr val="1F2933"/>
                </a:solidFill>
                <a:latin typeface="Calibri"/>
              </a:rPr>
              <a:t> — BSD licence, developed at IIT Bombay</a:t>
            </a:r>
          </a:p>
          <a:p>
            <a:pPr algn="l">
              <a:lnSpc>
                <a:spcPct val="96000"/>
              </a:lnSpc>
              <a:spcAft>
                <a:spcPts val="950"/>
              </a:spcAft>
            </a:pPr>
            <a:r>
              <a:rPr sz="930" b="0" i="0">
                <a:solidFill>
                  <a:srgbClr val="1F2933"/>
                </a:solidFill>
                <a:latin typeface="Calibri"/>
              </a:rPr>
              <a:t>▪ </a:t>
            </a:r>
            <a:r>
              <a:rPr sz="930" b="0" i="1">
                <a:solidFill>
                  <a:srgbClr val="1F2933"/>
                </a:solidFill>
                <a:latin typeface="Calibri"/>
              </a:rPr>
              <a:t>Deliberately excluded:</a:t>
            </a:r>
            <a:r>
              <a:rPr sz="930" b="0" i="0">
                <a:solidFill>
                  <a:srgbClr val="1F2933"/>
                </a:solidFill>
                <a:latin typeface="Calibri"/>
              </a:rPr>
              <a:t> FABDEM (CC BY-NC-SA), MERIT (CC BY-NC / ODbL) and OSM (ODbL share-alike) are kept out of redistributed outputs on licence grounds.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320040" y="5669280"/>
            <a:ext cx="11521440" cy="512064"/>
          </a:xfrm>
          <a:prstGeom prst="roundRect">
            <a:avLst>
              <a:gd name="adj" fmla="val 8000"/>
            </a:avLst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36576" bIns="36576"/>
          <a:lstStyle/>
          <a:p>
            <a:pPr algn="ctr"/>
          </a:p>
        </p:txBody>
      </p:sp>
      <p:sp>
        <p:nvSpPr>
          <p:cNvPr id="17421" name="TextBox 17420"/>
          <p:cNvSpPr txBox="1"/>
          <p:nvPr/>
        </p:nvSpPr>
        <p:spPr>
          <a:xfrm>
            <a:off x="475488" y="5760720"/>
            <a:ext cx="11210544" cy="36576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19" b="1" i="0">
                <a:solidFill>
                  <a:srgbClr val="FFFFFF"/>
                </a:solidFill>
                <a:latin typeface="Calibri"/>
              </a:rPr>
              <a:t>Reproduce every number on this deck:</a:t>
            </a:r>
            <a:r>
              <a:rPr sz="919" b="0" i="0">
                <a:solidFill>
                  <a:srgbClr val="FFFFFF"/>
                </a:solidFill>
                <a:latin typeface="Calibri"/>
              </a:rPr>
              <a:t>   python scripts/validate_against_delft3d.py --case ritter   |   jalraksha run --dam tehri   |   dashboard at localhost:3000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