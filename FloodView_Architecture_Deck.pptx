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01168" y="128016"/>
            <a:ext cx="1188720" cy="310896"/>
          </a:xfrm>
          <a:prstGeom prst="roundRect">
            <a:avLst>
              <a:gd name="adj" fmla="val 40000"/>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2860" bIns="22860"/>
          <a:lstStyle/>
          <a:p>
            <a:pPr algn="ctr">
              <a:lnSpc>
                <a:spcPct val="92000"/>
              </a:lnSpc>
              <a:spcAft>
                <a:spcPts val="100"/>
              </a:spcAft>
            </a:pPr>
            <a:r>
              <a:rPr sz="1100" b="1" i="0">
                <a:solidFill>
                  <a:srgbClr val="FFFFFF"/>
                </a:solidFill>
                <a:latin typeface="Calibri"/>
              </a:rPr>
              <a:t>FloodView</a:t>
            </a:r>
          </a:p>
        </p:txBody>
      </p:sp>
      <p:sp>
        <p:nvSpPr>
          <p:cNvPr id="3" name="TextBox 2"/>
          <p:cNvSpPr txBox="1"/>
          <p:nvPr/>
        </p:nvSpPr>
        <p:spPr>
          <a:xfrm>
            <a:off x="201168" y="457200"/>
            <a:ext cx="1463040" cy="182880"/>
          </a:xfrm>
          <a:prstGeom prst="rect">
            <a:avLst/>
          </a:prstGeom>
          <a:noFill/>
        </p:spPr>
        <p:txBody>
          <a:bodyPr wrap="square" anchor="t" lIns="18288" rIns="18288" tIns="0" bIns="0">
            <a:spAutoFit/>
          </a:bodyPr>
          <a:lstStyle/>
          <a:p>
            <a:pPr algn="l">
              <a:lnSpc>
                <a:spcPct val="92000"/>
              </a:lnSpc>
              <a:spcAft>
                <a:spcPts val="100"/>
              </a:spcAft>
            </a:pPr>
            <a:r>
              <a:rPr sz="620" b="0" i="0">
                <a:solidFill>
                  <a:srgbClr val="6B7280"/>
                </a:solidFill>
                <a:latin typeface="Calibri"/>
              </a:rPr>
              <a:t>PS 26161 · NTRO</a:t>
            </a:r>
          </a:p>
        </p:txBody>
      </p:sp>
      <p:sp>
        <p:nvSpPr>
          <p:cNvPr id="4" name="TextBox 3"/>
          <p:cNvSpPr txBox="1"/>
          <p:nvPr/>
        </p:nvSpPr>
        <p:spPr>
          <a:xfrm>
            <a:off x="1554480" y="91440"/>
            <a:ext cx="8732520" cy="384048"/>
          </a:xfrm>
          <a:prstGeom prst="rect">
            <a:avLst/>
          </a:prstGeom>
          <a:noFill/>
        </p:spPr>
        <p:txBody>
          <a:bodyPr wrap="square" anchor="ctr" lIns="18288" rIns="18288" tIns="0" bIns="0">
            <a:spAutoFit/>
          </a:bodyPr>
          <a:lstStyle/>
          <a:p>
            <a:pPr algn="ctr">
              <a:lnSpc>
                <a:spcPct val="92000"/>
              </a:lnSpc>
              <a:spcAft>
                <a:spcPts val="100"/>
              </a:spcAft>
            </a:pPr>
            <a:r>
              <a:rPr sz="2300" b="1" i="0">
                <a:solidFill>
                  <a:srgbClr val="1F2937"/>
                </a:solidFill>
                <a:latin typeface="Calibri"/>
              </a:rPr>
              <a:t>HOW THE SYSTEM IS BUILT</a:t>
            </a:r>
          </a:p>
        </p:txBody>
      </p:sp>
      <p:sp>
        <p:nvSpPr>
          <p:cNvPr id="5" name="TextBox 4"/>
          <p:cNvSpPr txBox="1"/>
          <p:nvPr/>
        </p:nvSpPr>
        <p:spPr>
          <a:xfrm>
            <a:off x="1554480" y="475488"/>
            <a:ext cx="8732520" cy="201168"/>
          </a:xfrm>
          <a:prstGeom prst="rect">
            <a:avLst/>
          </a:prstGeom>
          <a:noFill/>
        </p:spPr>
        <p:txBody>
          <a:bodyPr wrap="square" anchor="t" lIns="18288" rIns="18288" tIns="0" bIns="0">
            <a:spAutoFit/>
          </a:bodyPr>
          <a:lstStyle/>
          <a:p>
            <a:pPr algn="ctr">
              <a:lnSpc>
                <a:spcPct val="92000"/>
              </a:lnSpc>
              <a:spcAft>
                <a:spcPts val="100"/>
              </a:spcAft>
            </a:pPr>
            <a:r>
              <a:rPr sz="819" b="0" i="1">
                <a:solidFill>
                  <a:srgbClr val="6B7280"/>
                </a:solidFill>
                <a:latin typeface="Calibri"/>
              </a:rPr>
              <a:t>Four layers. Each one does a single job and hands its result to the next.</a:t>
            </a:r>
          </a:p>
        </p:txBody>
      </p:sp>
      <p:sp>
        <p:nvSpPr>
          <p:cNvPr id="6" name="TextBox 5"/>
          <p:cNvSpPr txBox="1"/>
          <p:nvPr/>
        </p:nvSpPr>
        <p:spPr>
          <a:xfrm>
            <a:off x="10378440" y="128016"/>
            <a:ext cx="1609344" cy="402336"/>
          </a:xfrm>
          <a:prstGeom prst="rect">
            <a:avLst/>
          </a:prstGeom>
          <a:noFill/>
        </p:spPr>
        <p:txBody>
          <a:bodyPr wrap="square" anchor="t" lIns="18288" rIns="18288" tIns="0" bIns="0">
            <a:spAutoFit/>
          </a:bodyPr>
          <a:lstStyle/>
          <a:p>
            <a:pPr algn="r">
              <a:lnSpc>
                <a:spcPct val="92000"/>
              </a:lnSpc>
              <a:spcAft>
                <a:spcPts val="0"/>
              </a:spcAft>
            </a:pPr>
            <a:r>
              <a:rPr sz="800" b="1" i="0">
                <a:solidFill>
                  <a:srgbClr val="0070C0"/>
                </a:solidFill>
                <a:latin typeface="Calibri"/>
              </a:rPr>
              <a:t>SMART INDIA</a:t>
            </a:r>
          </a:p>
          <a:p>
            <a:pPr algn="r">
              <a:lnSpc>
                <a:spcPct val="92000"/>
              </a:lnSpc>
              <a:spcAft>
                <a:spcPts val="0"/>
              </a:spcAft>
            </a:pPr>
            <a:r>
              <a:rPr sz="800" b="1" i="0">
                <a:solidFill>
                  <a:srgbClr val="0070C0"/>
                </a:solidFill>
                <a:latin typeface="Calibri"/>
              </a:rPr>
              <a:t>HACKATHON 2026</a:t>
            </a:r>
          </a:p>
        </p:txBody>
      </p:sp>
      <p:sp>
        <p:nvSpPr>
          <p:cNvPr id="7" name="Rectangle 6"/>
          <p:cNvSpPr/>
          <p:nvPr/>
        </p:nvSpPr>
        <p:spPr>
          <a:xfrm>
            <a:off x="0" y="6547104"/>
            <a:ext cx="12191695" cy="310896"/>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8" name="TextBox 7"/>
          <p:cNvSpPr txBox="1"/>
          <p:nvPr/>
        </p:nvSpPr>
        <p:spPr>
          <a:xfrm>
            <a:off x="256032" y="6601968"/>
            <a:ext cx="10607040" cy="201168"/>
          </a:xfrm>
          <a:prstGeom prst="rect">
            <a:avLst/>
          </a:prstGeom>
          <a:noFill/>
        </p:spPr>
        <p:txBody>
          <a:bodyPr wrap="square" anchor="t" lIns="18288" rIns="18288" tIns="0" bIns="0">
            <a:spAutoFit/>
          </a:bodyPr>
          <a:lstStyle/>
          <a:p>
            <a:pPr algn="l">
              <a:lnSpc>
                <a:spcPct val="92000"/>
              </a:lnSpc>
              <a:spcAft>
                <a:spcPts val="100"/>
              </a:spcAft>
            </a:pPr>
            <a:r>
              <a:rPr sz="800" b="1" i="0">
                <a:solidFill>
                  <a:srgbClr val="FFFFFF"/>
                </a:solidFill>
                <a:latin typeface="Calibri"/>
              </a:rPr>
              <a:t>Anyone can run it from a browser. Everything underneath is free, open and cached for offline use.</a:t>
            </a:r>
          </a:p>
        </p:txBody>
      </p:sp>
      <p:sp>
        <p:nvSpPr>
          <p:cNvPr id="9" name="TextBox 8"/>
          <p:cNvSpPr txBox="1"/>
          <p:nvPr/>
        </p:nvSpPr>
        <p:spPr>
          <a:xfrm>
            <a:off x="11521440" y="6601968"/>
            <a:ext cx="457200" cy="201168"/>
          </a:xfrm>
          <a:prstGeom prst="rect">
            <a:avLst/>
          </a:prstGeom>
          <a:noFill/>
        </p:spPr>
        <p:txBody>
          <a:bodyPr wrap="square" anchor="t" lIns="18288" rIns="18288" tIns="0" bIns="0">
            <a:spAutoFit/>
          </a:bodyPr>
          <a:lstStyle/>
          <a:p>
            <a:pPr algn="r">
              <a:lnSpc>
                <a:spcPct val="92000"/>
              </a:lnSpc>
              <a:spcAft>
                <a:spcPts val="100"/>
              </a:spcAft>
            </a:pPr>
            <a:r>
              <a:rPr sz="850" b="1" i="0">
                <a:solidFill>
                  <a:srgbClr val="FFFFFF"/>
                </a:solidFill>
                <a:latin typeface="Calibri"/>
              </a:rPr>
              <a:t>1</a:t>
            </a:r>
          </a:p>
        </p:txBody>
      </p:sp>
      <p:sp>
        <p:nvSpPr>
          <p:cNvPr id="10" name="Rounded Rectangle 9"/>
          <p:cNvSpPr/>
          <p:nvPr/>
        </p:nvSpPr>
        <p:spPr>
          <a:xfrm>
            <a:off x="201168" y="896112"/>
            <a:ext cx="5074920" cy="1024128"/>
          </a:xfrm>
          <a:prstGeom prst="roundRect">
            <a:avLst>
              <a:gd name="adj" fmla="val 5000"/>
            </a:avLst>
          </a:prstGeom>
          <a:solidFill>
            <a:srgbClr val="E7F4F3"/>
          </a:solidFill>
          <a:ln w="1905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11" name="Rounded Rectangle 10"/>
          <p:cNvSpPr/>
          <p:nvPr/>
        </p:nvSpPr>
        <p:spPr>
          <a:xfrm>
            <a:off x="384048" y="790956"/>
            <a:ext cx="3044952" cy="21945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2000"/>
              </a:lnSpc>
              <a:spcAft>
                <a:spcPts val="100"/>
              </a:spcAft>
            </a:pPr>
            <a:r>
              <a:rPr sz="760" b="1" i="0">
                <a:solidFill>
                  <a:srgbClr val="FFFFFF"/>
                </a:solidFill>
                <a:latin typeface="Calibri"/>
              </a:rPr>
              <a:t>LAYER 1  ·  WHAT USERS SEE</a:t>
            </a:r>
          </a:p>
        </p:txBody>
      </p:sp>
      <p:sp>
        <p:nvSpPr>
          <p:cNvPr id="12" name="Rounded Rectangle 11"/>
          <p:cNvSpPr/>
          <p:nvPr/>
        </p:nvSpPr>
        <p:spPr>
          <a:xfrm>
            <a:off x="347472" y="1060704"/>
            <a:ext cx="2331720" cy="713232"/>
          </a:xfrm>
          <a:prstGeom prst="roundRect">
            <a:avLst>
              <a:gd name="adj" fmla="val 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19" b="1" i="0">
                <a:solidFill>
                  <a:srgbClr val="FFFFFF"/>
                </a:solidFill>
                <a:latin typeface="Calibri"/>
              </a:rPr>
              <a:t>Interactive Dashboard</a:t>
            </a:r>
          </a:p>
          <a:p>
            <a:pPr algn="ctr">
              <a:lnSpc>
                <a:spcPct val="90000"/>
              </a:lnSpc>
              <a:spcAft>
                <a:spcPts val="100"/>
              </a:spcAft>
            </a:pPr>
            <a:r>
              <a:rPr sz="630" b="0" i="0">
                <a:solidFill>
                  <a:srgbClr val="D3ECEA"/>
                </a:solidFill>
                <a:latin typeface="Calibri"/>
              </a:rPr>
              <a:t>Opens in any browser. Maps, charts,
3D globe, download buttons.</a:t>
            </a:r>
          </a:p>
        </p:txBody>
      </p:sp>
      <p:sp>
        <p:nvSpPr>
          <p:cNvPr id="13" name="Rounded Rectangle 12"/>
          <p:cNvSpPr/>
          <p:nvPr/>
        </p:nvSpPr>
        <p:spPr>
          <a:xfrm>
            <a:off x="2798064" y="1060704"/>
            <a:ext cx="2331720" cy="713232"/>
          </a:xfrm>
          <a:prstGeom prst="roundRect">
            <a:avLst>
              <a:gd name="adj" fmla="val 8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19" b="1" i="0">
                <a:solidFill>
                  <a:srgbClr val="FFFFFF"/>
                </a:solidFill>
                <a:latin typeface="Calibri"/>
              </a:rPr>
              <a:t>Command Line</a:t>
            </a:r>
          </a:p>
          <a:p>
            <a:pPr algn="ctr">
              <a:lnSpc>
                <a:spcPct val="90000"/>
              </a:lnSpc>
              <a:spcAft>
                <a:spcPts val="100"/>
              </a:spcAft>
            </a:pPr>
            <a:r>
              <a:rPr sz="630" b="0" i="0">
                <a:solidFill>
                  <a:srgbClr val="DEE0E4"/>
                </a:solidFill>
                <a:latin typeface="Calibri"/>
              </a:rPr>
              <a:t>For batch runs and automation.
One instruction, full report.</a:t>
            </a:r>
          </a:p>
        </p:txBody>
      </p:sp>
      <p:sp>
        <p:nvSpPr>
          <p:cNvPr id="14" name="Rounded Rectangle 13"/>
          <p:cNvSpPr/>
          <p:nvPr/>
        </p:nvSpPr>
        <p:spPr>
          <a:xfrm>
            <a:off x="5504688" y="896112"/>
            <a:ext cx="6483096" cy="1024128"/>
          </a:xfrm>
          <a:prstGeom prst="roundRect">
            <a:avLst>
              <a:gd name="adj" fmla="val 5000"/>
            </a:avLst>
          </a:prstGeom>
          <a:solidFill>
            <a:srgbClr val="E8ECF7"/>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15" name="Rounded Rectangle 14"/>
          <p:cNvSpPr/>
          <p:nvPr/>
        </p:nvSpPr>
        <p:spPr>
          <a:xfrm>
            <a:off x="5687568" y="790956"/>
            <a:ext cx="5463540" cy="219456"/>
          </a:xfrm>
          <a:prstGeom prst="roundRect">
            <a:avLst>
              <a:gd name="adj" fmla="val 30000"/>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2000"/>
              </a:lnSpc>
              <a:spcAft>
                <a:spcPts val="100"/>
              </a:spcAft>
            </a:pPr>
            <a:r>
              <a:rPr sz="760" b="1" i="0">
                <a:solidFill>
                  <a:srgbClr val="FFFFFF"/>
                </a:solidFill>
                <a:latin typeface="Calibri"/>
              </a:rPr>
              <a:t>LAYER 2  ·  THE BRAIN THAT COORDINATES EVERYTHING</a:t>
            </a:r>
          </a:p>
        </p:txBody>
      </p:sp>
      <p:sp>
        <p:nvSpPr>
          <p:cNvPr id="16" name="Rounded Rectangle 15"/>
          <p:cNvSpPr/>
          <p:nvPr/>
        </p:nvSpPr>
        <p:spPr>
          <a:xfrm>
            <a:off x="5650992" y="1060704"/>
            <a:ext cx="3063240" cy="713232"/>
          </a:xfrm>
          <a:prstGeom prst="roundRect">
            <a:avLst>
              <a:gd name="adj" fmla="val 8000"/>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19" b="1" i="0">
                <a:solidFill>
                  <a:srgbClr val="FFFFFF"/>
                </a:solidFill>
                <a:latin typeface="Calibri"/>
              </a:rPr>
              <a:t>Central Coordinator</a:t>
            </a:r>
          </a:p>
          <a:p>
            <a:pPr algn="ctr">
              <a:lnSpc>
                <a:spcPct val="90000"/>
              </a:lnSpc>
              <a:spcAft>
                <a:spcPts val="100"/>
              </a:spcAft>
            </a:pPr>
            <a:r>
              <a:rPr sz="630" b="0" i="0">
                <a:solidFill>
                  <a:srgbClr val="D6DDF1"/>
                </a:solidFill>
                <a:latin typeface="Calibri"/>
              </a:rPr>
              <a:t>Takes the request, checks the inputs are sensible,
starts the work, hands back the answer.</a:t>
            </a:r>
          </a:p>
        </p:txBody>
      </p:sp>
      <p:sp>
        <p:nvSpPr>
          <p:cNvPr id="17" name="Rounded Rectangle 16"/>
          <p:cNvSpPr/>
          <p:nvPr/>
        </p:nvSpPr>
        <p:spPr>
          <a:xfrm>
            <a:off x="8833104" y="1060704"/>
            <a:ext cx="3008376" cy="713232"/>
          </a:xfrm>
          <a:prstGeom prst="roundRect">
            <a:avLst>
              <a:gd name="adj" fmla="val 8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19" b="1" i="0">
                <a:solidFill>
                  <a:srgbClr val="FFFFFF"/>
                </a:solidFill>
                <a:latin typeface="Calibri"/>
              </a:rPr>
              <a:t>Background Worker</a:t>
            </a:r>
          </a:p>
          <a:p>
            <a:pPr algn="ctr">
              <a:lnSpc>
                <a:spcPct val="90000"/>
              </a:lnSpc>
              <a:spcAft>
                <a:spcPts val="100"/>
              </a:spcAft>
            </a:pPr>
            <a:r>
              <a:rPr sz="630" b="0" i="0">
                <a:solidFill>
                  <a:srgbClr val="FBE1D3"/>
                </a:solidFill>
                <a:latin typeface="Calibri"/>
              </a:rPr>
              <a:t>Runs the heavy calculation on its own so the
dashboard never freezes — it answers in 0.21 s.</a:t>
            </a:r>
          </a:p>
        </p:txBody>
      </p:sp>
      <p:sp>
        <p:nvSpPr>
          <p:cNvPr id="18" name="Rounded Rectangle 17"/>
          <p:cNvSpPr/>
          <p:nvPr/>
        </p:nvSpPr>
        <p:spPr>
          <a:xfrm rot="21576000">
            <a:off x="310896" y="1975104"/>
            <a:ext cx="4846320" cy="256032"/>
          </a:xfrm>
          <a:prstGeom prst="roundRect">
            <a:avLst>
              <a:gd name="adj" fmla="val 14000"/>
            </a:avLst>
          </a:prstGeom>
          <a:solidFill>
            <a:srgbClr val="FBF1E6"/>
          </a:solidFill>
          <a:ln w="1143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ctr">
              <a:lnSpc>
                <a:spcPct val="92000"/>
              </a:lnSpc>
              <a:spcAft>
                <a:spcPts val="100"/>
              </a:spcAft>
            </a:pPr>
            <a:r>
              <a:rPr sz="640" b="0" i="1">
                <a:solidFill>
                  <a:srgbClr val="824704"/>
                </a:solidFill>
                <a:latin typeface="Calibri"/>
              </a:rPr>
              <a:t>No coding needed. A dam safety officer picks a dam and presses one button.</a:t>
            </a:r>
          </a:p>
        </p:txBody>
      </p:sp>
      <p:sp>
        <p:nvSpPr>
          <p:cNvPr id="19" name="Rounded Rectangle 18"/>
          <p:cNvSpPr/>
          <p:nvPr/>
        </p:nvSpPr>
        <p:spPr>
          <a:xfrm>
            <a:off x="5742432" y="1975104"/>
            <a:ext cx="6035040" cy="256032"/>
          </a:xfrm>
          <a:prstGeom prst="roundRect">
            <a:avLst>
              <a:gd name="adj" fmla="val 14000"/>
            </a:avLst>
          </a:prstGeom>
          <a:solidFill>
            <a:srgbClr val="E6F3F9"/>
          </a:solidFill>
          <a:ln w="1143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ctr">
              <a:lnSpc>
                <a:spcPct val="92000"/>
              </a:lnSpc>
              <a:spcAft>
                <a:spcPts val="100"/>
              </a:spcAft>
            </a:pPr>
            <a:r>
              <a:rPr sz="640" b="0" i="1">
                <a:solidFill>
                  <a:srgbClr val="014F77"/>
                </a:solidFill>
                <a:latin typeface="Calibri"/>
              </a:rPr>
              <a:t>Like a front desk plus a workshop: the desk answers instantly, the work happens out back.</a:t>
            </a:r>
          </a:p>
        </p:txBody>
      </p:sp>
      <p:sp>
        <p:nvSpPr>
          <p:cNvPr id="20" name="Rounded Rectangle 19"/>
          <p:cNvSpPr/>
          <p:nvPr/>
        </p:nvSpPr>
        <p:spPr>
          <a:xfrm>
            <a:off x="201168" y="2487168"/>
            <a:ext cx="11786616" cy="2487168"/>
          </a:xfrm>
          <a:prstGeom prst="roundRect">
            <a:avLst>
              <a:gd name="adj" fmla="val 5000"/>
            </a:avLst>
          </a:prstGeom>
          <a:solidFill>
            <a:srgbClr val="EDECFC"/>
          </a:solidFill>
          <a:ln w="1905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21" name="Rounded Rectangle 20"/>
          <p:cNvSpPr/>
          <p:nvPr/>
        </p:nvSpPr>
        <p:spPr>
          <a:xfrm>
            <a:off x="384048" y="2382012"/>
            <a:ext cx="8092440" cy="219456"/>
          </a:xfrm>
          <a:prstGeom prst="roundRect">
            <a:avLst>
              <a:gd name="adj" fmla="val 3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2000"/>
              </a:lnSpc>
              <a:spcAft>
                <a:spcPts val="100"/>
              </a:spcAft>
            </a:pPr>
            <a:r>
              <a:rPr sz="760" b="1" i="0">
                <a:solidFill>
                  <a:srgbClr val="FFFFFF"/>
                </a:solidFill>
                <a:latin typeface="Calibri"/>
              </a:rPr>
              <a:t>LAYER 3  ·  THE SIMULATION ENGINE  —  where the flood is actually modelled</a:t>
            </a:r>
          </a:p>
        </p:txBody>
      </p:sp>
      <p:sp>
        <p:nvSpPr>
          <p:cNvPr id="22" name="Rounded Rectangle 21"/>
          <p:cNvSpPr/>
          <p:nvPr/>
        </p:nvSpPr>
        <p:spPr>
          <a:xfrm>
            <a:off x="347472" y="2779776"/>
            <a:ext cx="2103120" cy="1060704"/>
          </a:xfrm>
          <a:prstGeom prst="roundRect">
            <a:avLst>
              <a:gd name="adj" fmla="val 8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00" b="1" i="0">
                <a:solidFill>
                  <a:srgbClr val="FFFFFF"/>
                </a:solidFill>
                <a:latin typeface="Calibri"/>
              </a:rPr>
              <a:t>Dam Break Model</a:t>
            </a:r>
          </a:p>
          <a:p>
            <a:pPr algn="ctr">
              <a:lnSpc>
                <a:spcPct val="90000"/>
              </a:lnSpc>
              <a:spcAft>
                <a:spcPts val="100"/>
              </a:spcAft>
            </a:pPr>
            <a:r>
              <a:rPr sz="590" b="0" i="0">
                <a:solidFill>
                  <a:srgbClr val="FBE1D3"/>
                </a:solidFill>
                <a:latin typeface="Calibri"/>
              </a:rPr>
              <a:t>How the wall gives way:
breach width, how fast it
opens, peak water released.
From published dam-safety
research, not guesswork.</a:t>
            </a:r>
          </a:p>
        </p:txBody>
      </p:sp>
      <p:sp>
        <p:nvSpPr>
          <p:cNvPr id="23" name="Rounded Rectangle 22"/>
          <p:cNvSpPr/>
          <p:nvPr/>
        </p:nvSpPr>
        <p:spPr>
          <a:xfrm>
            <a:off x="2560320" y="2779776"/>
            <a:ext cx="2542032" cy="1060704"/>
          </a:xfrm>
          <a:prstGeom prst="roundRect">
            <a:avLst>
              <a:gd name="adj" fmla="val 8000"/>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00" b="1" i="0">
                <a:solidFill>
                  <a:srgbClr val="FFFFFF"/>
                </a:solidFill>
                <a:latin typeface="Calibri"/>
              </a:rPr>
              <a:t>Flood Spread Calculator</a:t>
            </a:r>
          </a:p>
          <a:p>
            <a:pPr algn="ctr">
              <a:lnSpc>
                <a:spcPct val="90000"/>
              </a:lnSpc>
              <a:spcAft>
                <a:spcPts val="100"/>
              </a:spcAft>
            </a:pPr>
            <a:r>
              <a:rPr sz="590" b="0" i="0">
                <a:solidFill>
                  <a:srgbClr val="D6DDF1"/>
                </a:solidFill>
                <a:latin typeface="Calibri"/>
              </a:rPr>
              <a:t>Follows the water across the
land second by second at 30-metre
detail. Slows it through forest,
speeds it over concrete. Adjusts
its own step size to stay stable.</a:t>
            </a:r>
          </a:p>
        </p:txBody>
      </p:sp>
      <p:sp>
        <p:nvSpPr>
          <p:cNvPr id="24" name="Rounded Rectangle 23"/>
          <p:cNvSpPr/>
          <p:nvPr/>
        </p:nvSpPr>
        <p:spPr>
          <a:xfrm>
            <a:off x="5212080" y="2779776"/>
            <a:ext cx="2048256" cy="1060704"/>
          </a:xfrm>
          <a:prstGeom prst="roundRect">
            <a:avLst>
              <a:gd name="adj" fmla="val 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00" b="1" i="0">
                <a:solidFill>
                  <a:srgbClr val="FFFFFF"/>
                </a:solidFill>
                <a:latin typeface="Calibri"/>
              </a:rPr>
              <a:t>Uncertainty Analysis</a:t>
            </a:r>
          </a:p>
          <a:p>
            <a:pPr algn="ctr">
              <a:lnSpc>
                <a:spcPct val="90000"/>
              </a:lnSpc>
              <a:spcAft>
                <a:spcPts val="100"/>
              </a:spcAft>
            </a:pPr>
            <a:r>
              <a:rPr sz="590" b="0" i="0">
                <a:solidFill>
                  <a:srgbClr val="D3ECEA"/>
                </a:solidFill>
                <a:latin typeface="Calibri"/>
              </a:rPr>
              <a:t>Runs 30 variations with
different breach sizes.
Reports best case, worst
case and most likely —
never one false number.</a:t>
            </a:r>
          </a:p>
        </p:txBody>
      </p:sp>
      <p:sp>
        <p:nvSpPr>
          <p:cNvPr id="25" name="Rounded Rectangle 24"/>
          <p:cNvSpPr/>
          <p:nvPr/>
        </p:nvSpPr>
        <p:spPr>
          <a:xfrm>
            <a:off x="7370064" y="2779776"/>
            <a:ext cx="2157984" cy="1060704"/>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00" b="1" i="0">
                <a:solidFill>
                  <a:srgbClr val="FFFFFF"/>
                </a:solidFill>
                <a:latin typeface="Calibri"/>
              </a:rPr>
              <a:t>Near-Dam 3D Physics</a:t>
            </a:r>
          </a:p>
          <a:p>
            <a:pPr algn="ctr">
              <a:lnSpc>
                <a:spcPct val="90000"/>
              </a:lnSpc>
              <a:spcAft>
                <a:spcPts val="100"/>
              </a:spcAft>
            </a:pPr>
            <a:r>
              <a:rPr sz="590" b="0" i="0">
                <a:solidFill>
                  <a:srgbClr val="E7DCFC"/>
                </a:solidFill>
                <a:latin typeface="Calibri"/>
              </a:rPr>
              <a:t>Violent water right at the
wall: overtopping, splashing.
Covers about 600 m for 15 s.
Adds detail; it does not
replace the main model.</a:t>
            </a:r>
          </a:p>
        </p:txBody>
      </p:sp>
      <p:sp>
        <p:nvSpPr>
          <p:cNvPr id="26" name="Rounded Rectangle 25"/>
          <p:cNvSpPr/>
          <p:nvPr/>
        </p:nvSpPr>
        <p:spPr>
          <a:xfrm>
            <a:off x="9637776" y="2779776"/>
            <a:ext cx="2231136" cy="1060704"/>
          </a:xfrm>
          <a:prstGeom prst="roundRect">
            <a:avLst>
              <a:gd name="adj" fmla="val 8000"/>
            </a:avLst>
          </a:prstGeom>
          <a:solidFill>
            <a:srgbClr val="612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00" b="1" i="0">
                <a:solidFill>
                  <a:srgbClr val="FFFFFF"/>
                </a:solidFill>
                <a:latin typeface="Calibri"/>
              </a:rPr>
              <a:t>Independent Cross-Check</a:t>
            </a:r>
          </a:p>
          <a:p>
            <a:pPr algn="ctr">
              <a:lnSpc>
                <a:spcPct val="90000"/>
              </a:lnSpc>
              <a:spcAft>
                <a:spcPts val="100"/>
              </a:spcAft>
            </a:pPr>
            <a:r>
              <a:rPr sz="590" b="0" i="0">
                <a:solidFill>
                  <a:srgbClr val="E3D9F2"/>
                </a:solidFill>
                <a:latin typeface="Calibri"/>
              </a:rPr>
              <a:t>The same textbook case run
through Delft3D FM, a real
Deltares kernel. Both engines
land within 3 cm of each other.
Proof, not a claim.</a:t>
            </a:r>
          </a:p>
        </p:txBody>
      </p:sp>
      <p:cxnSp>
        <p:nvCxnSpPr>
          <p:cNvPr id="27" name="Connector 26"/>
          <p:cNvCxnSpPr/>
          <p:nvPr/>
        </p:nvCxnSpPr>
        <p:spPr>
          <a:xfrm>
            <a:off x="2450592" y="3310128"/>
            <a:ext cx="109728" cy="0"/>
          </a:xfrm>
          <a:prstGeom prst="line">
            <a:avLst/>
          </a:prstGeom>
          <a:ln w="25400">
            <a:solidFill>
              <a:srgbClr val="D9770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102352" y="3310128"/>
            <a:ext cx="109728" cy="0"/>
          </a:xfrm>
          <a:prstGeom prst="line">
            <a:avLst/>
          </a:prstGeom>
          <a:ln w="25400">
            <a:solidFill>
              <a:srgbClr val="0284C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260336" y="3310128"/>
            <a:ext cx="109728" cy="0"/>
          </a:xfrm>
          <a:prstGeom prst="line">
            <a:avLst/>
          </a:prstGeom>
          <a:ln w="2032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931152" y="2615184"/>
            <a:ext cx="786384" cy="146304"/>
          </a:xfrm>
          <a:prstGeom prst="rect">
            <a:avLst/>
          </a:prstGeom>
          <a:noFill/>
        </p:spPr>
        <p:txBody>
          <a:bodyPr wrap="square" anchor="t" lIns="18288" rIns="18288" tIns="0" bIns="0">
            <a:spAutoFit/>
          </a:bodyPr>
          <a:lstStyle/>
          <a:p>
            <a:pPr algn="ctr">
              <a:lnSpc>
                <a:spcPct val="92000"/>
              </a:lnSpc>
              <a:spcAft>
                <a:spcPts val="100"/>
              </a:spcAft>
            </a:pPr>
            <a:r>
              <a:rPr sz="540" b="1" i="1">
                <a:solidFill>
                  <a:srgbClr val="7C3AED"/>
                </a:solidFill>
                <a:latin typeface="Calibri"/>
              </a:rPr>
              <a:t>one-way</a:t>
            </a:r>
          </a:p>
        </p:txBody>
      </p:sp>
      <p:sp>
        <p:nvSpPr>
          <p:cNvPr id="31" name="Rounded Rectangle 30"/>
          <p:cNvSpPr/>
          <p:nvPr/>
        </p:nvSpPr>
        <p:spPr>
          <a:xfrm>
            <a:off x="347472" y="3931920"/>
            <a:ext cx="2761488" cy="914400"/>
          </a:xfrm>
          <a:prstGeom prst="roundRect">
            <a:avLst>
              <a:gd name="adj" fmla="val 8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00" b="1" i="0">
                <a:solidFill>
                  <a:srgbClr val="FFFFFF"/>
                </a:solidFill>
                <a:latin typeface="Calibri"/>
              </a:rPr>
              <a:t>Terrain Preparation</a:t>
            </a:r>
          </a:p>
          <a:p>
            <a:pPr algn="ctr">
              <a:lnSpc>
                <a:spcPct val="90000"/>
              </a:lnSpc>
              <a:spcAft>
                <a:spcPts val="100"/>
              </a:spcAft>
            </a:pPr>
            <a:r>
              <a:rPr sz="580" b="0" i="0">
                <a:solidFill>
                  <a:srgbClr val="D2ECE4"/>
                </a:solidFill>
                <a:latin typeface="Calibri"/>
              </a:rPr>
              <a:t>Downloads satellite ground-height data, stitches the tiles together,
cleans the artefacts, finds the dam wall, and maps what covers the
land — forest, town, farmland — because that sets how fast water runs.</a:t>
            </a:r>
          </a:p>
        </p:txBody>
      </p:sp>
      <p:sp>
        <p:nvSpPr>
          <p:cNvPr id="32" name="Rounded Rectangle 31"/>
          <p:cNvSpPr/>
          <p:nvPr/>
        </p:nvSpPr>
        <p:spPr>
          <a:xfrm>
            <a:off x="3236976" y="3931920"/>
            <a:ext cx="2688336" cy="914400"/>
          </a:xfrm>
          <a:prstGeom prst="roundRect">
            <a:avLst>
              <a:gd name="adj" fmla="val 8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00" b="1" i="0">
                <a:solidFill>
                  <a:srgbClr val="FFFFFF"/>
                </a:solidFill>
                <a:latin typeface="Calibri"/>
              </a:rPr>
              <a:t>Flood Impact Assessment</a:t>
            </a:r>
          </a:p>
          <a:p>
            <a:pPr algn="ctr">
              <a:lnSpc>
                <a:spcPct val="90000"/>
              </a:lnSpc>
              <a:spcAft>
                <a:spcPts val="100"/>
              </a:spcAft>
            </a:pPr>
            <a:r>
              <a:rPr sz="580" b="0" i="0">
                <a:solidFill>
                  <a:srgbClr val="F9D8D8"/>
                </a:solidFill>
                <a:latin typeface="Calibri"/>
              </a:rPr>
              <a:t>Turns depth into consequence: ankle-deep, waist-deep, two to five
metres, above five metres. Estimates buildings exposed and people
at risk using published government formulas.</a:t>
            </a:r>
          </a:p>
        </p:txBody>
      </p:sp>
      <p:sp>
        <p:nvSpPr>
          <p:cNvPr id="33" name="Rounded Rectangle 32"/>
          <p:cNvSpPr/>
          <p:nvPr/>
        </p:nvSpPr>
        <p:spPr>
          <a:xfrm>
            <a:off x="6053328" y="3931920"/>
            <a:ext cx="2816352" cy="914400"/>
          </a:xfrm>
          <a:prstGeom prst="roundRect">
            <a:avLst>
              <a:gd name="adj" fmla="val 8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00" b="1" i="0">
                <a:solidFill>
                  <a:srgbClr val="FFFFFF"/>
                </a:solidFill>
                <a:latin typeface="Calibri"/>
              </a:rPr>
              <a:t>Quality Gates</a:t>
            </a:r>
          </a:p>
          <a:p>
            <a:pPr algn="ctr">
              <a:lnSpc>
                <a:spcPct val="90000"/>
              </a:lnSpc>
              <a:spcAft>
                <a:spcPts val="100"/>
              </a:spcAft>
            </a:pPr>
            <a:r>
              <a:rPr sz="580" b="0" i="0">
                <a:solidFill>
                  <a:srgbClr val="D2ECE4"/>
                </a:solidFill>
                <a:latin typeface="Calibri"/>
              </a:rPr>
              <a:t>Four mandatory checks run before any result is released. Still water
stays still. No water is lost. No impossible depths. Answers match
the textbook case. Fail any one and the result is blocked outright.</a:t>
            </a:r>
          </a:p>
        </p:txBody>
      </p:sp>
      <p:sp>
        <p:nvSpPr>
          <p:cNvPr id="34" name="Rounded Rectangle 33"/>
          <p:cNvSpPr/>
          <p:nvPr/>
        </p:nvSpPr>
        <p:spPr>
          <a:xfrm>
            <a:off x="8997696" y="3931920"/>
            <a:ext cx="2990088" cy="914400"/>
          </a:xfrm>
          <a:prstGeom prst="roundRect">
            <a:avLst>
              <a:gd name="adj" fmla="val 8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00" b="1" i="0">
                <a:solidFill>
                  <a:srgbClr val="FFFFFF"/>
                </a:solidFill>
                <a:latin typeface="Calibri"/>
              </a:rPr>
              <a:t>Report &amp; Map Generator</a:t>
            </a:r>
          </a:p>
          <a:p>
            <a:pPr algn="ctr">
              <a:lnSpc>
                <a:spcPct val="90000"/>
              </a:lnSpc>
              <a:spcAft>
                <a:spcPts val="100"/>
              </a:spcAft>
            </a:pPr>
            <a:r>
              <a:rPr sz="580" b="0" i="0">
                <a:solidFill>
                  <a:srgbClr val="DFDEFA"/>
                </a:solidFill>
                <a:latin typeface="Calibri"/>
              </a:rPr>
              <a:t>Flood maps that open in standard mapping software, Google Earth
overlays, inundation boundaries, time-lapse animations and
spreadsheets — all geographically referenced at 30-metre detail.</a:t>
            </a:r>
          </a:p>
        </p:txBody>
      </p:sp>
      <p:sp>
        <p:nvSpPr>
          <p:cNvPr id="35" name="Rounded Rectangle 34"/>
          <p:cNvSpPr/>
          <p:nvPr/>
        </p:nvSpPr>
        <p:spPr>
          <a:xfrm>
            <a:off x="201168" y="5175504"/>
            <a:ext cx="11786616" cy="1243584"/>
          </a:xfrm>
          <a:prstGeom prst="roundRect">
            <a:avLst>
              <a:gd name="adj" fmla="val 5000"/>
            </a:avLst>
          </a:prstGeom>
          <a:solidFill>
            <a:srgbClr val="EFF1F3"/>
          </a:solidFill>
          <a:ln w="19050">
            <a:solidFill>
              <a:srgbClr val="14305A"/>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36" name="Rounded Rectangle 35"/>
          <p:cNvSpPr/>
          <p:nvPr/>
        </p:nvSpPr>
        <p:spPr>
          <a:xfrm>
            <a:off x="384048" y="5070348"/>
            <a:ext cx="8197596" cy="219456"/>
          </a:xfrm>
          <a:prstGeom prst="roundRect">
            <a:avLst>
              <a:gd name="adj" fmla="val 30000"/>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2000"/>
              </a:lnSpc>
              <a:spcAft>
                <a:spcPts val="100"/>
              </a:spcAft>
            </a:pPr>
            <a:r>
              <a:rPr sz="760" b="1" i="0">
                <a:solidFill>
                  <a:srgbClr val="FFFFFF"/>
                </a:solidFill>
                <a:latin typeface="Calibri"/>
              </a:rPr>
              <a:t>LAYER 4  ·  DATA SOURCES  —  every one free, open and legal to redistribute</a:t>
            </a:r>
          </a:p>
        </p:txBody>
      </p:sp>
      <p:sp>
        <p:nvSpPr>
          <p:cNvPr id="37" name="Rounded Rectangle 36"/>
          <p:cNvSpPr/>
          <p:nvPr/>
        </p:nvSpPr>
        <p:spPr>
          <a:xfrm>
            <a:off x="347472" y="5413248"/>
            <a:ext cx="1773936" cy="384048"/>
          </a:xfrm>
          <a:prstGeom prst="roundRect">
            <a:avLst>
              <a:gd name="adj" fmla="val 16000"/>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5000"/>
              </a:lnSpc>
              <a:spcAft>
                <a:spcPts val="100"/>
              </a:spcAft>
            </a:pPr>
            <a:r>
              <a:rPr sz="680" b="1" i="0">
                <a:solidFill>
                  <a:srgbClr val="FFFFFF"/>
                </a:solidFill>
                <a:latin typeface="Calibri"/>
              </a:rPr>
              <a:t>Satellite Ground Height</a:t>
            </a:r>
          </a:p>
        </p:txBody>
      </p:sp>
      <p:sp>
        <p:nvSpPr>
          <p:cNvPr id="38" name="TextBox 37"/>
          <p:cNvSpPr txBox="1"/>
          <p:nvPr/>
        </p:nvSpPr>
        <p:spPr>
          <a:xfrm>
            <a:off x="347472" y="5843016"/>
            <a:ext cx="1773936" cy="658368"/>
          </a:xfrm>
          <a:prstGeom prst="rect">
            <a:avLst/>
          </a:prstGeom>
          <a:noFill/>
        </p:spPr>
        <p:txBody>
          <a:bodyPr wrap="square" anchor="t" lIns="18288" rIns="18288" tIns="0" bIns="0">
            <a:spAutoFit/>
          </a:bodyPr>
          <a:lstStyle/>
          <a:p>
            <a:pPr algn="ctr">
              <a:lnSpc>
                <a:spcPct val="92000"/>
              </a:lnSpc>
              <a:spcAft>
                <a:spcPts val="100"/>
              </a:spcAft>
            </a:pPr>
            <a:r>
              <a:rPr sz="550" b="0" i="0">
                <a:solidFill>
                  <a:srgbClr val="6B7280"/>
                </a:solidFill>
                <a:latin typeface="Calibri"/>
              </a:rPr>
              <a:t>European Space Agency,
30-metre detail, worldwide,
stored once and reused.</a:t>
            </a:r>
          </a:p>
        </p:txBody>
      </p:sp>
      <p:sp>
        <p:nvSpPr>
          <p:cNvPr id="39" name="Rounded Rectangle 38"/>
          <p:cNvSpPr/>
          <p:nvPr/>
        </p:nvSpPr>
        <p:spPr>
          <a:xfrm>
            <a:off x="2231136" y="5413248"/>
            <a:ext cx="1847088" cy="384048"/>
          </a:xfrm>
          <a:prstGeom prst="roundRect">
            <a:avLst>
              <a:gd name="adj" fmla="val 16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5000"/>
              </a:lnSpc>
              <a:spcAft>
                <a:spcPts val="100"/>
              </a:spcAft>
            </a:pPr>
            <a:r>
              <a:rPr sz="680" b="1" i="0">
                <a:solidFill>
                  <a:srgbClr val="FFFFFF"/>
                </a:solidFill>
                <a:latin typeface="Calibri"/>
              </a:rPr>
              <a:t>India's Dam Register</a:t>
            </a:r>
          </a:p>
        </p:txBody>
      </p:sp>
      <p:sp>
        <p:nvSpPr>
          <p:cNvPr id="40" name="TextBox 39"/>
          <p:cNvSpPr txBox="1"/>
          <p:nvPr/>
        </p:nvSpPr>
        <p:spPr>
          <a:xfrm>
            <a:off x="2231136" y="5843016"/>
            <a:ext cx="1847088" cy="658368"/>
          </a:xfrm>
          <a:prstGeom prst="rect">
            <a:avLst/>
          </a:prstGeom>
          <a:noFill/>
        </p:spPr>
        <p:txBody>
          <a:bodyPr wrap="square" anchor="t" lIns="18288" rIns="18288" tIns="0" bIns="0">
            <a:spAutoFit/>
          </a:bodyPr>
          <a:lstStyle/>
          <a:p>
            <a:pPr algn="ctr">
              <a:lnSpc>
                <a:spcPct val="92000"/>
              </a:lnSpc>
              <a:spcAft>
                <a:spcPts val="100"/>
              </a:spcAft>
            </a:pPr>
            <a:r>
              <a:rPr sz="550" b="0" i="0">
                <a:solidFill>
                  <a:srgbClr val="6B7280"/>
                </a:solidFill>
                <a:latin typeface="Calibri"/>
              </a:rPr>
              <a:t>The government list of
5,000-plus large dams with
height, storage and river.</a:t>
            </a:r>
          </a:p>
        </p:txBody>
      </p:sp>
      <p:sp>
        <p:nvSpPr>
          <p:cNvPr id="41" name="Rounded Rectangle 40"/>
          <p:cNvSpPr/>
          <p:nvPr/>
        </p:nvSpPr>
        <p:spPr>
          <a:xfrm>
            <a:off x="4187952" y="5413248"/>
            <a:ext cx="1956816" cy="384048"/>
          </a:xfrm>
          <a:prstGeom prst="roundRect">
            <a:avLst>
              <a:gd name="adj" fmla="val 16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5000"/>
              </a:lnSpc>
              <a:spcAft>
                <a:spcPts val="100"/>
              </a:spcAft>
            </a:pPr>
            <a:r>
              <a:rPr sz="680" b="1" i="0">
                <a:solidFill>
                  <a:srgbClr val="FFFFFF"/>
                </a:solidFill>
                <a:latin typeface="Calibri"/>
              </a:rPr>
              <a:t>Satellite Flood Imagery</a:t>
            </a:r>
          </a:p>
        </p:txBody>
      </p:sp>
      <p:sp>
        <p:nvSpPr>
          <p:cNvPr id="42" name="TextBox 41"/>
          <p:cNvSpPr txBox="1"/>
          <p:nvPr/>
        </p:nvSpPr>
        <p:spPr>
          <a:xfrm>
            <a:off x="4187952" y="5843016"/>
            <a:ext cx="1956816" cy="658368"/>
          </a:xfrm>
          <a:prstGeom prst="rect">
            <a:avLst/>
          </a:prstGeom>
          <a:noFill/>
        </p:spPr>
        <p:txBody>
          <a:bodyPr wrap="square" anchor="t" lIns="18288" rIns="18288" tIns="0" bIns="0">
            <a:spAutoFit/>
          </a:bodyPr>
          <a:lstStyle/>
          <a:p>
            <a:pPr algn="ctr">
              <a:lnSpc>
                <a:spcPct val="92000"/>
              </a:lnSpc>
              <a:spcAft>
                <a:spcPts val="100"/>
              </a:spcAft>
            </a:pPr>
            <a:r>
              <a:rPr sz="550" b="0" i="0">
                <a:solidFill>
                  <a:srgbClr val="6B7280"/>
                </a:solidFill>
                <a:latin typeface="Calibri"/>
              </a:rPr>
              <a:t>Radar flood detection plus
population density. Rejected
automatically if too poor.</a:t>
            </a:r>
          </a:p>
        </p:txBody>
      </p:sp>
      <p:sp>
        <p:nvSpPr>
          <p:cNvPr id="43" name="Rounded Rectangle 42"/>
          <p:cNvSpPr/>
          <p:nvPr/>
        </p:nvSpPr>
        <p:spPr>
          <a:xfrm>
            <a:off x="6254496" y="5413248"/>
            <a:ext cx="1792224" cy="384048"/>
          </a:xfrm>
          <a:prstGeom prst="roundRect">
            <a:avLst>
              <a:gd name="adj" fmla="val 16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5000"/>
              </a:lnSpc>
              <a:spcAft>
                <a:spcPts val="100"/>
              </a:spcAft>
            </a:pPr>
            <a:r>
              <a:rPr sz="680" b="1" i="0">
                <a:solidFill>
                  <a:srgbClr val="FFFFFF"/>
                </a:solidFill>
                <a:latin typeface="Calibri"/>
              </a:rPr>
              <a:t>Land Cover Map</a:t>
            </a:r>
          </a:p>
        </p:txBody>
      </p:sp>
      <p:sp>
        <p:nvSpPr>
          <p:cNvPr id="44" name="TextBox 43"/>
          <p:cNvSpPr txBox="1"/>
          <p:nvPr/>
        </p:nvSpPr>
        <p:spPr>
          <a:xfrm>
            <a:off x="6254496" y="5843016"/>
            <a:ext cx="1792224" cy="658368"/>
          </a:xfrm>
          <a:prstGeom prst="rect">
            <a:avLst/>
          </a:prstGeom>
          <a:noFill/>
        </p:spPr>
        <p:txBody>
          <a:bodyPr wrap="square" anchor="t" lIns="18288" rIns="18288" tIns="0" bIns="0">
            <a:spAutoFit/>
          </a:bodyPr>
          <a:lstStyle/>
          <a:p>
            <a:pPr algn="ctr">
              <a:lnSpc>
                <a:spcPct val="92000"/>
              </a:lnSpc>
              <a:spcAft>
                <a:spcPts val="100"/>
              </a:spcAft>
            </a:pPr>
            <a:r>
              <a:rPr sz="550" b="0" i="0">
                <a:solidFill>
                  <a:srgbClr val="6B7280"/>
                </a:solidFill>
                <a:latin typeface="Calibri"/>
              </a:rPr>
              <a:t>Forest, city or farmland at
10-metre detail — this decides
how fast the water travels.</a:t>
            </a:r>
          </a:p>
        </p:txBody>
      </p:sp>
      <p:sp>
        <p:nvSpPr>
          <p:cNvPr id="45" name="Rounded Rectangle 44"/>
          <p:cNvSpPr/>
          <p:nvPr/>
        </p:nvSpPr>
        <p:spPr>
          <a:xfrm>
            <a:off x="8156448" y="5413248"/>
            <a:ext cx="1883664" cy="384048"/>
          </a:xfrm>
          <a:prstGeom prst="roundRect">
            <a:avLst>
              <a:gd name="adj" fmla="val 16000"/>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5000"/>
              </a:lnSpc>
              <a:spcAft>
                <a:spcPts val="100"/>
              </a:spcAft>
            </a:pPr>
            <a:r>
              <a:rPr sz="680" b="1" i="0">
                <a:solidFill>
                  <a:srgbClr val="FFFFFF"/>
                </a:solidFill>
                <a:latin typeface="Calibri"/>
              </a:rPr>
              <a:t>Pre-loaded Dam Profiles</a:t>
            </a:r>
          </a:p>
        </p:txBody>
      </p:sp>
      <p:sp>
        <p:nvSpPr>
          <p:cNvPr id="46" name="TextBox 45"/>
          <p:cNvSpPr txBox="1"/>
          <p:nvPr/>
        </p:nvSpPr>
        <p:spPr>
          <a:xfrm>
            <a:off x="8156448" y="5843016"/>
            <a:ext cx="1883664" cy="658368"/>
          </a:xfrm>
          <a:prstGeom prst="rect">
            <a:avLst/>
          </a:prstGeom>
          <a:noFill/>
        </p:spPr>
        <p:txBody>
          <a:bodyPr wrap="square" anchor="t" lIns="18288" rIns="18288" tIns="0" bIns="0">
            <a:spAutoFit/>
          </a:bodyPr>
          <a:lstStyle/>
          <a:p>
            <a:pPr algn="ctr">
              <a:lnSpc>
                <a:spcPct val="92000"/>
              </a:lnSpc>
              <a:spcAft>
                <a:spcPts val="100"/>
              </a:spcAft>
            </a:pPr>
            <a:r>
              <a:rPr sz="550" b="0" i="0">
                <a:solidFill>
                  <a:srgbClr val="6B7280"/>
                </a:solidFill>
                <a:latin typeface="Calibri"/>
              </a:rPr>
              <a:t>Tehri at 260 m and 3,540 MCM,
Khadakwasla at 33 m, plus their
downstream towns.</a:t>
            </a:r>
          </a:p>
        </p:txBody>
      </p:sp>
      <p:sp>
        <p:nvSpPr>
          <p:cNvPr id="47" name="Rounded Rectangle 46"/>
          <p:cNvSpPr/>
          <p:nvPr/>
        </p:nvSpPr>
        <p:spPr>
          <a:xfrm>
            <a:off x="10149840" y="5413248"/>
            <a:ext cx="1709928" cy="384048"/>
          </a:xfrm>
          <a:prstGeom prst="roundRect">
            <a:avLst>
              <a:gd name="adj" fmla="val 16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5000"/>
              </a:lnSpc>
              <a:spcAft>
                <a:spcPts val="100"/>
              </a:spcAft>
            </a:pPr>
            <a:r>
              <a:rPr sz="680" b="1" i="0">
                <a:solidFill>
                  <a:srgbClr val="FFFFFF"/>
                </a:solidFill>
                <a:latin typeface="Calibri"/>
              </a:rPr>
              <a:t>Offline Cache</a:t>
            </a:r>
          </a:p>
        </p:txBody>
      </p:sp>
      <p:sp>
        <p:nvSpPr>
          <p:cNvPr id="48" name="TextBox 47"/>
          <p:cNvSpPr txBox="1"/>
          <p:nvPr/>
        </p:nvSpPr>
        <p:spPr>
          <a:xfrm>
            <a:off x="10149840" y="5843016"/>
            <a:ext cx="1709928" cy="658368"/>
          </a:xfrm>
          <a:prstGeom prst="rect">
            <a:avLst/>
          </a:prstGeom>
          <a:noFill/>
        </p:spPr>
        <p:txBody>
          <a:bodyPr wrap="square" anchor="t" lIns="18288" rIns="18288" tIns="0" bIns="0">
            <a:spAutoFit/>
          </a:bodyPr>
          <a:lstStyle/>
          <a:p>
            <a:pPr algn="ctr">
              <a:lnSpc>
                <a:spcPct val="92000"/>
              </a:lnSpc>
              <a:spcAft>
                <a:spcPts val="100"/>
              </a:spcAft>
            </a:pPr>
            <a:r>
              <a:rPr sz="550" b="0" i="0">
                <a:solidFill>
                  <a:srgbClr val="6B7280"/>
                </a:solidFill>
                <a:latin typeface="Calibri"/>
              </a:rPr>
              <a:t>Fetched once, then held on
disk. Demo day needs no
network at all.</a:t>
            </a:r>
          </a:p>
        </p:txBody>
      </p:sp>
      <p:sp>
        <p:nvSpPr>
          <p:cNvPr id="49" name="Rounded Rectangle 48"/>
          <p:cNvSpPr/>
          <p:nvPr/>
        </p:nvSpPr>
        <p:spPr>
          <a:xfrm rot="30000">
            <a:off x="3749039" y="6382512"/>
            <a:ext cx="4754880" cy="237744"/>
          </a:xfrm>
          <a:prstGeom prst="roundRect">
            <a:avLst>
              <a:gd name="adj" fmla="val 14000"/>
            </a:avLst>
          </a:prstGeom>
          <a:solidFill>
            <a:srgbClr val="FBF1E6"/>
          </a:solidFill>
          <a:ln w="1143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ctr">
              <a:lnSpc>
                <a:spcPct val="92000"/>
              </a:lnSpc>
              <a:spcAft>
                <a:spcPts val="100"/>
              </a:spcAft>
            </a:pPr>
            <a:r>
              <a:rPr sz="640" b="0" i="1">
                <a:solidFill>
                  <a:srgbClr val="824704"/>
                </a:solidFill>
                <a:latin typeface="Calibri"/>
              </a:rPr>
              <a:t>No commercial licence, no field survey, no specialist — total data cost is zero.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01168" y="128016"/>
            <a:ext cx="1188720" cy="310896"/>
          </a:xfrm>
          <a:prstGeom prst="roundRect">
            <a:avLst>
              <a:gd name="adj" fmla="val 40000"/>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2860" bIns="22860"/>
          <a:lstStyle/>
          <a:p>
            <a:pPr algn="ctr">
              <a:lnSpc>
                <a:spcPct val="92000"/>
              </a:lnSpc>
              <a:spcAft>
                <a:spcPts val="100"/>
              </a:spcAft>
            </a:pPr>
            <a:r>
              <a:rPr sz="1100" b="1" i="0">
                <a:solidFill>
                  <a:srgbClr val="FFFFFF"/>
                </a:solidFill>
                <a:latin typeface="Calibri"/>
              </a:rPr>
              <a:t>FloodView</a:t>
            </a:r>
          </a:p>
        </p:txBody>
      </p:sp>
      <p:sp>
        <p:nvSpPr>
          <p:cNvPr id="3" name="TextBox 2"/>
          <p:cNvSpPr txBox="1"/>
          <p:nvPr/>
        </p:nvSpPr>
        <p:spPr>
          <a:xfrm>
            <a:off x="201168" y="457200"/>
            <a:ext cx="1463040" cy="182880"/>
          </a:xfrm>
          <a:prstGeom prst="rect">
            <a:avLst/>
          </a:prstGeom>
          <a:noFill/>
        </p:spPr>
        <p:txBody>
          <a:bodyPr wrap="square" anchor="t" lIns="18288" rIns="18288" tIns="0" bIns="0">
            <a:spAutoFit/>
          </a:bodyPr>
          <a:lstStyle/>
          <a:p>
            <a:pPr algn="l">
              <a:lnSpc>
                <a:spcPct val="92000"/>
              </a:lnSpc>
              <a:spcAft>
                <a:spcPts val="100"/>
              </a:spcAft>
            </a:pPr>
            <a:r>
              <a:rPr sz="620" b="0" i="0">
                <a:solidFill>
                  <a:srgbClr val="6B7280"/>
                </a:solidFill>
                <a:latin typeface="Calibri"/>
              </a:rPr>
              <a:t>PS 26161 · NTRO</a:t>
            </a:r>
          </a:p>
        </p:txBody>
      </p:sp>
      <p:sp>
        <p:nvSpPr>
          <p:cNvPr id="4" name="TextBox 3"/>
          <p:cNvSpPr txBox="1"/>
          <p:nvPr/>
        </p:nvSpPr>
        <p:spPr>
          <a:xfrm>
            <a:off x="1554480" y="91440"/>
            <a:ext cx="8732520" cy="384048"/>
          </a:xfrm>
          <a:prstGeom prst="rect">
            <a:avLst/>
          </a:prstGeom>
          <a:noFill/>
        </p:spPr>
        <p:txBody>
          <a:bodyPr wrap="square" anchor="ctr" lIns="18288" rIns="18288" tIns="0" bIns="0">
            <a:spAutoFit/>
          </a:bodyPr>
          <a:lstStyle/>
          <a:p>
            <a:pPr algn="ctr">
              <a:lnSpc>
                <a:spcPct val="92000"/>
              </a:lnSpc>
              <a:spcAft>
                <a:spcPts val="100"/>
              </a:spcAft>
            </a:pPr>
            <a:r>
              <a:rPr sz="2300" b="1" i="0">
                <a:solidFill>
                  <a:srgbClr val="1F2937"/>
                </a:solidFill>
                <a:latin typeface="Calibri"/>
              </a:rPr>
              <a:t>HOW IT WORKS — STEP BY STEP</a:t>
            </a:r>
          </a:p>
        </p:txBody>
      </p:sp>
      <p:sp>
        <p:nvSpPr>
          <p:cNvPr id="5" name="TextBox 4"/>
          <p:cNvSpPr txBox="1"/>
          <p:nvPr/>
        </p:nvSpPr>
        <p:spPr>
          <a:xfrm>
            <a:off x="1554480" y="475488"/>
            <a:ext cx="8732520" cy="201168"/>
          </a:xfrm>
          <a:prstGeom prst="rect">
            <a:avLst/>
          </a:prstGeom>
          <a:noFill/>
        </p:spPr>
        <p:txBody>
          <a:bodyPr wrap="square" anchor="t" lIns="18288" rIns="18288" tIns="0" bIns="0">
            <a:spAutoFit/>
          </a:bodyPr>
          <a:lstStyle/>
          <a:p>
            <a:pPr algn="ctr">
              <a:lnSpc>
                <a:spcPct val="92000"/>
              </a:lnSpc>
              <a:spcAft>
                <a:spcPts val="100"/>
              </a:spcAft>
            </a:pPr>
            <a:r>
              <a:rPr sz="819" b="0" i="1">
                <a:solidFill>
                  <a:srgbClr val="6B7280"/>
                </a:solidFill>
                <a:latin typeface="Calibri"/>
              </a:rPr>
              <a:t>From four simple inputs to a complete flood risk report, in minutes rather than weeks.</a:t>
            </a:r>
          </a:p>
        </p:txBody>
      </p:sp>
      <p:sp>
        <p:nvSpPr>
          <p:cNvPr id="6" name="TextBox 5"/>
          <p:cNvSpPr txBox="1"/>
          <p:nvPr/>
        </p:nvSpPr>
        <p:spPr>
          <a:xfrm>
            <a:off x="10378440" y="128016"/>
            <a:ext cx="1609344" cy="402336"/>
          </a:xfrm>
          <a:prstGeom prst="rect">
            <a:avLst/>
          </a:prstGeom>
          <a:noFill/>
        </p:spPr>
        <p:txBody>
          <a:bodyPr wrap="square" anchor="t" lIns="18288" rIns="18288" tIns="0" bIns="0">
            <a:spAutoFit/>
          </a:bodyPr>
          <a:lstStyle/>
          <a:p>
            <a:pPr algn="r">
              <a:lnSpc>
                <a:spcPct val="92000"/>
              </a:lnSpc>
              <a:spcAft>
                <a:spcPts val="0"/>
              </a:spcAft>
            </a:pPr>
            <a:r>
              <a:rPr sz="800" b="1" i="0">
                <a:solidFill>
                  <a:srgbClr val="0070C0"/>
                </a:solidFill>
                <a:latin typeface="Calibri"/>
              </a:rPr>
              <a:t>SMART INDIA</a:t>
            </a:r>
          </a:p>
          <a:p>
            <a:pPr algn="r">
              <a:lnSpc>
                <a:spcPct val="92000"/>
              </a:lnSpc>
              <a:spcAft>
                <a:spcPts val="0"/>
              </a:spcAft>
            </a:pPr>
            <a:r>
              <a:rPr sz="800" b="1" i="0">
                <a:solidFill>
                  <a:srgbClr val="0070C0"/>
                </a:solidFill>
                <a:latin typeface="Calibri"/>
              </a:rPr>
              <a:t>HACKATHON 2026</a:t>
            </a:r>
          </a:p>
        </p:txBody>
      </p:sp>
      <p:sp>
        <p:nvSpPr>
          <p:cNvPr id="7" name="Rectangle 6"/>
          <p:cNvSpPr/>
          <p:nvPr/>
        </p:nvSpPr>
        <p:spPr>
          <a:xfrm>
            <a:off x="0" y="6547104"/>
            <a:ext cx="12191695" cy="310896"/>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8" name="TextBox 7"/>
          <p:cNvSpPr txBox="1"/>
          <p:nvPr/>
        </p:nvSpPr>
        <p:spPr>
          <a:xfrm>
            <a:off x="256032" y="6601968"/>
            <a:ext cx="10607040" cy="201168"/>
          </a:xfrm>
          <a:prstGeom prst="rect">
            <a:avLst/>
          </a:prstGeom>
          <a:noFill/>
        </p:spPr>
        <p:txBody>
          <a:bodyPr wrap="square" anchor="t" lIns="18288" rIns="18288" tIns="0" bIns="0">
            <a:spAutoFit/>
          </a:bodyPr>
          <a:lstStyle/>
          <a:p>
            <a:pPr algn="l">
              <a:lnSpc>
                <a:spcPct val="92000"/>
              </a:lnSpc>
              <a:spcAft>
                <a:spcPts val="100"/>
              </a:spcAft>
            </a:pPr>
            <a:r>
              <a:rPr sz="800" b="1" i="0">
                <a:solidFill>
                  <a:srgbClr val="FFFFFF"/>
                </a:solidFill>
                <a:latin typeface="Calibri"/>
              </a:rPr>
              <a:t>Seven steps. The officer performs step one. The system performs the other six.</a:t>
            </a:r>
          </a:p>
        </p:txBody>
      </p:sp>
      <p:sp>
        <p:nvSpPr>
          <p:cNvPr id="9" name="TextBox 8"/>
          <p:cNvSpPr txBox="1"/>
          <p:nvPr/>
        </p:nvSpPr>
        <p:spPr>
          <a:xfrm>
            <a:off x="11521440" y="6601968"/>
            <a:ext cx="457200" cy="201168"/>
          </a:xfrm>
          <a:prstGeom prst="rect">
            <a:avLst/>
          </a:prstGeom>
          <a:noFill/>
        </p:spPr>
        <p:txBody>
          <a:bodyPr wrap="square" anchor="t" lIns="18288" rIns="18288" tIns="0" bIns="0">
            <a:spAutoFit/>
          </a:bodyPr>
          <a:lstStyle/>
          <a:p>
            <a:pPr algn="r">
              <a:lnSpc>
                <a:spcPct val="92000"/>
              </a:lnSpc>
              <a:spcAft>
                <a:spcPts val="100"/>
              </a:spcAft>
            </a:pPr>
            <a:r>
              <a:rPr sz="850" b="1" i="0">
                <a:solidFill>
                  <a:srgbClr val="FFFFFF"/>
                </a:solidFill>
                <a:latin typeface="Calibri"/>
              </a:rPr>
              <a:t>2</a:t>
            </a:r>
          </a:p>
        </p:txBody>
      </p:sp>
      <p:sp>
        <p:nvSpPr>
          <p:cNvPr id="10" name="Rounded Rectangle 9"/>
          <p:cNvSpPr/>
          <p:nvPr/>
        </p:nvSpPr>
        <p:spPr>
          <a:xfrm>
            <a:off x="201168" y="859536"/>
            <a:ext cx="3749039" cy="1316736"/>
          </a:xfrm>
          <a:prstGeom prst="roundRect">
            <a:avLst>
              <a:gd name="adj" fmla="val 6000"/>
            </a:avLst>
          </a:prstGeom>
          <a:solidFill>
            <a:srgbClr val="EEF8F7"/>
          </a:solidFill>
          <a:ln w="1524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11" name="TextBox 10"/>
          <p:cNvSpPr txBox="1"/>
          <p:nvPr/>
        </p:nvSpPr>
        <p:spPr>
          <a:xfrm>
            <a:off x="292608" y="950976"/>
            <a:ext cx="3566159" cy="274320"/>
          </a:xfrm>
          <a:prstGeom prst="rect">
            <a:avLst/>
          </a:prstGeom>
          <a:noFill/>
        </p:spPr>
        <p:txBody>
          <a:bodyPr wrap="square" anchor="t" lIns="18288" rIns="18288" tIns="0" bIns="0">
            <a:spAutoFit/>
          </a:bodyPr>
          <a:lstStyle/>
          <a:p>
            <a:pPr algn="l">
              <a:lnSpc>
                <a:spcPct val="92000"/>
              </a:lnSpc>
              <a:spcAft>
                <a:spcPts val="100"/>
              </a:spcAft>
            </a:pPr>
            <a:r>
              <a:rPr sz="840" b="1" i="0">
                <a:solidFill>
                  <a:srgbClr val="0A6F66"/>
                </a:solidFill>
                <a:latin typeface="Calibri"/>
              </a:rPr>
              <a:t>Built-in uncertainty, not a single guess</a:t>
            </a:r>
          </a:p>
        </p:txBody>
      </p:sp>
      <p:sp>
        <p:nvSpPr>
          <p:cNvPr id="12" name="TextBox 11"/>
          <p:cNvSpPr txBox="1"/>
          <p:nvPr/>
        </p:nvSpPr>
        <p:spPr>
          <a:xfrm>
            <a:off x="320040" y="1261872"/>
            <a:ext cx="3511296" cy="822959"/>
          </a:xfrm>
          <a:prstGeom prst="rect">
            <a:avLst/>
          </a:prstGeom>
          <a:noFill/>
        </p:spPr>
        <p:txBody>
          <a:bodyPr wrap="square" anchor="t" lIns="18288" rIns="18288" tIns="0" bIns="0">
            <a:spAutoFit/>
          </a:bodyPr>
          <a:lstStyle/>
          <a:p>
            <a:pPr algn="l">
              <a:lnSpc>
                <a:spcPct val="90000"/>
              </a:lnSpc>
              <a:spcAft>
                <a:spcPts val="220"/>
              </a:spcAft>
            </a:pPr>
            <a:r>
              <a:rPr sz="630" b="0" i="0">
                <a:solidFill>
                  <a:srgbClr val="1F2937"/>
                </a:solidFill>
                <a:latin typeface="Calibri"/>
              </a:rPr>
              <a:t>▪ Thirty variations run with different breach sizes</a:t>
            </a:r>
          </a:p>
          <a:p>
            <a:pPr algn="l">
              <a:lnSpc>
                <a:spcPct val="90000"/>
              </a:lnSpc>
              <a:spcAft>
                <a:spcPts val="220"/>
              </a:spcAft>
            </a:pPr>
            <a:r>
              <a:rPr sz="630" b="0" i="0">
                <a:solidFill>
                  <a:srgbClr val="1F2937"/>
                </a:solidFill>
                <a:latin typeface="Calibri"/>
              </a:rPr>
              <a:t>▪ Reports the fifth and ninety-fifth percentile arrival band</a:t>
            </a:r>
          </a:p>
          <a:p>
            <a:pPr algn="l">
              <a:lnSpc>
                <a:spcPct val="90000"/>
              </a:lnSpc>
              <a:spcAft>
                <a:spcPts val="220"/>
              </a:spcAft>
            </a:pPr>
            <a:r>
              <a:rPr sz="630" b="0" i="0">
                <a:solidFill>
                  <a:srgbClr val="1F2937"/>
                </a:solidFill>
                <a:latin typeface="Calibri"/>
              </a:rPr>
              <a:t>▪ Best case, worst case and most likely — stated together</a:t>
            </a:r>
          </a:p>
          <a:p>
            <a:pPr algn="l">
              <a:lnSpc>
                <a:spcPct val="90000"/>
              </a:lnSpc>
              <a:spcAft>
                <a:spcPts val="220"/>
              </a:spcAft>
            </a:pPr>
            <a:r>
              <a:rPr sz="630" b="0" i="0">
                <a:solidFill>
                  <a:srgbClr val="1F2937"/>
                </a:solidFill>
                <a:latin typeface="Calibri"/>
              </a:rPr>
              <a:t>▪ This is how real engineering reports risk</a:t>
            </a:r>
          </a:p>
        </p:txBody>
      </p:sp>
      <p:sp>
        <p:nvSpPr>
          <p:cNvPr id="13" name="Rounded Rectangle 12"/>
          <p:cNvSpPr/>
          <p:nvPr/>
        </p:nvSpPr>
        <p:spPr>
          <a:xfrm>
            <a:off x="4133087" y="859536"/>
            <a:ext cx="3913632" cy="1316736"/>
          </a:xfrm>
          <a:prstGeom prst="roundRect">
            <a:avLst>
              <a:gd name="adj" fmla="val 6000"/>
            </a:avLst>
          </a:prstGeom>
          <a:solidFill>
            <a:srgbClr val="F6F1FE"/>
          </a:solidFill>
          <a:ln w="1524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14" name="TextBox 13"/>
          <p:cNvSpPr txBox="1"/>
          <p:nvPr/>
        </p:nvSpPr>
        <p:spPr>
          <a:xfrm>
            <a:off x="4224527" y="950976"/>
            <a:ext cx="3730752" cy="274320"/>
          </a:xfrm>
          <a:prstGeom prst="rect">
            <a:avLst/>
          </a:prstGeom>
          <a:noFill/>
        </p:spPr>
        <p:txBody>
          <a:bodyPr wrap="square" anchor="t" lIns="18288" rIns="18288" tIns="0" bIns="0">
            <a:spAutoFit/>
          </a:bodyPr>
          <a:lstStyle/>
          <a:p>
            <a:pPr algn="l">
              <a:lnSpc>
                <a:spcPct val="92000"/>
              </a:lnSpc>
              <a:spcAft>
                <a:spcPts val="100"/>
              </a:spcAft>
            </a:pPr>
            <a:r>
              <a:rPr sz="840" b="1" i="0">
                <a:solidFill>
                  <a:srgbClr val="5D2CB2"/>
                </a:solidFill>
                <a:latin typeface="Calibri"/>
              </a:rPr>
              <a:t>Checked against an independent engine</a:t>
            </a:r>
          </a:p>
        </p:txBody>
      </p:sp>
      <p:sp>
        <p:nvSpPr>
          <p:cNvPr id="15" name="TextBox 14"/>
          <p:cNvSpPr txBox="1"/>
          <p:nvPr/>
        </p:nvSpPr>
        <p:spPr>
          <a:xfrm>
            <a:off x="4251959" y="1261872"/>
            <a:ext cx="3675888" cy="822959"/>
          </a:xfrm>
          <a:prstGeom prst="rect">
            <a:avLst/>
          </a:prstGeom>
          <a:noFill/>
        </p:spPr>
        <p:txBody>
          <a:bodyPr wrap="square" anchor="t" lIns="18288" rIns="18288" tIns="0" bIns="0">
            <a:spAutoFit/>
          </a:bodyPr>
          <a:lstStyle/>
          <a:p>
            <a:pPr algn="l">
              <a:lnSpc>
                <a:spcPct val="90000"/>
              </a:lnSpc>
              <a:spcAft>
                <a:spcPts val="220"/>
              </a:spcAft>
            </a:pPr>
            <a:r>
              <a:rPr sz="630" b="0" i="0">
                <a:solidFill>
                  <a:srgbClr val="1F2937"/>
                </a:solidFill>
                <a:latin typeface="Calibri"/>
              </a:rPr>
              <a:t>▪ The same textbook case run through Delft3D FM as well</a:t>
            </a:r>
          </a:p>
          <a:p>
            <a:pPr algn="l">
              <a:lnSpc>
                <a:spcPct val="90000"/>
              </a:lnSpc>
              <a:spcAft>
                <a:spcPts val="220"/>
              </a:spcAft>
            </a:pPr>
            <a:r>
              <a:rPr sz="630" b="0" i="0">
                <a:solidFill>
                  <a:srgbClr val="1F2937"/>
                </a:solidFill>
                <a:latin typeface="Calibri"/>
              </a:rPr>
              <a:t>▪ A real Deltares kernel, not a lookalike of our own</a:t>
            </a:r>
          </a:p>
          <a:p>
            <a:pPr algn="l">
              <a:lnSpc>
                <a:spcPct val="90000"/>
              </a:lnSpc>
              <a:spcAft>
                <a:spcPts val="220"/>
              </a:spcAft>
            </a:pPr>
            <a:r>
              <a:rPr sz="630" b="0" i="0">
                <a:solidFill>
                  <a:srgbClr val="1F2937"/>
                </a:solidFill>
                <a:latin typeface="Calibri"/>
              </a:rPr>
              <a:t>▪ Our answer 0.0317 m error, theirs 0.0349 m</a:t>
            </a:r>
          </a:p>
          <a:p>
            <a:pPr algn="l">
              <a:lnSpc>
                <a:spcPct val="90000"/>
              </a:lnSpc>
              <a:spcAft>
                <a:spcPts val="220"/>
              </a:spcAft>
            </a:pPr>
            <a:r>
              <a:rPr sz="630" b="0" i="0">
                <a:solidFill>
                  <a:srgbClr val="1F2937"/>
                </a:solidFill>
                <a:latin typeface="Calibri"/>
              </a:rPr>
              <a:t>▪ The two engines agree to within 0.0294 m</a:t>
            </a:r>
          </a:p>
        </p:txBody>
      </p:sp>
      <p:sp>
        <p:nvSpPr>
          <p:cNvPr id="16" name="Rounded Rectangle 15"/>
          <p:cNvSpPr/>
          <p:nvPr/>
        </p:nvSpPr>
        <p:spPr>
          <a:xfrm>
            <a:off x="8229600" y="859536"/>
            <a:ext cx="3758184" cy="1316736"/>
          </a:xfrm>
          <a:prstGeom prst="roundRect">
            <a:avLst>
              <a:gd name="adj" fmla="val 6000"/>
            </a:avLst>
          </a:prstGeom>
          <a:solidFill>
            <a:srgbClr val="FCF5EE"/>
          </a:solidFill>
          <a:ln w="1524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17" name="TextBox 16"/>
          <p:cNvSpPr txBox="1"/>
          <p:nvPr/>
        </p:nvSpPr>
        <p:spPr>
          <a:xfrm>
            <a:off x="8321040" y="950976"/>
            <a:ext cx="3575304" cy="274320"/>
          </a:xfrm>
          <a:prstGeom prst="rect">
            <a:avLst/>
          </a:prstGeom>
          <a:noFill/>
        </p:spPr>
        <p:txBody>
          <a:bodyPr wrap="square" anchor="t" lIns="18288" rIns="18288" tIns="0" bIns="0">
            <a:spAutoFit/>
          </a:bodyPr>
          <a:lstStyle/>
          <a:p>
            <a:pPr algn="l">
              <a:lnSpc>
                <a:spcPct val="92000"/>
              </a:lnSpc>
              <a:spcAft>
                <a:spcPts val="100"/>
              </a:spcAft>
            </a:pPr>
            <a:r>
              <a:rPr sz="840" b="1" i="0">
                <a:solidFill>
                  <a:srgbClr val="A35904"/>
                </a:solidFill>
                <a:latin typeface="Calibri"/>
              </a:rPr>
              <a:t>Why the speed matters</a:t>
            </a:r>
          </a:p>
        </p:txBody>
      </p:sp>
      <p:sp>
        <p:nvSpPr>
          <p:cNvPr id="18" name="TextBox 17"/>
          <p:cNvSpPr txBox="1"/>
          <p:nvPr/>
        </p:nvSpPr>
        <p:spPr>
          <a:xfrm>
            <a:off x="8348472" y="1261872"/>
            <a:ext cx="3520440" cy="822959"/>
          </a:xfrm>
          <a:prstGeom prst="rect">
            <a:avLst/>
          </a:prstGeom>
          <a:noFill/>
        </p:spPr>
        <p:txBody>
          <a:bodyPr wrap="square" anchor="t" lIns="18288" rIns="18288" tIns="0" bIns="0">
            <a:spAutoFit/>
          </a:bodyPr>
          <a:lstStyle/>
          <a:p>
            <a:pPr algn="l">
              <a:lnSpc>
                <a:spcPct val="90000"/>
              </a:lnSpc>
              <a:spcAft>
                <a:spcPts val="220"/>
              </a:spcAft>
            </a:pPr>
            <a:r>
              <a:rPr sz="630" b="0" i="0">
                <a:solidFill>
                  <a:srgbClr val="1F2937"/>
                </a:solidFill>
                <a:latin typeface="Calibri"/>
              </a:rPr>
              <a:t>▪ Today: weeks of specialist setup and licensed software</a:t>
            </a:r>
          </a:p>
          <a:p>
            <a:pPr algn="l">
              <a:lnSpc>
                <a:spcPct val="90000"/>
              </a:lnSpc>
              <a:spcAft>
                <a:spcPts val="220"/>
              </a:spcAft>
            </a:pPr>
            <a:r>
              <a:rPr sz="630" b="0" i="0">
                <a:solidFill>
                  <a:srgbClr val="1F2937"/>
                </a:solidFill>
                <a:latin typeface="Calibri"/>
              </a:rPr>
              <a:t>▪ Today: field survey costs before a single map exists</a:t>
            </a:r>
          </a:p>
          <a:p>
            <a:pPr algn="l">
              <a:lnSpc>
                <a:spcPct val="90000"/>
              </a:lnSpc>
              <a:spcAft>
                <a:spcPts val="220"/>
              </a:spcAft>
            </a:pPr>
            <a:r>
              <a:rPr sz="630" b="0" i="0">
                <a:solidFill>
                  <a:srgbClr val="1F2937"/>
                </a:solidFill>
                <a:latin typeface="Calibri"/>
              </a:rPr>
              <a:t>▪ FloodView: four inputs, free data, a full run in 47 seconds</a:t>
            </a:r>
          </a:p>
          <a:p>
            <a:pPr algn="l">
              <a:lnSpc>
                <a:spcPct val="90000"/>
              </a:lnSpc>
              <a:spcAft>
                <a:spcPts val="220"/>
              </a:spcAft>
            </a:pPr>
            <a:r>
              <a:rPr sz="630" b="0" i="0">
                <a:solidFill>
                  <a:srgbClr val="1F2937"/>
                </a:solidFill>
                <a:latin typeface="Calibri"/>
              </a:rPr>
              <a:t>▪ Any trained officer can run it — and it runs offline</a:t>
            </a:r>
          </a:p>
        </p:txBody>
      </p:sp>
      <p:sp>
        <p:nvSpPr>
          <p:cNvPr id="19" name="Rounded Rectangle 18"/>
          <p:cNvSpPr/>
          <p:nvPr/>
        </p:nvSpPr>
        <p:spPr>
          <a:xfrm>
            <a:off x="201168" y="2487168"/>
            <a:ext cx="1609344" cy="1481328"/>
          </a:xfrm>
          <a:prstGeom prst="roundRect">
            <a:avLst>
              <a:gd name="adj" fmla="val 8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60" b="1" i="0">
                <a:solidFill>
                  <a:srgbClr val="FFFFFF"/>
                </a:solidFill>
                <a:latin typeface="Calibri"/>
              </a:rPr>
              <a:t>Pick a Dam</a:t>
            </a:r>
          </a:p>
          <a:p>
            <a:pPr algn="ctr">
              <a:lnSpc>
                <a:spcPct val="90000"/>
              </a:lnSpc>
              <a:spcAft>
                <a:spcPts val="100"/>
              </a:spcAft>
            </a:pPr>
            <a:r>
              <a:rPr sz="600" b="0" i="0">
                <a:solidFill>
                  <a:srgbClr val="DEE0E4"/>
                </a:solidFill>
                <a:latin typeface="Calibri"/>
              </a:rPr>
              <a:t>Choose from the list, or type in
position, height and storage.
Four numbers, nothing more.</a:t>
            </a:r>
          </a:p>
        </p:txBody>
      </p:sp>
      <p:sp>
        <p:nvSpPr>
          <p:cNvPr id="20" name="Oval 19"/>
          <p:cNvSpPr/>
          <p:nvPr/>
        </p:nvSpPr>
        <p:spPr>
          <a:xfrm>
            <a:off x="256032" y="2395728"/>
            <a:ext cx="274320" cy="27432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2860" bIns="22860"/>
          <a:lstStyle/>
          <a:p>
            <a:pPr algn="ctr">
              <a:lnSpc>
                <a:spcPct val="92000"/>
              </a:lnSpc>
              <a:spcAft>
                <a:spcPts val="100"/>
              </a:spcAft>
            </a:pPr>
            <a:r>
              <a:rPr sz="900" b="1" i="0">
                <a:solidFill>
                  <a:srgbClr val="FFFFFF"/>
                </a:solidFill>
                <a:latin typeface="Calibri"/>
              </a:rPr>
              <a:t>1</a:t>
            </a:r>
          </a:p>
        </p:txBody>
      </p:sp>
      <p:sp>
        <p:nvSpPr>
          <p:cNvPr id="21" name="TextBox 20"/>
          <p:cNvSpPr txBox="1"/>
          <p:nvPr/>
        </p:nvSpPr>
        <p:spPr>
          <a:xfrm>
            <a:off x="201168" y="4059936"/>
            <a:ext cx="1609344" cy="603504"/>
          </a:xfrm>
          <a:prstGeom prst="rect">
            <a:avLst/>
          </a:prstGeom>
          <a:noFill/>
        </p:spPr>
        <p:txBody>
          <a:bodyPr wrap="square" anchor="t" lIns="18288" rIns="18288" tIns="0" bIns="0">
            <a:spAutoFit/>
          </a:bodyPr>
          <a:lstStyle/>
          <a:p>
            <a:pPr algn="ctr">
              <a:lnSpc>
                <a:spcPct val="94000"/>
              </a:lnSpc>
              <a:spcAft>
                <a:spcPts val="100"/>
              </a:spcAft>
            </a:pPr>
            <a:r>
              <a:rPr sz="590" b="0" i="1">
                <a:solidFill>
                  <a:srgbClr val="8D4D04"/>
                </a:solidFill>
                <a:latin typeface="Calibri"/>
              </a:rPr>
              <a:t>No specialist needed — the numbers are public.</a:t>
            </a:r>
          </a:p>
        </p:txBody>
      </p:sp>
      <p:sp>
        <p:nvSpPr>
          <p:cNvPr id="22" name="Rounded Rectangle 21"/>
          <p:cNvSpPr/>
          <p:nvPr/>
        </p:nvSpPr>
        <p:spPr>
          <a:xfrm>
            <a:off x="1920240" y="2487168"/>
            <a:ext cx="1572768" cy="1481328"/>
          </a:xfrm>
          <a:prstGeom prst="roundRect">
            <a:avLst>
              <a:gd name="adj" fmla="val 8000"/>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60" b="1" i="0">
                <a:solidFill>
                  <a:srgbClr val="FFFFFF"/>
                </a:solidFill>
                <a:latin typeface="Calibri"/>
              </a:rPr>
              <a:t>Get the Terrain</a:t>
            </a:r>
          </a:p>
          <a:p>
            <a:pPr algn="ctr">
              <a:lnSpc>
                <a:spcPct val="90000"/>
              </a:lnSpc>
              <a:spcAft>
                <a:spcPts val="100"/>
              </a:spcAft>
            </a:pPr>
            <a:r>
              <a:rPr sz="600" b="0" i="0">
                <a:solidFill>
                  <a:srgbClr val="D5DAE1"/>
                </a:solidFill>
                <a:latin typeface="Calibri"/>
              </a:rPr>
              <a:t>Satellite ground-height data
arrives at 30-metre detail and
is cached for offline reuse.</a:t>
            </a:r>
          </a:p>
        </p:txBody>
      </p:sp>
      <p:sp>
        <p:nvSpPr>
          <p:cNvPr id="23" name="Oval 22"/>
          <p:cNvSpPr/>
          <p:nvPr/>
        </p:nvSpPr>
        <p:spPr>
          <a:xfrm>
            <a:off x="1975104" y="2395728"/>
            <a:ext cx="274320" cy="27432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2860" bIns="22860"/>
          <a:lstStyle/>
          <a:p>
            <a:pPr algn="ctr">
              <a:lnSpc>
                <a:spcPct val="92000"/>
              </a:lnSpc>
              <a:spcAft>
                <a:spcPts val="100"/>
              </a:spcAft>
            </a:pPr>
            <a:r>
              <a:rPr sz="900" b="1" i="0">
                <a:solidFill>
                  <a:srgbClr val="FFFFFF"/>
                </a:solidFill>
                <a:latin typeface="Calibri"/>
              </a:rPr>
              <a:t>2</a:t>
            </a:r>
          </a:p>
        </p:txBody>
      </p:sp>
      <p:sp>
        <p:nvSpPr>
          <p:cNvPr id="24" name="TextBox 23"/>
          <p:cNvSpPr txBox="1"/>
          <p:nvPr/>
        </p:nvSpPr>
        <p:spPr>
          <a:xfrm>
            <a:off x="1920240" y="4059936"/>
            <a:ext cx="1572768" cy="603504"/>
          </a:xfrm>
          <a:prstGeom prst="rect">
            <a:avLst/>
          </a:prstGeom>
          <a:noFill/>
        </p:spPr>
        <p:txBody>
          <a:bodyPr wrap="square" anchor="t" lIns="18288" rIns="18288" tIns="0" bIns="0">
            <a:spAutoFit/>
          </a:bodyPr>
          <a:lstStyle/>
          <a:p>
            <a:pPr algn="ctr">
              <a:lnSpc>
                <a:spcPct val="94000"/>
              </a:lnSpc>
              <a:spcAft>
                <a:spcPts val="100"/>
              </a:spcAft>
            </a:pPr>
            <a:r>
              <a:rPr sz="590" b="0" i="1">
                <a:solidFill>
                  <a:srgbClr val="8D4D04"/>
                </a:solidFill>
                <a:latin typeface="Calibri"/>
              </a:rPr>
              <a:t>Like fetching a 3D photograph of the valley.</a:t>
            </a:r>
          </a:p>
        </p:txBody>
      </p:sp>
      <p:sp>
        <p:nvSpPr>
          <p:cNvPr id="25" name="Rounded Rectangle 24"/>
          <p:cNvSpPr/>
          <p:nvPr/>
        </p:nvSpPr>
        <p:spPr>
          <a:xfrm>
            <a:off x="3602736" y="2487168"/>
            <a:ext cx="1645920" cy="1481328"/>
          </a:xfrm>
          <a:prstGeom prst="roundRect">
            <a:avLst>
              <a:gd name="adj" fmla="val 8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60" b="1" i="0">
                <a:solidFill>
                  <a:srgbClr val="FFFFFF"/>
                </a:solidFill>
                <a:latin typeface="Calibri"/>
              </a:rPr>
              <a:t>Prepare the Land</a:t>
            </a:r>
          </a:p>
          <a:p>
            <a:pPr algn="ctr">
              <a:lnSpc>
                <a:spcPct val="90000"/>
              </a:lnSpc>
              <a:spcAft>
                <a:spcPts val="100"/>
              </a:spcAft>
            </a:pPr>
            <a:r>
              <a:rPr sz="600" b="0" i="0">
                <a:solidFill>
                  <a:srgbClr val="D2ECE4"/>
                </a:solidFill>
                <a:latin typeface="Calibri"/>
              </a:rPr>
              <a:t>Smooth the artefacts, locate the
dam wall, and label what covers
the ground downstream.</a:t>
            </a:r>
          </a:p>
        </p:txBody>
      </p:sp>
      <p:sp>
        <p:nvSpPr>
          <p:cNvPr id="26" name="Oval 25"/>
          <p:cNvSpPr/>
          <p:nvPr/>
        </p:nvSpPr>
        <p:spPr>
          <a:xfrm>
            <a:off x="3657600" y="2395728"/>
            <a:ext cx="274320" cy="27432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2860" bIns="22860"/>
          <a:lstStyle/>
          <a:p>
            <a:pPr algn="ctr">
              <a:lnSpc>
                <a:spcPct val="92000"/>
              </a:lnSpc>
              <a:spcAft>
                <a:spcPts val="100"/>
              </a:spcAft>
            </a:pPr>
            <a:r>
              <a:rPr sz="900" b="1" i="0">
                <a:solidFill>
                  <a:srgbClr val="FFFFFF"/>
                </a:solidFill>
                <a:latin typeface="Calibri"/>
              </a:rPr>
              <a:t>3</a:t>
            </a:r>
          </a:p>
        </p:txBody>
      </p:sp>
      <p:sp>
        <p:nvSpPr>
          <p:cNvPr id="27" name="TextBox 26"/>
          <p:cNvSpPr txBox="1"/>
          <p:nvPr/>
        </p:nvSpPr>
        <p:spPr>
          <a:xfrm>
            <a:off x="3602736" y="4059936"/>
            <a:ext cx="1645920" cy="603504"/>
          </a:xfrm>
          <a:prstGeom prst="rect">
            <a:avLst/>
          </a:prstGeom>
          <a:noFill/>
        </p:spPr>
        <p:txBody>
          <a:bodyPr wrap="square" anchor="t" lIns="18288" rIns="18288" tIns="0" bIns="0">
            <a:spAutoFit/>
          </a:bodyPr>
          <a:lstStyle/>
          <a:p>
            <a:pPr algn="ctr">
              <a:lnSpc>
                <a:spcPct val="94000"/>
              </a:lnSpc>
              <a:spcAft>
                <a:spcPts val="100"/>
              </a:spcAft>
            </a:pPr>
            <a:r>
              <a:rPr sz="590" b="0" i="1">
                <a:solidFill>
                  <a:srgbClr val="8D4D04"/>
                </a:solidFill>
                <a:latin typeface="Calibri"/>
              </a:rPr>
              <a:t>Forest slows water down; concrete speeds it up.</a:t>
            </a:r>
          </a:p>
        </p:txBody>
      </p:sp>
      <p:sp>
        <p:nvSpPr>
          <p:cNvPr id="28" name="Rounded Rectangle 27"/>
          <p:cNvSpPr/>
          <p:nvPr/>
        </p:nvSpPr>
        <p:spPr>
          <a:xfrm>
            <a:off x="5358384" y="2487168"/>
            <a:ext cx="1591056" cy="1481328"/>
          </a:xfrm>
          <a:prstGeom prst="roundRect">
            <a:avLst>
              <a:gd name="adj" fmla="val 8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60" b="1" i="0">
                <a:solidFill>
                  <a:srgbClr val="FFFFFF"/>
                </a:solidFill>
                <a:latin typeface="Calibri"/>
              </a:rPr>
              <a:t>Model the Break</a:t>
            </a:r>
          </a:p>
          <a:p>
            <a:pPr algn="ctr">
              <a:lnSpc>
                <a:spcPct val="90000"/>
              </a:lnSpc>
              <a:spcAft>
                <a:spcPts val="100"/>
              </a:spcAft>
            </a:pPr>
            <a:r>
              <a:rPr sz="600" b="0" i="0">
                <a:solidFill>
                  <a:srgbClr val="FBE1D3"/>
                </a:solidFill>
                <a:latin typeface="Calibri"/>
              </a:rPr>
              <a:t>Work out how wide the breach
grows, how quickly, and how much
water is released at the peak.</a:t>
            </a:r>
          </a:p>
        </p:txBody>
      </p:sp>
      <p:sp>
        <p:nvSpPr>
          <p:cNvPr id="29" name="Oval 28"/>
          <p:cNvSpPr/>
          <p:nvPr/>
        </p:nvSpPr>
        <p:spPr>
          <a:xfrm>
            <a:off x="5413248" y="2395728"/>
            <a:ext cx="274320" cy="27432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2860" bIns="22860"/>
          <a:lstStyle/>
          <a:p>
            <a:pPr algn="ctr">
              <a:lnSpc>
                <a:spcPct val="92000"/>
              </a:lnSpc>
              <a:spcAft>
                <a:spcPts val="100"/>
              </a:spcAft>
            </a:pPr>
            <a:r>
              <a:rPr sz="900" b="1" i="0">
                <a:solidFill>
                  <a:srgbClr val="FFFFFF"/>
                </a:solidFill>
                <a:latin typeface="Calibri"/>
              </a:rPr>
              <a:t>4</a:t>
            </a:r>
          </a:p>
        </p:txBody>
      </p:sp>
      <p:sp>
        <p:nvSpPr>
          <p:cNvPr id="30" name="TextBox 29"/>
          <p:cNvSpPr txBox="1"/>
          <p:nvPr/>
        </p:nvSpPr>
        <p:spPr>
          <a:xfrm>
            <a:off x="5358384" y="4059936"/>
            <a:ext cx="1591056" cy="603504"/>
          </a:xfrm>
          <a:prstGeom prst="rect">
            <a:avLst/>
          </a:prstGeom>
          <a:noFill/>
        </p:spPr>
        <p:txBody>
          <a:bodyPr wrap="square" anchor="t" lIns="18288" rIns="18288" tIns="0" bIns="0">
            <a:spAutoFit/>
          </a:bodyPr>
          <a:lstStyle/>
          <a:p>
            <a:pPr algn="ctr">
              <a:lnSpc>
                <a:spcPct val="94000"/>
              </a:lnSpc>
              <a:spcAft>
                <a:spcPts val="100"/>
              </a:spcAft>
            </a:pPr>
            <a:r>
              <a:rPr sz="590" b="0" i="1">
                <a:solidFill>
                  <a:srgbClr val="8D4D04"/>
                </a:solidFill>
                <a:latin typeface="Calibri"/>
              </a:rPr>
              <a:t>Formulas drawn from decades of dam-safety study.</a:t>
            </a:r>
          </a:p>
        </p:txBody>
      </p:sp>
      <p:sp>
        <p:nvSpPr>
          <p:cNvPr id="31" name="Rounded Rectangle 30"/>
          <p:cNvSpPr/>
          <p:nvPr/>
        </p:nvSpPr>
        <p:spPr>
          <a:xfrm>
            <a:off x="7059168" y="2487168"/>
            <a:ext cx="1700784" cy="1481328"/>
          </a:xfrm>
          <a:prstGeom prst="roundRect">
            <a:avLst>
              <a:gd name="adj" fmla="val 8000"/>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60" b="1" i="0">
                <a:solidFill>
                  <a:srgbClr val="FFFFFF"/>
                </a:solidFill>
                <a:latin typeface="Calibri"/>
              </a:rPr>
              <a:t>Simulate the Flood</a:t>
            </a:r>
          </a:p>
          <a:p>
            <a:pPr algn="ctr">
              <a:lnSpc>
                <a:spcPct val="90000"/>
              </a:lnSpc>
              <a:spcAft>
                <a:spcPts val="100"/>
              </a:spcAft>
            </a:pPr>
            <a:r>
              <a:rPr sz="600" b="0" i="0">
                <a:solidFill>
                  <a:srgbClr val="D6DDF1"/>
                </a:solidFill>
                <a:latin typeface="Calibri"/>
              </a:rPr>
              <a:t>Follow the water downstream
second by second across the whole
landscape — the core calculation.</a:t>
            </a:r>
          </a:p>
        </p:txBody>
      </p:sp>
      <p:sp>
        <p:nvSpPr>
          <p:cNvPr id="32" name="Oval 31"/>
          <p:cNvSpPr/>
          <p:nvPr/>
        </p:nvSpPr>
        <p:spPr>
          <a:xfrm>
            <a:off x="7114031" y="2395728"/>
            <a:ext cx="274320" cy="27432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2860" bIns="22860"/>
          <a:lstStyle/>
          <a:p>
            <a:pPr algn="ctr">
              <a:lnSpc>
                <a:spcPct val="92000"/>
              </a:lnSpc>
              <a:spcAft>
                <a:spcPts val="100"/>
              </a:spcAft>
            </a:pPr>
            <a:r>
              <a:rPr sz="900" b="1" i="0">
                <a:solidFill>
                  <a:srgbClr val="FFFFFF"/>
                </a:solidFill>
                <a:latin typeface="Calibri"/>
              </a:rPr>
              <a:t>5</a:t>
            </a:r>
          </a:p>
        </p:txBody>
      </p:sp>
      <p:sp>
        <p:nvSpPr>
          <p:cNvPr id="33" name="TextBox 32"/>
          <p:cNvSpPr txBox="1"/>
          <p:nvPr/>
        </p:nvSpPr>
        <p:spPr>
          <a:xfrm>
            <a:off x="7059168" y="4059936"/>
            <a:ext cx="1700784" cy="603504"/>
          </a:xfrm>
          <a:prstGeom prst="rect">
            <a:avLst/>
          </a:prstGeom>
          <a:noFill/>
        </p:spPr>
        <p:txBody>
          <a:bodyPr wrap="square" anchor="t" lIns="18288" rIns="18288" tIns="0" bIns="0">
            <a:spAutoFit/>
          </a:bodyPr>
          <a:lstStyle/>
          <a:p>
            <a:pPr algn="ctr">
              <a:lnSpc>
                <a:spcPct val="94000"/>
              </a:lnSpc>
              <a:spcAft>
                <a:spcPts val="100"/>
              </a:spcAft>
            </a:pPr>
            <a:r>
              <a:rPr sz="590" b="0" i="1">
                <a:solidFill>
                  <a:srgbClr val="8D4D04"/>
                </a:solidFill>
                <a:latin typeface="Calibri"/>
              </a:rPr>
              <a:t>The heavy step, and still only tens of seconds.</a:t>
            </a:r>
          </a:p>
        </p:txBody>
      </p:sp>
      <p:sp>
        <p:nvSpPr>
          <p:cNvPr id="34" name="Rounded Rectangle 33"/>
          <p:cNvSpPr/>
          <p:nvPr/>
        </p:nvSpPr>
        <p:spPr>
          <a:xfrm>
            <a:off x="8869680" y="2487168"/>
            <a:ext cx="1572768" cy="1481328"/>
          </a:xfrm>
          <a:prstGeom prst="roundRect">
            <a:avLst>
              <a:gd name="adj" fmla="val 8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60" b="1" i="0">
                <a:solidFill>
                  <a:srgbClr val="FFFFFF"/>
                </a:solidFill>
                <a:latin typeface="Calibri"/>
              </a:rPr>
              <a:t>Assess the Impact</a:t>
            </a:r>
          </a:p>
          <a:p>
            <a:pPr algn="ctr">
              <a:lnSpc>
                <a:spcPct val="90000"/>
              </a:lnSpc>
              <a:spcAft>
                <a:spcPts val="100"/>
              </a:spcAft>
            </a:pPr>
            <a:r>
              <a:rPr sz="600" b="0" i="0">
                <a:solidFill>
                  <a:srgbClr val="F9D8D8"/>
                </a:solidFill>
                <a:latin typeface="Calibri"/>
              </a:rPr>
              <a:t>Which areas flood, how deep,
when the water arrives, and how
many people are exposed.</a:t>
            </a:r>
          </a:p>
        </p:txBody>
      </p:sp>
      <p:sp>
        <p:nvSpPr>
          <p:cNvPr id="35" name="Oval 34"/>
          <p:cNvSpPr/>
          <p:nvPr/>
        </p:nvSpPr>
        <p:spPr>
          <a:xfrm>
            <a:off x="8924544" y="2395728"/>
            <a:ext cx="274320" cy="27432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2860" bIns="22860"/>
          <a:lstStyle/>
          <a:p>
            <a:pPr algn="ctr">
              <a:lnSpc>
                <a:spcPct val="92000"/>
              </a:lnSpc>
              <a:spcAft>
                <a:spcPts val="100"/>
              </a:spcAft>
            </a:pPr>
            <a:r>
              <a:rPr sz="900" b="1" i="0">
                <a:solidFill>
                  <a:srgbClr val="FFFFFF"/>
                </a:solidFill>
                <a:latin typeface="Calibri"/>
              </a:rPr>
              <a:t>6</a:t>
            </a:r>
          </a:p>
        </p:txBody>
      </p:sp>
      <p:sp>
        <p:nvSpPr>
          <p:cNvPr id="36" name="TextBox 35"/>
          <p:cNvSpPr txBox="1"/>
          <p:nvPr/>
        </p:nvSpPr>
        <p:spPr>
          <a:xfrm>
            <a:off x="8869680" y="4059936"/>
            <a:ext cx="1572768" cy="603504"/>
          </a:xfrm>
          <a:prstGeom prst="rect">
            <a:avLst/>
          </a:prstGeom>
          <a:noFill/>
        </p:spPr>
        <p:txBody>
          <a:bodyPr wrap="square" anchor="t" lIns="18288" rIns="18288" tIns="0" bIns="0">
            <a:spAutoFit/>
          </a:bodyPr>
          <a:lstStyle/>
          <a:p>
            <a:pPr algn="ctr">
              <a:lnSpc>
                <a:spcPct val="94000"/>
              </a:lnSpc>
              <a:spcAft>
                <a:spcPts val="100"/>
              </a:spcAft>
            </a:pPr>
            <a:r>
              <a:rPr sz="590" b="0" i="1">
                <a:solidFill>
                  <a:srgbClr val="8D4D04"/>
                </a:solidFill>
                <a:latin typeface="Calibri"/>
              </a:rPr>
              <a:t>Depth becomes consequence, in plain numbers.</a:t>
            </a:r>
          </a:p>
        </p:txBody>
      </p:sp>
      <p:sp>
        <p:nvSpPr>
          <p:cNvPr id="37" name="Rounded Rectangle 36"/>
          <p:cNvSpPr/>
          <p:nvPr/>
        </p:nvSpPr>
        <p:spPr>
          <a:xfrm>
            <a:off x="10552176" y="2487168"/>
            <a:ext cx="1435608" cy="1481328"/>
          </a:xfrm>
          <a:prstGeom prst="roundRect">
            <a:avLst>
              <a:gd name="adj" fmla="val 8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60" b="1" i="0">
                <a:solidFill>
                  <a:srgbClr val="FFFFFF"/>
                </a:solidFill>
                <a:latin typeface="Calibri"/>
              </a:rPr>
              <a:t>Publish Results</a:t>
            </a:r>
          </a:p>
          <a:p>
            <a:pPr algn="ctr">
              <a:lnSpc>
                <a:spcPct val="90000"/>
              </a:lnSpc>
              <a:spcAft>
                <a:spcPts val="100"/>
              </a:spcAft>
            </a:pPr>
            <a:r>
              <a:rPr sz="600" b="0" i="0">
                <a:solidFill>
                  <a:srgbClr val="DFDEFA"/>
                </a:solidFill>
                <a:latin typeface="Calibri"/>
              </a:rPr>
              <a:t>Maps, Google Earth overlays,
charts and downloadable reports,
ready for the people who decide.</a:t>
            </a:r>
          </a:p>
        </p:txBody>
      </p:sp>
      <p:sp>
        <p:nvSpPr>
          <p:cNvPr id="38" name="Oval 37"/>
          <p:cNvSpPr/>
          <p:nvPr/>
        </p:nvSpPr>
        <p:spPr>
          <a:xfrm>
            <a:off x="10607040" y="2395728"/>
            <a:ext cx="274320" cy="27432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2860" bIns="22860"/>
          <a:lstStyle/>
          <a:p>
            <a:pPr algn="ctr">
              <a:lnSpc>
                <a:spcPct val="92000"/>
              </a:lnSpc>
              <a:spcAft>
                <a:spcPts val="100"/>
              </a:spcAft>
            </a:pPr>
            <a:r>
              <a:rPr sz="900" b="1" i="0">
                <a:solidFill>
                  <a:srgbClr val="FFFFFF"/>
                </a:solidFill>
                <a:latin typeface="Calibri"/>
              </a:rPr>
              <a:t>7</a:t>
            </a:r>
          </a:p>
        </p:txBody>
      </p:sp>
      <p:sp>
        <p:nvSpPr>
          <p:cNvPr id="39" name="TextBox 38"/>
          <p:cNvSpPr txBox="1"/>
          <p:nvPr/>
        </p:nvSpPr>
        <p:spPr>
          <a:xfrm>
            <a:off x="10552176" y="4059936"/>
            <a:ext cx="1435608" cy="603504"/>
          </a:xfrm>
          <a:prstGeom prst="rect">
            <a:avLst/>
          </a:prstGeom>
          <a:noFill/>
        </p:spPr>
        <p:txBody>
          <a:bodyPr wrap="square" anchor="t" lIns="18288" rIns="18288" tIns="0" bIns="0">
            <a:spAutoFit/>
          </a:bodyPr>
          <a:lstStyle/>
          <a:p>
            <a:pPr algn="ctr">
              <a:lnSpc>
                <a:spcPct val="94000"/>
              </a:lnSpc>
              <a:spcAft>
                <a:spcPts val="100"/>
              </a:spcAft>
            </a:pPr>
            <a:r>
              <a:rPr sz="590" b="0" i="1">
                <a:solidFill>
                  <a:srgbClr val="8D4D04"/>
                </a:solidFill>
                <a:latin typeface="Calibri"/>
              </a:rPr>
              <a:t>One run produces the whole package.</a:t>
            </a:r>
          </a:p>
        </p:txBody>
      </p:sp>
      <p:cxnSp>
        <p:nvCxnSpPr>
          <p:cNvPr id="40" name="Connector 39"/>
          <p:cNvCxnSpPr/>
          <p:nvPr/>
        </p:nvCxnSpPr>
        <p:spPr>
          <a:xfrm>
            <a:off x="1810512" y="3227832"/>
            <a:ext cx="109728" cy="0"/>
          </a:xfrm>
          <a:prstGeom prst="line">
            <a:avLst/>
          </a:prstGeom>
          <a:ln w="22860">
            <a:solidFill>
              <a:srgbClr val="0284C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493008" y="3227832"/>
            <a:ext cx="109728" cy="0"/>
          </a:xfrm>
          <a:prstGeom prst="line">
            <a:avLst/>
          </a:prstGeom>
          <a:ln w="22860">
            <a:solidFill>
              <a:srgbClr val="0284C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248656" y="3227832"/>
            <a:ext cx="109728" cy="0"/>
          </a:xfrm>
          <a:prstGeom prst="line">
            <a:avLst/>
          </a:prstGeom>
          <a:ln w="22860">
            <a:solidFill>
              <a:srgbClr val="0284C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949440" y="3227832"/>
            <a:ext cx="109728" cy="0"/>
          </a:xfrm>
          <a:prstGeom prst="line">
            <a:avLst/>
          </a:prstGeom>
          <a:ln w="22860">
            <a:solidFill>
              <a:srgbClr val="0284C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759952" y="3227832"/>
            <a:ext cx="109728" cy="0"/>
          </a:xfrm>
          <a:prstGeom prst="line">
            <a:avLst/>
          </a:prstGeom>
          <a:ln w="22860">
            <a:solidFill>
              <a:srgbClr val="0284C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0442448" y="3227832"/>
            <a:ext cx="109728" cy="0"/>
          </a:xfrm>
          <a:prstGeom prst="line">
            <a:avLst/>
          </a:prstGeom>
          <a:ln w="22860">
            <a:solidFill>
              <a:srgbClr val="0284C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201168" y="4718304"/>
            <a:ext cx="11786616" cy="18288"/>
          </a:xfrm>
          <a:prstGeom prst="rect">
            <a:avLst/>
          </a:prstGeom>
          <a:solidFill>
            <a:srgbClr val="D8DE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47" name="Rounded Rectangle 46"/>
          <p:cNvSpPr/>
          <p:nvPr/>
        </p:nvSpPr>
        <p:spPr>
          <a:xfrm>
            <a:off x="201168" y="4974336"/>
            <a:ext cx="11786616" cy="1426464"/>
          </a:xfrm>
          <a:prstGeom prst="roundRect">
            <a:avLst>
              <a:gd name="adj" fmla="val 5000"/>
            </a:avLst>
          </a:prstGeom>
          <a:solidFill>
            <a:srgbClr val="F4F4FD"/>
          </a:solidFill>
          <a:ln w="1905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48" name="Rounded Rectangle 47"/>
          <p:cNvSpPr/>
          <p:nvPr/>
        </p:nvSpPr>
        <p:spPr>
          <a:xfrm>
            <a:off x="384048" y="4869180"/>
            <a:ext cx="2939796" cy="219456"/>
          </a:xfrm>
          <a:prstGeom prst="roundRect">
            <a:avLst>
              <a:gd name="adj" fmla="val 3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2000"/>
              </a:lnSpc>
              <a:spcAft>
                <a:spcPts val="100"/>
              </a:spcAft>
            </a:pPr>
            <a:r>
              <a:rPr sz="760" b="1" i="0">
                <a:solidFill>
                  <a:srgbClr val="FFFFFF"/>
                </a:solidFill>
                <a:latin typeface="Calibri"/>
              </a:rPr>
              <a:t>WHAT COMES OUT AT THE END</a:t>
            </a:r>
          </a:p>
        </p:txBody>
      </p:sp>
      <p:sp>
        <p:nvSpPr>
          <p:cNvPr id="49" name="Rounded Rectangle 48"/>
          <p:cNvSpPr/>
          <p:nvPr/>
        </p:nvSpPr>
        <p:spPr>
          <a:xfrm>
            <a:off x="384048" y="5230368"/>
            <a:ext cx="2212848" cy="1042415"/>
          </a:xfrm>
          <a:prstGeom prst="roundRect">
            <a:avLst>
              <a:gd name="adj" fmla="val 8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Arrival Time Map</a:t>
            </a:r>
          </a:p>
          <a:p>
            <a:pPr algn="ctr">
              <a:lnSpc>
                <a:spcPct val="90000"/>
              </a:lnSpc>
              <a:spcAft>
                <a:spcPts val="100"/>
              </a:spcAft>
            </a:pPr>
            <a:r>
              <a:rPr sz="580" b="0" i="0">
                <a:solidFill>
                  <a:srgbClr val="F9D8D8"/>
                </a:solidFill>
                <a:latin typeface="Calibri"/>
              </a:rPr>
              <a:t>When the water reaches each town — the
number that decides an evacuation order.</a:t>
            </a:r>
          </a:p>
        </p:txBody>
      </p:sp>
      <p:sp>
        <p:nvSpPr>
          <p:cNvPr id="50" name="Rounded Rectangle 49"/>
          <p:cNvSpPr/>
          <p:nvPr/>
        </p:nvSpPr>
        <p:spPr>
          <a:xfrm>
            <a:off x="2743200" y="5230368"/>
            <a:ext cx="2157984" cy="1042415"/>
          </a:xfrm>
          <a:prstGeom prst="roundRect">
            <a:avLst>
              <a:gd name="adj" fmla="val 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Inundation Envelope</a:t>
            </a:r>
          </a:p>
          <a:p>
            <a:pPr algn="ctr">
              <a:lnSpc>
                <a:spcPct val="90000"/>
              </a:lnSpc>
              <a:spcAft>
                <a:spcPts val="100"/>
              </a:spcAft>
            </a:pPr>
            <a:r>
              <a:rPr sz="580" b="0" i="0">
                <a:solidFill>
                  <a:srgbClr val="D3ECEA"/>
                </a:solidFill>
                <a:latin typeface="Calibri"/>
              </a:rPr>
              <a:t>The outer boundary of the flood, with a
fifth-to-ninety-fifth percentile band around it.</a:t>
            </a:r>
          </a:p>
        </p:txBody>
      </p:sp>
      <p:sp>
        <p:nvSpPr>
          <p:cNvPr id="51" name="Rounded Rectangle 50"/>
          <p:cNvSpPr/>
          <p:nvPr/>
        </p:nvSpPr>
        <p:spPr>
          <a:xfrm>
            <a:off x="5047488" y="5230368"/>
            <a:ext cx="2103120" cy="1042415"/>
          </a:xfrm>
          <a:prstGeom prst="roundRect">
            <a:avLst>
              <a:gd name="adj" fmla="val 8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Depth and Hazard Bands</a:t>
            </a:r>
          </a:p>
          <a:p>
            <a:pPr algn="ctr">
              <a:lnSpc>
                <a:spcPct val="90000"/>
              </a:lnSpc>
              <a:spcAft>
                <a:spcPts val="100"/>
              </a:spcAft>
            </a:pPr>
            <a:r>
              <a:rPr sz="580" b="0" i="0">
                <a:solidFill>
                  <a:srgbClr val="FBE1D3"/>
                </a:solidFill>
                <a:latin typeface="Calibri"/>
              </a:rPr>
              <a:t>Four hazard classes, from ankle-deep
through to above five metres.</a:t>
            </a:r>
          </a:p>
        </p:txBody>
      </p:sp>
      <p:sp>
        <p:nvSpPr>
          <p:cNvPr id="52" name="Rounded Rectangle 51"/>
          <p:cNvSpPr/>
          <p:nvPr/>
        </p:nvSpPr>
        <p:spPr>
          <a:xfrm>
            <a:off x="7296912" y="5230368"/>
            <a:ext cx="2231136" cy="1042415"/>
          </a:xfrm>
          <a:prstGeom prst="roundRect">
            <a:avLst>
              <a:gd name="adj" fmla="val 8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People and Buildings Exposed</a:t>
            </a:r>
          </a:p>
          <a:p>
            <a:pPr algn="ctr">
              <a:lnSpc>
                <a:spcPct val="90000"/>
              </a:lnSpc>
              <a:spcAft>
                <a:spcPts val="100"/>
              </a:spcAft>
            </a:pPr>
            <a:r>
              <a:rPr sz="580" b="0" i="0">
                <a:solidFill>
                  <a:srgbClr val="DFDEFA"/>
                </a:solidFill>
                <a:latin typeface="Calibri"/>
              </a:rPr>
              <a:t>Counts drawn from satellite population
and building data, with the source stated.</a:t>
            </a:r>
          </a:p>
        </p:txBody>
      </p:sp>
      <p:sp>
        <p:nvSpPr>
          <p:cNvPr id="53" name="Rounded Rectangle 52"/>
          <p:cNvSpPr/>
          <p:nvPr/>
        </p:nvSpPr>
        <p:spPr>
          <a:xfrm>
            <a:off x="9674352" y="5230368"/>
            <a:ext cx="2313432" cy="1042415"/>
          </a:xfrm>
          <a:prstGeom prst="roundRect">
            <a:avLst>
              <a:gd name="adj" fmla="val 8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Evidence Pack</a:t>
            </a:r>
          </a:p>
          <a:p>
            <a:pPr algn="ctr">
              <a:lnSpc>
                <a:spcPct val="90000"/>
              </a:lnSpc>
              <a:spcAft>
                <a:spcPts val="100"/>
              </a:spcAft>
            </a:pPr>
            <a:r>
              <a:rPr sz="580" b="0" i="0">
                <a:solidFill>
                  <a:srgbClr val="D2ECE4"/>
                </a:solidFill>
                <a:latin typeface="Calibri"/>
              </a:rPr>
              <a:t>The quality-gate results and the
independent cross-check, attached to
every single run.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01168" y="128016"/>
            <a:ext cx="1188720" cy="310896"/>
          </a:xfrm>
          <a:prstGeom prst="roundRect">
            <a:avLst>
              <a:gd name="adj" fmla="val 40000"/>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2860" bIns="22860"/>
          <a:lstStyle/>
          <a:p>
            <a:pPr algn="ctr">
              <a:lnSpc>
                <a:spcPct val="92000"/>
              </a:lnSpc>
              <a:spcAft>
                <a:spcPts val="100"/>
              </a:spcAft>
            </a:pPr>
            <a:r>
              <a:rPr sz="1100" b="1" i="0">
                <a:solidFill>
                  <a:srgbClr val="FFFFFF"/>
                </a:solidFill>
                <a:latin typeface="Calibri"/>
              </a:rPr>
              <a:t>FloodView</a:t>
            </a:r>
          </a:p>
        </p:txBody>
      </p:sp>
      <p:sp>
        <p:nvSpPr>
          <p:cNvPr id="3" name="TextBox 2"/>
          <p:cNvSpPr txBox="1"/>
          <p:nvPr/>
        </p:nvSpPr>
        <p:spPr>
          <a:xfrm>
            <a:off x="201168" y="457200"/>
            <a:ext cx="1463040" cy="182880"/>
          </a:xfrm>
          <a:prstGeom prst="rect">
            <a:avLst/>
          </a:prstGeom>
          <a:noFill/>
        </p:spPr>
        <p:txBody>
          <a:bodyPr wrap="square" anchor="t" lIns="18288" rIns="18288" tIns="0" bIns="0">
            <a:spAutoFit/>
          </a:bodyPr>
          <a:lstStyle/>
          <a:p>
            <a:pPr algn="l">
              <a:lnSpc>
                <a:spcPct val="92000"/>
              </a:lnSpc>
              <a:spcAft>
                <a:spcPts val="100"/>
              </a:spcAft>
            </a:pPr>
            <a:r>
              <a:rPr sz="620" b="0" i="0">
                <a:solidFill>
                  <a:srgbClr val="6B7280"/>
                </a:solidFill>
                <a:latin typeface="Calibri"/>
              </a:rPr>
              <a:t>PS 26161 · NTRO</a:t>
            </a:r>
          </a:p>
        </p:txBody>
      </p:sp>
      <p:sp>
        <p:nvSpPr>
          <p:cNvPr id="4" name="TextBox 3"/>
          <p:cNvSpPr txBox="1"/>
          <p:nvPr/>
        </p:nvSpPr>
        <p:spPr>
          <a:xfrm>
            <a:off x="1554480" y="91440"/>
            <a:ext cx="8732520" cy="384048"/>
          </a:xfrm>
          <a:prstGeom prst="rect">
            <a:avLst/>
          </a:prstGeom>
          <a:noFill/>
        </p:spPr>
        <p:txBody>
          <a:bodyPr wrap="square" anchor="ctr" lIns="18288" rIns="18288" tIns="0" bIns="0">
            <a:spAutoFit/>
          </a:bodyPr>
          <a:lstStyle/>
          <a:p>
            <a:pPr algn="ctr">
              <a:lnSpc>
                <a:spcPct val="92000"/>
              </a:lnSpc>
              <a:spcAft>
                <a:spcPts val="100"/>
              </a:spcAft>
            </a:pPr>
            <a:r>
              <a:rPr sz="2300" b="1" i="0">
                <a:solidFill>
                  <a:srgbClr val="1F2937"/>
                </a:solidFill>
                <a:latin typeface="Calibri"/>
              </a:rPr>
              <a:t>USER JOURNEY — WHO DOES WHAT</a:t>
            </a:r>
          </a:p>
        </p:txBody>
      </p:sp>
      <p:sp>
        <p:nvSpPr>
          <p:cNvPr id="5" name="TextBox 4"/>
          <p:cNvSpPr txBox="1"/>
          <p:nvPr/>
        </p:nvSpPr>
        <p:spPr>
          <a:xfrm>
            <a:off x="1554480" y="475488"/>
            <a:ext cx="8732520" cy="201168"/>
          </a:xfrm>
          <a:prstGeom prst="rect">
            <a:avLst/>
          </a:prstGeom>
          <a:noFill/>
        </p:spPr>
        <p:txBody>
          <a:bodyPr wrap="square" anchor="t" lIns="18288" rIns="18288" tIns="0" bIns="0">
            <a:spAutoFit/>
          </a:bodyPr>
          <a:lstStyle/>
          <a:p>
            <a:pPr algn="ctr">
              <a:lnSpc>
                <a:spcPct val="92000"/>
              </a:lnSpc>
              <a:spcAft>
                <a:spcPts val="100"/>
              </a:spcAft>
            </a:pPr>
            <a:r>
              <a:rPr sz="819" b="0" i="1">
                <a:solidFill>
                  <a:srgbClr val="6B7280"/>
                </a:solidFill>
                <a:latin typeface="Calibri"/>
              </a:rPr>
              <a:t>Four lanes. The officer clicks; everything to the right of that happens on its own.</a:t>
            </a:r>
          </a:p>
        </p:txBody>
      </p:sp>
      <p:sp>
        <p:nvSpPr>
          <p:cNvPr id="6" name="TextBox 5"/>
          <p:cNvSpPr txBox="1"/>
          <p:nvPr/>
        </p:nvSpPr>
        <p:spPr>
          <a:xfrm>
            <a:off x="10378440" y="128016"/>
            <a:ext cx="1609344" cy="402336"/>
          </a:xfrm>
          <a:prstGeom prst="rect">
            <a:avLst/>
          </a:prstGeom>
          <a:noFill/>
        </p:spPr>
        <p:txBody>
          <a:bodyPr wrap="square" anchor="t" lIns="18288" rIns="18288" tIns="0" bIns="0">
            <a:spAutoFit/>
          </a:bodyPr>
          <a:lstStyle/>
          <a:p>
            <a:pPr algn="r">
              <a:lnSpc>
                <a:spcPct val="92000"/>
              </a:lnSpc>
              <a:spcAft>
                <a:spcPts val="0"/>
              </a:spcAft>
            </a:pPr>
            <a:r>
              <a:rPr sz="800" b="1" i="0">
                <a:solidFill>
                  <a:srgbClr val="0070C0"/>
                </a:solidFill>
                <a:latin typeface="Calibri"/>
              </a:rPr>
              <a:t>SMART INDIA</a:t>
            </a:r>
          </a:p>
          <a:p>
            <a:pPr algn="r">
              <a:lnSpc>
                <a:spcPct val="92000"/>
              </a:lnSpc>
              <a:spcAft>
                <a:spcPts val="0"/>
              </a:spcAft>
            </a:pPr>
            <a:r>
              <a:rPr sz="800" b="1" i="0">
                <a:solidFill>
                  <a:srgbClr val="0070C0"/>
                </a:solidFill>
                <a:latin typeface="Calibri"/>
              </a:rPr>
              <a:t>HACKATHON 2026</a:t>
            </a:r>
          </a:p>
        </p:txBody>
      </p:sp>
      <p:sp>
        <p:nvSpPr>
          <p:cNvPr id="7" name="Rectangle 6"/>
          <p:cNvSpPr/>
          <p:nvPr/>
        </p:nvSpPr>
        <p:spPr>
          <a:xfrm>
            <a:off x="0" y="6547104"/>
            <a:ext cx="12191695" cy="310896"/>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8" name="TextBox 7"/>
          <p:cNvSpPr txBox="1"/>
          <p:nvPr/>
        </p:nvSpPr>
        <p:spPr>
          <a:xfrm>
            <a:off x="256032" y="6601968"/>
            <a:ext cx="10607040" cy="201168"/>
          </a:xfrm>
          <a:prstGeom prst="rect">
            <a:avLst/>
          </a:prstGeom>
          <a:noFill/>
        </p:spPr>
        <p:txBody>
          <a:bodyPr wrap="square" anchor="t" lIns="18288" rIns="18288" tIns="0" bIns="0">
            <a:spAutoFit/>
          </a:bodyPr>
          <a:lstStyle/>
          <a:p>
            <a:pPr algn="l">
              <a:lnSpc>
                <a:spcPct val="92000"/>
              </a:lnSpc>
              <a:spcAft>
                <a:spcPts val="100"/>
              </a:spcAft>
            </a:pPr>
            <a:r>
              <a:rPr sz="800" b="1" i="0">
                <a:solidFill>
                  <a:srgbClr val="FFFFFF"/>
                </a:solidFill>
                <a:latin typeface="Calibri"/>
              </a:rPr>
              <a:t>The person operating the system makes five decisions. The system takes roughly twenty thousand.</a:t>
            </a:r>
          </a:p>
        </p:txBody>
      </p:sp>
      <p:sp>
        <p:nvSpPr>
          <p:cNvPr id="9" name="TextBox 8"/>
          <p:cNvSpPr txBox="1"/>
          <p:nvPr/>
        </p:nvSpPr>
        <p:spPr>
          <a:xfrm>
            <a:off x="11521440" y="6601968"/>
            <a:ext cx="457200" cy="201168"/>
          </a:xfrm>
          <a:prstGeom prst="rect">
            <a:avLst/>
          </a:prstGeom>
          <a:noFill/>
        </p:spPr>
        <p:txBody>
          <a:bodyPr wrap="square" anchor="t" lIns="18288" rIns="18288" tIns="0" bIns="0">
            <a:spAutoFit/>
          </a:bodyPr>
          <a:lstStyle/>
          <a:p>
            <a:pPr algn="r">
              <a:lnSpc>
                <a:spcPct val="92000"/>
              </a:lnSpc>
              <a:spcAft>
                <a:spcPts val="100"/>
              </a:spcAft>
            </a:pPr>
            <a:r>
              <a:rPr sz="850" b="1" i="0">
                <a:solidFill>
                  <a:srgbClr val="FFFFFF"/>
                </a:solidFill>
                <a:latin typeface="Calibri"/>
              </a:rPr>
              <a:t>3</a:t>
            </a:r>
          </a:p>
        </p:txBody>
      </p:sp>
      <p:sp>
        <p:nvSpPr>
          <p:cNvPr id="10" name="Rounded Rectangle 9"/>
          <p:cNvSpPr/>
          <p:nvPr/>
        </p:nvSpPr>
        <p:spPr>
          <a:xfrm>
            <a:off x="201168" y="1170432"/>
            <a:ext cx="2798064" cy="5138928"/>
          </a:xfrm>
          <a:prstGeom prst="roundRect">
            <a:avLst>
              <a:gd name="adj" fmla="val 3000"/>
            </a:avLst>
          </a:prstGeom>
          <a:solidFill>
            <a:srgbClr val="F4F9FC"/>
          </a:solidFill>
          <a:ln w="1905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11" name="Rounded Rectangle 10"/>
          <p:cNvSpPr/>
          <p:nvPr/>
        </p:nvSpPr>
        <p:spPr>
          <a:xfrm>
            <a:off x="384048" y="1065276"/>
            <a:ext cx="1467612" cy="219456"/>
          </a:xfrm>
          <a:prstGeom prst="roundRect">
            <a:avLst>
              <a:gd name="adj" fmla="val 3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2000"/>
              </a:lnSpc>
              <a:spcAft>
                <a:spcPts val="100"/>
              </a:spcAft>
            </a:pPr>
            <a:r>
              <a:rPr sz="760" b="1" i="0">
                <a:solidFill>
                  <a:srgbClr val="FFFFFF"/>
                </a:solidFill>
                <a:latin typeface="Calibri"/>
              </a:rPr>
              <a:t>THE OFFICER</a:t>
            </a:r>
          </a:p>
        </p:txBody>
      </p:sp>
      <p:sp>
        <p:nvSpPr>
          <p:cNvPr id="12" name="TextBox 11"/>
          <p:cNvSpPr txBox="1"/>
          <p:nvPr/>
        </p:nvSpPr>
        <p:spPr>
          <a:xfrm>
            <a:off x="292608" y="1335024"/>
            <a:ext cx="2615184" cy="310896"/>
          </a:xfrm>
          <a:prstGeom prst="rect">
            <a:avLst/>
          </a:prstGeom>
          <a:noFill/>
        </p:spPr>
        <p:txBody>
          <a:bodyPr wrap="square" anchor="t" lIns="18288" rIns="18288" tIns="0" bIns="0">
            <a:spAutoFit/>
          </a:bodyPr>
          <a:lstStyle/>
          <a:p>
            <a:pPr algn="ctr">
              <a:lnSpc>
                <a:spcPct val="92000"/>
              </a:lnSpc>
              <a:spcAft>
                <a:spcPts val="100"/>
              </a:spcAft>
            </a:pPr>
            <a:r>
              <a:rPr sz="620" b="0" i="1">
                <a:solidFill>
                  <a:srgbClr val="6B7280"/>
                </a:solidFill>
                <a:latin typeface="Calibri"/>
              </a:rPr>
              <a:t>A dam-safety or disaster-management
officer. No coding background.</a:t>
            </a:r>
          </a:p>
        </p:txBody>
      </p:sp>
      <p:sp>
        <p:nvSpPr>
          <p:cNvPr id="13" name="Rounded Rectangle 12"/>
          <p:cNvSpPr/>
          <p:nvPr/>
        </p:nvSpPr>
        <p:spPr>
          <a:xfrm>
            <a:off x="3145536" y="1170432"/>
            <a:ext cx="2944368" cy="5138928"/>
          </a:xfrm>
          <a:prstGeom prst="roundRect">
            <a:avLst>
              <a:gd name="adj" fmla="val 3000"/>
            </a:avLst>
          </a:prstGeom>
          <a:solidFill>
            <a:srgbClr val="F4FAFA"/>
          </a:solidFill>
          <a:ln w="1905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14" name="Rounded Rectangle 13"/>
          <p:cNvSpPr/>
          <p:nvPr/>
        </p:nvSpPr>
        <p:spPr>
          <a:xfrm>
            <a:off x="3328416" y="1065276"/>
            <a:ext cx="1888236" cy="21945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2000"/>
              </a:lnSpc>
              <a:spcAft>
                <a:spcPts val="100"/>
              </a:spcAft>
            </a:pPr>
            <a:r>
              <a:rPr sz="760" b="1" i="0">
                <a:solidFill>
                  <a:srgbClr val="FFFFFF"/>
                </a:solidFill>
                <a:latin typeface="Calibri"/>
              </a:rPr>
              <a:t>THE COORDINATOR</a:t>
            </a:r>
          </a:p>
        </p:txBody>
      </p:sp>
      <p:sp>
        <p:nvSpPr>
          <p:cNvPr id="15" name="TextBox 14"/>
          <p:cNvSpPr txBox="1"/>
          <p:nvPr/>
        </p:nvSpPr>
        <p:spPr>
          <a:xfrm>
            <a:off x="3236976" y="1335024"/>
            <a:ext cx="2761488" cy="310896"/>
          </a:xfrm>
          <a:prstGeom prst="rect">
            <a:avLst/>
          </a:prstGeom>
          <a:noFill/>
        </p:spPr>
        <p:txBody>
          <a:bodyPr wrap="square" anchor="t" lIns="18288" rIns="18288" tIns="0" bIns="0">
            <a:spAutoFit/>
          </a:bodyPr>
          <a:lstStyle/>
          <a:p>
            <a:pPr algn="ctr">
              <a:lnSpc>
                <a:spcPct val="92000"/>
              </a:lnSpc>
              <a:spcAft>
                <a:spcPts val="100"/>
              </a:spcAft>
            </a:pPr>
            <a:r>
              <a:rPr sz="620" b="0" i="1">
                <a:solidFill>
                  <a:srgbClr val="6B7280"/>
                </a:solidFill>
                <a:latin typeface="Calibri"/>
              </a:rPr>
              <a:t>Receives the request, checks it,
and decides what work to start.</a:t>
            </a:r>
          </a:p>
        </p:txBody>
      </p:sp>
      <p:sp>
        <p:nvSpPr>
          <p:cNvPr id="16" name="Rounded Rectangle 15"/>
          <p:cNvSpPr/>
          <p:nvPr/>
        </p:nvSpPr>
        <p:spPr>
          <a:xfrm>
            <a:off x="6217920" y="1170432"/>
            <a:ext cx="2834640" cy="5138928"/>
          </a:xfrm>
          <a:prstGeom prst="roundRect">
            <a:avLst>
              <a:gd name="adj" fmla="val 3000"/>
            </a:avLst>
          </a:prstGeom>
          <a:solidFill>
            <a:srgbClr val="F5F6FB"/>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17" name="Rounded Rectangle 16"/>
          <p:cNvSpPr/>
          <p:nvPr/>
        </p:nvSpPr>
        <p:spPr>
          <a:xfrm>
            <a:off x="6400800" y="1065276"/>
            <a:ext cx="1362456" cy="219456"/>
          </a:xfrm>
          <a:prstGeom prst="roundRect">
            <a:avLst>
              <a:gd name="adj" fmla="val 30000"/>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2000"/>
              </a:lnSpc>
              <a:spcAft>
                <a:spcPts val="100"/>
              </a:spcAft>
            </a:pPr>
            <a:r>
              <a:rPr sz="760" b="1" i="0">
                <a:solidFill>
                  <a:srgbClr val="FFFFFF"/>
                </a:solidFill>
                <a:latin typeface="Calibri"/>
              </a:rPr>
              <a:t>THE ENGINE</a:t>
            </a:r>
          </a:p>
        </p:txBody>
      </p:sp>
      <p:sp>
        <p:nvSpPr>
          <p:cNvPr id="18" name="TextBox 17"/>
          <p:cNvSpPr txBox="1"/>
          <p:nvPr/>
        </p:nvSpPr>
        <p:spPr>
          <a:xfrm>
            <a:off x="6309359" y="1335024"/>
            <a:ext cx="2651760" cy="310896"/>
          </a:xfrm>
          <a:prstGeom prst="rect">
            <a:avLst/>
          </a:prstGeom>
          <a:noFill/>
        </p:spPr>
        <p:txBody>
          <a:bodyPr wrap="square" anchor="t" lIns="18288" rIns="18288" tIns="0" bIns="0">
            <a:spAutoFit/>
          </a:bodyPr>
          <a:lstStyle/>
          <a:p>
            <a:pPr algn="ctr">
              <a:lnSpc>
                <a:spcPct val="92000"/>
              </a:lnSpc>
              <a:spcAft>
                <a:spcPts val="100"/>
              </a:spcAft>
            </a:pPr>
            <a:r>
              <a:rPr sz="620" b="0" i="1">
                <a:solidFill>
                  <a:srgbClr val="6B7280"/>
                </a:solidFill>
                <a:latin typeface="Calibri"/>
              </a:rPr>
              <a:t>Does the mathematics: breach,
flood spread, impact.</a:t>
            </a:r>
          </a:p>
        </p:txBody>
      </p:sp>
      <p:sp>
        <p:nvSpPr>
          <p:cNvPr id="19" name="Rounded Rectangle 18"/>
          <p:cNvSpPr/>
          <p:nvPr/>
        </p:nvSpPr>
        <p:spPr>
          <a:xfrm>
            <a:off x="9180576" y="1170432"/>
            <a:ext cx="2807208" cy="5138928"/>
          </a:xfrm>
          <a:prstGeom prst="roundRect">
            <a:avLst>
              <a:gd name="adj" fmla="val 3000"/>
            </a:avLst>
          </a:prstGeom>
          <a:solidFill>
            <a:srgbClr val="F7F7FE"/>
          </a:solidFill>
          <a:ln w="1905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20" name="Rounded Rectangle 19"/>
          <p:cNvSpPr/>
          <p:nvPr/>
        </p:nvSpPr>
        <p:spPr>
          <a:xfrm>
            <a:off x="9363455" y="1065276"/>
            <a:ext cx="1572768" cy="219456"/>
          </a:xfrm>
          <a:prstGeom prst="roundRect">
            <a:avLst>
              <a:gd name="adj" fmla="val 3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2000"/>
              </a:lnSpc>
              <a:spcAft>
                <a:spcPts val="100"/>
              </a:spcAft>
            </a:pPr>
            <a:r>
              <a:rPr sz="760" b="1" i="0">
                <a:solidFill>
                  <a:srgbClr val="FFFFFF"/>
                </a:solidFill>
                <a:latin typeface="Calibri"/>
              </a:rPr>
              <a:t>THE REPORTER</a:t>
            </a:r>
          </a:p>
        </p:txBody>
      </p:sp>
      <p:sp>
        <p:nvSpPr>
          <p:cNvPr id="21" name="TextBox 20"/>
          <p:cNvSpPr txBox="1"/>
          <p:nvPr/>
        </p:nvSpPr>
        <p:spPr>
          <a:xfrm>
            <a:off x="9272015" y="1335024"/>
            <a:ext cx="2624327" cy="310896"/>
          </a:xfrm>
          <a:prstGeom prst="rect">
            <a:avLst/>
          </a:prstGeom>
          <a:noFill/>
        </p:spPr>
        <p:txBody>
          <a:bodyPr wrap="square" anchor="t" lIns="18288" rIns="18288" tIns="0" bIns="0">
            <a:spAutoFit/>
          </a:bodyPr>
          <a:lstStyle/>
          <a:p>
            <a:pPr algn="ctr">
              <a:lnSpc>
                <a:spcPct val="92000"/>
              </a:lnSpc>
              <a:spcAft>
                <a:spcPts val="100"/>
              </a:spcAft>
            </a:pPr>
            <a:r>
              <a:rPr sz="620" b="0" i="1">
                <a:solidFill>
                  <a:srgbClr val="6B7280"/>
                </a:solidFill>
                <a:latin typeface="Calibri"/>
              </a:rPr>
              <a:t>Turns results into maps, charts
and files people can act on.</a:t>
            </a:r>
          </a:p>
        </p:txBody>
      </p:sp>
      <p:sp>
        <p:nvSpPr>
          <p:cNvPr id="22" name="Rounded Rectangle 21"/>
          <p:cNvSpPr/>
          <p:nvPr/>
        </p:nvSpPr>
        <p:spPr>
          <a:xfrm>
            <a:off x="329184" y="1664208"/>
            <a:ext cx="2542032" cy="786384"/>
          </a:xfrm>
          <a:prstGeom prst="roundRect">
            <a:avLst>
              <a:gd name="adj" fmla="val 10000"/>
            </a:avLst>
          </a:prstGeom>
          <a:solidFill>
            <a:srgbClr val="DCEEF7"/>
          </a:solidFill>
          <a:ln w="1143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014F77"/>
                </a:solidFill>
                <a:latin typeface="Calibri"/>
              </a:rPr>
              <a:t>Opens the dashboard in a browser</a:t>
            </a:r>
          </a:p>
          <a:p>
            <a:pPr algn="ctr">
              <a:lnSpc>
                <a:spcPct val="90000"/>
              </a:lnSpc>
              <a:spcAft>
                <a:spcPts val="100"/>
              </a:spcAft>
            </a:pPr>
            <a:r>
              <a:rPr sz="570" b="0" i="1">
                <a:solidFill>
                  <a:srgbClr val="6B7280"/>
                </a:solidFill>
                <a:latin typeface="Calibri"/>
              </a:rPr>
              <a:t>Nothing to install.</a:t>
            </a:r>
          </a:p>
        </p:txBody>
      </p:sp>
      <p:sp>
        <p:nvSpPr>
          <p:cNvPr id="23" name="Rounded Rectangle 22"/>
          <p:cNvSpPr/>
          <p:nvPr/>
        </p:nvSpPr>
        <p:spPr>
          <a:xfrm>
            <a:off x="3273552" y="1664208"/>
            <a:ext cx="2688336" cy="786384"/>
          </a:xfrm>
          <a:prstGeom prst="roundRect">
            <a:avLst>
              <a:gd name="adj" fmla="val 10000"/>
            </a:avLst>
          </a:prstGeom>
          <a:solidFill>
            <a:srgbClr val="DDF0EE"/>
          </a:solidFill>
          <a:ln w="1143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085952"/>
                </a:solidFill>
                <a:latin typeface="Calibri"/>
              </a:rPr>
              <a:t>Answers in under a fifth of a second</a:t>
            </a:r>
          </a:p>
          <a:p>
            <a:pPr algn="ctr">
              <a:lnSpc>
                <a:spcPct val="90000"/>
              </a:lnSpc>
              <a:spcAft>
                <a:spcPts val="100"/>
              </a:spcAft>
            </a:pPr>
            <a:r>
              <a:rPr sz="570" b="0" i="1">
                <a:solidFill>
                  <a:srgbClr val="6B7280"/>
                </a:solidFill>
                <a:latin typeface="Calibri"/>
              </a:rPr>
              <a:t>Even mid-run.</a:t>
            </a:r>
          </a:p>
        </p:txBody>
      </p:sp>
      <p:sp>
        <p:nvSpPr>
          <p:cNvPr id="24" name="Rounded Rectangle 23"/>
          <p:cNvSpPr/>
          <p:nvPr/>
        </p:nvSpPr>
        <p:spPr>
          <a:xfrm>
            <a:off x="6345936" y="1664208"/>
            <a:ext cx="2578608" cy="786384"/>
          </a:xfrm>
          <a:prstGeom prst="roundRect">
            <a:avLst>
              <a:gd name="adj" fmla="val 10000"/>
            </a:avLst>
          </a:prstGeom>
          <a:solidFill>
            <a:srgbClr val="E0E4F4"/>
          </a:solidFill>
          <a:ln w="1143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122669"/>
                </a:solidFill>
                <a:latin typeface="Calibri"/>
              </a:rPr>
              <a:t>Idle, waiting for work</a:t>
            </a:r>
          </a:p>
        </p:txBody>
      </p:sp>
      <p:sp>
        <p:nvSpPr>
          <p:cNvPr id="25" name="Rounded Rectangle 24"/>
          <p:cNvSpPr/>
          <p:nvPr/>
        </p:nvSpPr>
        <p:spPr>
          <a:xfrm>
            <a:off x="9308592" y="1664208"/>
            <a:ext cx="2551176" cy="786384"/>
          </a:xfrm>
          <a:prstGeom prst="roundRect">
            <a:avLst>
              <a:gd name="adj" fmla="val 10000"/>
            </a:avLst>
          </a:prstGeom>
          <a:solidFill>
            <a:srgbClr val="E6E5FB"/>
          </a:solidFill>
          <a:ln w="1143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2F2A89"/>
                </a:solidFill>
                <a:latin typeface="Calibri"/>
              </a:rPr>
              <a:t>Shows the run picker</a:t>
            </a:r>
          </a:p>
          <a:p>
            <a:pPr algn="ctr">
              <a:lnSpc>
                <a:spcPct val="90000"/>
              </a:lnSpc>
              <a:spcAft>
                <a:spcPts val="100"/>
              </a:spcAft>
            </a:pPr>
            <a:r>
              <a:rPr sz="570" b="0" i="1">
                <a:solidFill>
                  <a:srgbClr val="6B7280"/>
                </a:solidFill>
                <a:latin typeface="Calibri"/>
              </a:rPr>
              <a:t>Any past run loads instantly.</a:t>
            </a:r>
          </a:p>
        </p:txBody>
      </p:sp>
      <p:cxnSp>
        <p:nvCxnSpPr>
          <p:cNvPr id="26" name="Connector 25"/>
          <p:cNvCxnSpPr/>
          <p:nvPr/>
        </p:nvCxnSpPr>
        <p:spPr>
          <a:xfrm>
            <a:off x="2871215" y="2057400"/>
            <a:ext cx="402337" cy="0"/>
          </a:xfrm>
          <a:prstGeom prst="line">
            <a:avLst/>
          </a:prstGeom>
          <a:ln w="1143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961888" y="2057400"/>
            <a:ext cx="384048" cy="0"/>
          </a:xfrm>
          <a:prstGeom prst="line">
            <a:avLst/>
          </a:prstGeom>
          <a:ln w="1143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924544" y="2057400"/>
            <a:ext cx="384048" cy="0"/>
          </a:xfrm>
          <a:prstGeom prst="line">
            <a:avLst/>
          </a:prstGeom>
          <a:ln w="1143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329184" y="2615184"/>
            <a:ext cx="2542032" cy="786384"/>
          </a:xfrm>
          <a:prstGeom prst="roundRect">
            <a:avLst>
              <a:gd name="adj" fmla="val 10000"/>
            </a:avLst>
          </a:prstGeom>
          <a:solidFill>
            <a:srgbClr val="DCEEF7"/>
          </a:solidFill>
          <a:ln w="1143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014F77"/>
                </a:solidFill>
                <a:latin typeface="Calibri"/>
              </a:rPr>
              <a:t>Picks a dam — say Tehri, 260 m</a:t>
            </a:r>
          </a:p>
          <a:p>
            <a:pPr algn="ctr">
              <a:lnSpc>
                <a:spcPct val="90000"/>
              </a:lnSpc>
              <a:spcAft>
                <a:spcPts val="100"/>
              </a:spcAft>
            </a:pPr>
            <a:r>
              <a:rPr sz="570" b="0" i="1">
                <a:solidFill>
                  <a:srgbClr val="6B7280"/>
                </a:solidFill>
                <a:latin typeface="Calibri"/>
              </a:rPr>
              <a:t>Or types four numbers.</a:t>
            </a:r>
          </a:p>
        </p:txBody>
      </p:sp>
      <p:sp>
        <p:nvSpPr>
          <p:cNvPr id="30" name="Rounded Rectangle 29"/>
          <p:cNvSpPr/>
          <p:nvPr/>
        </p:nvSpPr>
        <p:spPr>
          <a:xfrm>
            <a:off x="3273552" y="2615184"/>
            <a:ext cx="2688336" cy="786384"/>
          </a:xfrm>
          <a:prstGeom prst="roundRect">
            <a:avLst>
              <a:gd name="adj" fmla="val 10000"/>
            </a:avLst>
          </a:prstGeom>
          <a:solidFill>
            <a:srgbClr val="DDF0EE"/>
          </a:solidFill>
          <a:ln w="1143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085952"/>
                </a:solidFill>
                <a:latin typeface="Calibri"/>
              </a:rPr>
              <a:t>Checks the inputs are physically sensible</a:t>
            </a:r>
          </a:p>
          <a:p>
            <a:pPr algn="ctr">
              <a:lnSpc>
                <a:spcPct val="90000"/>
              </a:lnSpc>
              <a:spcAft>
                <a:spcPts val="100"/>
              </a:spcAft>
            </a:pPr>
            <a:r>
              <a:rPr sz="570" b="0" i="1">
                <a:solidFill>
                  <a:srgbClr val="6B7280"/>
                </a:solidFill>
                <a:latin typeface="Calibri"/>
              </a:rPr>
              <a:t>Rejects nonsense early.</a:t>
            </a:r>
          </a:p>
        </p:txBody>
      </p:sp>
      <p:sp>
        <p:nvSpPr>
          <p:cNvPr id="31" name="Rounded Rectangle 30"/>
          <p:cNvSpPr/>
          <p:nvPr/>
        </p:nvSpPr>
        <p:spPr>
          <a:xfrm>
            <a:off x="6345936" y="2615184"/>
            <a:ext cx="2578608" cy="786384"/>
          </a:xfrm>
          <a:prstGeom prst="roundRect">
            <a:avLst>
              <a:gd name="adj" fmla="val 10000"/>
            </a:avLst>
          </a:prstGeom>
          <a:solidFill>
            <a:srgbClr val="E0E4F4"/>
          </a:solidFill>
          <a:ln w="1143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122669"/>
                </a:solidFill>
                <a:latin typeface="Calibri"/>
              </a:rPr>
              <a:t>Loads terrain, or fetches it once</a:t>
            </a:r>
          </a:p>
          <a:p>
            <a:pPr algn="ctr">
              <a:lnSpc>
                <a:spcPct val="90000"/>
              </a:lnSpc>
              <a:spcAft>
                <a:spcPts val="100"/>
              </a:spcAft>
            </a:pPr>
            <a:r>
              <a:rPr sz="570" b="0" i="1">
                <a:solidFill>
                  <a:srgbClr val="6B7280"/>
                </a:solidFill>
                <a:latin typeface="Calibri"/>
              </a:rPr>
              <a:t>yes → straight through · no → fetched once, then kept</a:t>
            </a:r>
          </a:p>
        </p:txBody>
      </p:sp>
      <p:sp>
        <p:nvSpPr>
          <p:cNvPr id="32" name="Rounded Rectangle 31"/>
          <p:cNvSpPr/>
          <p:nvPr/>
        </p:nvSpPr>
        <p:spPr>
          <a:xfrm>
            <a:off x="9308592" y="2615184"/>
            <a:ext cx="2551176" cy="786384"/>
          </a:xfrm>
          <a:prstGeom prst="roundRect">
            <a:avLst>
              <a:gd name="adj" fmla="val 10000"/>
            </a:avLst>
          </a:prstGeom>
          <a:solidFill>
            <a:srgbClr val="E6E5FB"/>
          </a:solidFill>
          <a:ln w="1143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2F2A89"/>
                </a:solidFill>
                <a:latin typeface="Calibri"/>
              </a:rPr>
              <a:t>Draws the study area on the map</a:t>
            </a:r>
          </a:p>
          <a:p>
            <a:pPr algn="ctr">
              <a:lnSpc>
                <a:spcPct val="90000"/>
              </a:lnSpc>
              <a:spcAft>
                <a:spcPts val="100"/>
              </a:spcAft>
            </a:pPr>
            <a:r>
              <a:rPr sz="570" b="0" i="1">
                <a:solidFill>
                  <a:srgbClr val="6B7280"/>
                </a:solidFill>
                <a:latin typeface="Calibri"/>
              </a:rPr>
              <a:t>Confirms before running.</a:t>
            </a:r>
          </a:p>
        </p:txBody>
      </p:sp>
      <p:cxnSp>
        <p:nvCxnSpPr>
          <p:cNvPr id="33" name="Connector 32"/>
          <p:cNvCxnSpPr/>
          <p:nvPr/>
        </p:nvCxnSpPr>
        <p:spPr>
          <a:xfrm>
            <a:off x="2871215" y="3008376"/>
            <a:ext cx="402337" cy="0"/>
          </a:xfrm>
          <a:prstGeom prst="line">
            <a:avLst/>
          </a:prstGeom>
          <a:ln w="1143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961888" y="3008376"/>
            <a:ext cx="384048" cy="0"/>
          </a:xfrm>
          <a:prstGeom prst="line">
            <a:avLst/>
          </a:prstGeom>
          <a:ln w="1143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924544" y="3008376"/>
            <a:ext cx="384048" cy="0"/>
          </a:xfrm>
          <a:prstGeom prst="line">
            <a:avLst/>
          </a:prstGeom>
          <a:ln w="1143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29184" y="3566160"/>
            <a:ext cx="2542032" cy="749808"/>
          </a:xfrm>
          <a:prstGeom prst="roundRect">
            <a:avLst>
              <a:gd name="adj" fmla="val 10000"/>
            </a:avLst>
          </a:prstGeom>
          <a:solidFill>
            <a:srgbClr val="DCEEF7"/>
          </a:solidFill>
          <a:ln w="1143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014F77"/>
                </a:solidFill>
                <a:latin typeface="Calibri"/>
              </a:rPr>
              <a:t>Keeps the defaults, presses Run</a:t>
            </a:r>
          </a:p>
          <a:p>
            <a:pPr algn="ctr">
              <a:lnSpc>
                <a:spcPct val="90000"/>
              </a:lnSpc>
              <a:spcAft>
                <a:spcPts val="100"/>
              </a:spcAft>
            </a:pPr>
            <a:r>
              <a:rPr sz="570" b="0" i="1">
                <a:solidFill>
                  <a:srgbClr val="6B7280"/>
                </a:solidFill>
                <a:latin typeface="Calibri"/>
              </a:rPr>
              <a:t>One button.</a:t>
            </a:r>
          </a:p>
        </p:txBody>
      </p:sp>
      <p:sp>
        <p:nvSpPr>
          <p:cNvPr id="37" name="Rounded Rectangle 36"/>
          <p:cNvSpPr/>
          <p:nvPr/>
        </p:nvSpPr>
        <p:spPr>
          <a:xfrm>
            <a:off x="3273552" y="3566160"/>
            <a:ext cx="2688336" cy="749808"/>
          </a:xfrm>
          <a:prstGeom prst="roundRect">
            <a:avLst>
              <a:gd name="adj" fmla="val 10000"/>
            </a:avLst>
          </a:prstGeom>
          <a:solidFill>
            <a:srgbClr val="DDF0EE"/>
          </a:solidFill>
          <a:ln w="1143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085952"/>
                </a:solidFill>
                <a:latin typeface="Calibri"/>
              </a:rPr>
              <a:t>Starts a separate worker for the heavy part</a:t>
            </a:r>
          </a:p>
          <a:p>
            <a:pPr algn="ctr">
              <a:lnSpc>
                <a:spcPct val="90000"/>
              </a:lnSpc>
              <a:spcAft>
                <a:spcPts val="100"/>
              </a:spcAft>
            </a:pPr>
            <a:r>
              <a:rPr sz="570" b="0" i="1">
                <a:solidFill>
                  <a:srgbClr val="6B7280"/>
                </a:solidFill>
                <a:latin typeface="Calibri"/>
              </a:rPr>
              <a:t>The page stays alive.</a:t>
            </a:r>
          </a:p>
        </p:txBody>
      </p:sp>
      <p:sp>
        <p:nvSpPr>
          <p:cNvPr id="38" name="Rounded Rectangle 37"/>
          <p:cNvSpPr/>
          <p:nvPr/>
        </p:nvSpPr>
        <p:spPr>
          <a:xfrm rot="30000">
            <a:off x="6345936" y="3566160"/>
            <a:ext cx="2578608" cy="749808"/>
          </a:xfrm>
          <a:prstGeom prst="roundRect">
            <a:avLst>
              <a:gd name="adj" fmla="val 10000"/>
            </a:avLst>
          </a:prstGeom>
          <a:solidFill>
            <a:srgbClr val="E0E4F4"/>
          </a:solidFill>
          <a:ln w="1143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122669"/>
                </a:solidFill>
                <a:latin typeface="Calibri"/>
              </a:rPr>
              <a:t>Models the breach, then the flood spread</a:t>
            </a:r>
          </a:p>
          <a:p>
            <a:pPr algn="ctr">
              <a:lnSpc>
                <a:spcPct val="90000"/>
              </a:lnSpc>
              <a:spcAft>
                <a:spcPts val="100"/>
              </a:spcAft>
            </a:pPr>
            <a:r>
              <a:rPr sz="570" b="0" i="1">
                <a:solidFill>
                  <a:srgbClr val="6B7280"/>
                </a:solidFill>
                <a:latin typeface="Calibri"/>
              </a:rPr>
              <a:t>Thirty variations.</a:t>
            </a:r>
          </a:p>
        </p:txBody>
      </p:sp>
      <p:sp>
        <p:nvSpPr>
          <p:cNvPr id="39" name="Rounded Rectangle 38"/>
          <p:cNvSpPr/>
          <p:nvPr/>
        </p:nvSpPr>
        <p:spPr>
          <a:xfrm>
            <a:off x="9308592" y="3566160"/>
            <a:ext cx="2551176" cy="749808"/>
          </a:xfrm>
          <a:prstGeom prst="roundRect">
            <a:avLst>
              <a:gd name="adj" fmla="val 10000"/>
            </a:avLst>
          </a:prstGeom>
          <a:solidFill>
            <a:srgbClr val="E6E5FB"/>
          </a:solidFill>
          <a:ln w="1143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2F2A89"/>
                </a:solidFill>
                <a:latin typeface="Calibri"/>
              </a:rPr>
              <a:t>Streams live progress, member by member</a:t>
            </a:r>
          </a:p>
          <a:p>
            <a:pPr algn="ctr">
              <a:lnSpc>
                <a:spcPct val="90000"/>
              </a:lnSpc>
              <a:spcAft>
                <a:spcPts val="100"/>
              </a:spcAft>
            </a:pPr>
            <a:r>
              <a:rPr sz="570" b="0" i="1">
                <a:solidFill>
                  <a:srgbClr val="6B7280"/>
                </a:solidFill>
                <a:latin typeface="Calibri"/>
              </a:rPr>
              <a:t>Never a frozen bar.</a:t>
            </a:r>
          </a:p>
        </p:txBody>
      </p:sp>
      <p:cxnSp>
        <p:nvCxnSpPr>
          <p:cNvPr id="40" name="Connector 39"/>
          <p:cNvCxnSpPr/>
          <p:nvPr/>
        </p:nvCxnSpPr>
        <p:spPr>
          <a:xfrm>
            <a:off x="2871215" y="3941063"/>
            <a:ext cx="402337" cy="0"/>
          </a:xfrm>
          <a:prstGeom prst="line">
            <a:avLst/>
          </a:prstGeom>
          <a:ln w="1143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961888" y="3941063"/>
            <a:ext cx="384048" cy="0"/>
          </a:xfrm>
          <a:prstGeom prst="line">
            <a:avLst/>
          </a:prstGeom>
          <a:ln w="1778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924544" y="3941063"/>
            <a:ext cx="384048" cy="0"/>
          </a:xfrm>
          <a:prstGeom prst="line">
            <a:avLst/>
          </a:prstGeom>
          <a:ln w="1143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329184" y="4480560"/>
            <a:ext cx="2542032" cy="731520"/>
          </a:xfrm>
          <a:prstGeom prst="roundRect">
            <a:avLst>
              <a:gd name="adj" fmla="val 10000"/>
            </a:avLst>
          </a:prstGeom>
          <a:solidFill>
            <a:srgbClr val="DCEEF7"/>
          </a:solidFill>
          <a:ln w="1143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014F77"/>
                </a:solidFill>
                <a:latin typeface="Calibri"/>
              </a:rPr>
              <a:t>Watches the arrival times appear</a:t>
            </a:r>
          </a:p>
          <a:p>
            <a:pPr algn="ctr">
              <a:lnSpc>
                <a:spcPct val="90000"/>
              </a:lnSpc>
              <a:spcAft>
                <a:spcPts val="100"/>
              </a:spcAft>
            </a:pPr>
            <a:r>
              <a:rPr sz="570" b="0" i="1">
                <a:solidFill>
                  <a:srgbClr val="6B7280"/>
                </a:solidFill>
                <a:latin typeface="Calibri"/>
              </a:rPr>
              <a:t>Town by town.</a:t>
            </a:r>
          </a:p>
        </p:txBody>
      </p:sp>
      <p:sp>
        <p:nvSpPr>
          <p:cNvPr id="44" name="Rounded Rectangle 43"/>
          <p:cNvSpPr/>
          <p:nvPr/>
        </p:nvSpPr>
        <p:spPr>
          <a:xfrm>
            <a:off x="3273552" y="4480560"/>
            <a:ext cx="2688336" cy="731520"/>
          </a:xfrm>
          <a:prstGeom prst="roundRect">
            <a:avLst>
              <a:gd name="adj" fmla="val 10000"/>
            </a:avLst>
          </a:prstGeom>
          <a:solidFill>
            <a:srgbClr val="DDF0EE"/>
          </a:solidFill>
          <a:ln w="1143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085952"/>
                </a:solidFill>
                <a:latin typeface="Calibri"/>
              </a:rPr>
              <a:t>Saves each result as it lands</a:t>
            </a:r>
          </a:p>
          <a:p>
            <a:pPr algn="ctr">
              <a:lnSpc>
                <a:spcPct val="90000"/>
              </a:lnSpc>
              <a:spcAft>
                <a:spcPts val="100"/>
              </a:spcAft>
            </a:pPr>
            <a:r>
              <a:rPr sz="570" b="0" i="1">
                <a:solidFill>
                  <a:srgbClr val="6B7280"/>
                </a:solidFill>
                <a:latin typeface="Calibri"/>
              </a:rPr>
              <a:t>Nothing is lost on a crash.</a:t>
            </a:r>
          </a:p>
        </p:txBody>
      </p:sp>
      <p:sp>
        <p:nvSpPr>
          <p:cNvPr id="45" name="Rounded Rectangle 44"/>
          <p:cNvSpPr/>
          <p:nvPr/>
        </p:nvSpPr>
        <p:spPr>
          <a:xfrm>
            <a:off x="6345936" y="4480560"/>
            <a:ext cx="2578608" cy="731520"/>
          </a:xfrm>
          <a:prstGeom prst="roundRect">
            <a:avLst>
              <a:gd name="adj" fmla="val 10000"/>
            </a:avLst>
          </a:prstGeom>
          <a:solidFill>
            <a:srgbClr val="E0E4F4"/>
          </a:solidFill>
          <a:ln w="1143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122669"/>
                </a:solidFill>
                <a:latin typeface="Calibri"/>
              </a:rPr>
              <a:t>Scores impact: depth, hazard, people exposed</a:t>
            </a:r>
          </a:p>
          <a:p>
            <a:pPr algn="ctr">
              <a:lnSpc>
                <a:spcPct val="90000"/>
              </a:lnSpc>
              <a:spcAft>
                <a:spcPts val="100"/>
              </a:spcAft>
            </a:pPr>
            <a:r>
              <a:rPr sz="570" b="0" i="1">
                <a:solidFill>
                  <a:srgbClr val="6B7280"/>
                </a:solidFill>
                <a:latin typeface="Calibri"/>
              </a:rPr>
              <a:t>Published formulas.</a:t>
            </a:r>
          </a:p>
        </p:txBody>
      </p:sp>
      <p:sp>
        <p:nvSpPr>
          <p:cNvPr id="46" name="Rounded Rectangle 45"/>
          <p:cNvSpPr/>
          <p:nvPr/>
        </p:nvSpPr>
        <p:spPr>
          <a:xfrm>
            <a:off x="9308592" y="4480560"/>
            <a:ext cx="2551176" cy="731520"/>
          </a:xfrm>
          <a:prstGeom prst="roundRect">
            <a:avLst>
              <a:gd name="adj" fmla="val 10000"/>
            </a:avLst>
          </a:prstGeom>
          <a:solidFill>
            <a:srgbClr val="E6E5FB"/>
          </a:solidFill>
          <a:ln w="1143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2F2A89"/>
                </a:solidFill>
                <a:latin typeface="Calibri"/>
              </a:rPr>
              <a:t>Plots the flood on a 2D map and a 3D globe</a:t>
            </a:r>
          </a:p>
          <a:p>
            <a:pPr algn="ctr">
              <a:lnSpc>
                <a:spcPct val="90000"/>
              </a:lnSpc>
              <a:spcAft>
                <a:spcPts val="100"/>
              </a:spcAft>
            </a:pPr>
            <a:r>
              <a:rPr sz="570" b="0" i="1">
                <a:solidFill>
                  <a:srgbClr val="6B7280"/>
                </a:solidFill>
                <a:latin typeface="Calibri"/>
              </a:rPr>
              <a:t>Both stay loaded.</a:t>
            </a:r>
          </a:p>
        </p:txBody>
      </p:sp>
      <p:cxnSp>
        <p:nvCxnSpPr>
          <p:cNvPr id="47" name="Connector 46"/>
          <p:cNvCxnSpPr/>
          <p:nvPr/>
        </p:nvCxnSpPr>
        <p:spPr>
          <a:xfrm>
            <a:off x="2871215" y="4846320"/>
            <a:ext cx="402337" cy="0"/>
          </a:xfrm>
          <a:prstGeom prst="line">
            <a:avLst/>
          </a:prstGeom>
          <a:ln w="1143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961888" y="4846320"/>
            <a:ext cx="384048" cy="0"/>
          </a:xfrm>
          <a:prstGeom prst="line">
            <a:avLst/>
          </a:prstGeom>
          <a:ln w="1143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8924544" y="4846320"/>
            <a:ext cx="384048" cy="0"/>
          </a:xfrm>
          <a:prstGeom prst="line">
            <a:avLst/>
          </a:prstGeom>
          <a:ln w="1143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329184" y="5358384"/>
            <a:ext cx="2542032" cy="822960"/>
          </a:xfrm>
          <a:prstGeom prst="roundRect">
            <a:avLst>
              <a:gd name="adj" fmla="val 10000"/>
            </a:avLst>
          </a:prstGeom>
          <a:solidFill>
            <a:srgbClr val="DCEEF7"/>
          </a:solidFill>
          <a:ln w="1143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014F77"/>
                </a:solidFill>
                <a:latin typeface="Calibri"/>
              </a:rPr>
              <a:t>Downloads the pack for the district authority</a:t>
            </a:r>
          </a:p>
          <a:p>
            <a:pPr algn="ctr">
              <a:lnSpc>
                <a:spcPct val="90000"/>
              </a:lnSpc>
              <a:spcAft>
                <a:spcPts val="100"/>
              </a:spcAft>
            </a:pPr>
            <a:r>
              <a:rPr sz="570" b="0" i="1">
                <a:solidFill>
                  <a:srgbClr val="6B7280"/>
                </a:solidFill>
                <a:latin typeface="Calibri"/>
              </a:rPr>
              <a:t>Ready to circulate.</a:t>
            </a:r>
          </a:p>
        </p:txBody>
      </p:sp>
      <p:sp>
        <p:nvSpPr>
          <p:cNvPr id="51" name="Rounded Rectangle 50"/>
          <p:cNvSpPr/>
          <p:nvPr/>
        </p:nvSpPr>
        <p:spPr>
          <a:xfrm>
            <a:off x="3273552" y="5358384"/>
            <a:ext cx="2688336" cy="822960"/>
          </a:xfrm>
          <a:prstGeom prst="roundRect">
            <a:avLst>
              <a:gd name="adj" fmla="val 10000"/>
            </a:avLst>
          </a:prstGeom>
          <a:solidFill>
            <a:srgbClr val="DDF0EE"/>
          </a:solidFill>
          <a:ln w="1143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085952"/>
                </a:solidFill>
                <a:latin typeface="Calibri"/>
              </a:rPr>
              <a:t>Attaches the quality-gate evidence</a:t>
            </a:r>
          </a:p>
          <a:p>
            <a:pPr algn="ctr">
              <a:lnSpc>
                <a:spcPct val="90000"/>
              </a:lnSpc>
              <a:spcAft>
                <a:spcPts val="100"/>
              </a:spcAft>
            </a:pPr>
            <a:r>
              <a:rPr sz="570" b="0" i="1">
                <a:solidFill>
                  <a:srgbClr val="6B7280"/>
                </a:solidFill>
                <a:latin typeface="Calibri"/>
              </a:rPr>
              <a:t>Every run, no exceptions.</a:t>
            </a:r>
          </a:p>
        </p:txBody>
      </p:sp>
      <p:sp>
        <p:nvSpPr>
          <p:cNvPr id="52" name="Rounded Rectangle 51"/>
          <p:cNvSpPr/>
          <p:nvPr/>
        </p:nvSpPr>
        <p:spPr>
          <a:xfrm>
            <a:off x="6345936" y="5358384"/>
            <a:ext cx="2578608" cy="822960"/>
          </a:xfrm>
          <a:prstGeom prst="roundRect">
            <a:avLst>
              <a:gd name="adj" fmla="val 10000"/>
            </a:avLst>
          </a:prstGeom>
          <a:solidFill>
            <a:srgbClr val="E0E4F4"/>
          </a:solidFill>
          <a:ln w="1143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122669"/>
                </a:solidFill>
                <a:latin typeface="Calibri"/>
              </a:rPr>
              <a:t>Optionally runs the near-dam 3D detail</a:t>
            </a:r>
          </a:p>
          <a:p>
            <a:pPr algn="ctr">
              <a:lnSpc>
                <a:spcPct val="90000"/>
              </a:lnSpc>
              <a:spcAft>
                <a:spcPts val="100"/>
              </a:spcAft>
            </a:pPr>
            <a:r>
              <a:rPr sz="570" b="0" i="1">
                <a:solidFill>
                  <a:srgbClr val="6B7280"/>
                </a:solidFill>
                <a:latin typeface="Calibri"/>
              </a:rPr>
              <a:t>About 600 m, 15 s.</a:t>
            </a:r>
          </a:p>
        </p:txBody>
      </p:sp>
      <p:sp>
        <p:nvSpPr>
          <p:cNvPr id="53" name="Rounded Rectangle 52"/>
          <p:cNvSpPr/>
          <p:nvPr/>
        </p:nvSpPr>
        <p:spPr>
          <a:xfrm>
            <a:off x="9308592" y="5358384"/>
            <a:ext cx="2551176" cy="822960"/>
          </a:xfrm>
          <a:prstGeom prst="roundRect">
            <a:avLst>
              <a:gd name="adj" fmla="val 10000"/>
            </a:avLst>
          </a:prstGeom>
          <a:solidFill>
            <a:srgbClr val="E6E5FB"/>
          </a:solidFill>
          <a:ln w="1143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2F2A89"/>
                </a:solidFill>
                <a:latin typeface="Calibri"/>
              </a:rPr>
              <a:t>Exports maps, overlays, charts, spreadsheets</a:t>
            </a:r>
          </a:p>
          <a:p>
            <a:pPr algn="ctr">
              <a:lnSpc>
                <a:spcPct val="90000"/>
              </a:lnSpc>
              <a:spcAft>
                <a:spcPts val="100"/>
              </a:spcAft>
            </a:pPr>
            <a:r>
              <a:rPr sz="570" b="0" i="1">
                <a:solidFill>
                  <a:srgbClr val="6B7280"/>
                </a:solidFill>
                <a:latin typeface="Calibri"/>
              </a:rPr>
              <a:t>Standard formats.</a:t>
            </a:r>
          </a:p>
        </p:txBody>
      </p:sp>
      <p:cxnSp>
        <p:nvCxnSpPr>
          <p:cNvPr id="54" name="Connector 53"/>
          <p:cNvCxnSpPr/>
          <p:nvPr/>
        </p:nvCxnSpPr>
        <p:spPr>
          <a:xfrm>
            <a:off x="2871215" y="5769864"/>
            <a:ext cx="402337" cy="0"/>
          </a:xfrm>
          <a:prstGeom prst="line">
            <a:avLst/>
          </a:prstGeom>
          <a:ln w="1143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5961888" y="5769864"/>
            <a:ext cx="384048" cy="0"/>
          </a:xfrm>
          <a:prstGeom prst="line">
            <a:avLst/>
          </a:prstGeom>
          <a:ln w="1143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8924544" y="5769864"/>
            <a:ext cx="384048" cy="0"/>
          </a:xfrm>
          <a:prstGeom prst="line">
            <a:avLst/>
          </a:prstGeom>
          <a:ln w="1143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600200" y="2450592"/>
            <a:ext cx="0" cy="164592"/>
          </a:xfrm>
          <a:prstGeom prst="line">
            <a:avLst/>
          </a:prstGeom>
          <a:ln w="889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600200" y="3401568"/>
            <a:ext cx="0" cy="164592"/>
          </a:xfrm>
          <a:prstGeom prst="line">
            <a:avLst/>
          </a:prstGeom>
          <a:ln w="889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600200" y="4315968"/>
            <a:ext cx="0" cy="164592"/>
          </a:xfrm>
          <a:prstGeom prst="line">
            <a:avLst/>
          </a:prstGeom>
          <a:ln w="889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600200" y="5212080"/>
            <a:ext cx="0" cy="146304"/>
          </a:xfrm>
          <a:prstGeom prst="line">
            <a:avLst/>
          </a:prstGeom>
          <a:ln w="889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4617720" y="2450592"/>
            <a:ext cx="0" cy="164592"/>
          </a:xfrm>
          <a:prstGeom prst="line">
            <a:avLst/>
          </a:prstGeom>
          <a:ln w="889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4617720" y="3401568"/>
            <a:ext cx="0" cy="164592"/>
          </a:xfrm>
          <a:prstGeom prst="line">
            <a:avLst/>
          </a:prstGeom>
          <a:ln w="889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4617720" y="4315968"/>
            <a:ext cx="0" cy="164592"/>
          </a:xfrm>
          <a:prstGeom prst="line">
            <a:avLst/>
          </a:prstGeom>
          <a:ln w="889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4617720" y="5212080"/>
            <a:ext cx="0" cy="146304"/>
          </a:xfrm>
          <a:prstGeom prst="line">
            <a:avLst/>
          </a:prstGeom>
          <a:ln w="889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635240" y="2450592"/>
            <a:ext cx="0" cy="164592"/>
          </a:xfrm>
          <a:prstGeom prst="line">
            <a:avLst/>
          </a:prstGeom>
          <a:ln w="889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7635240" y="3401568"/>
            <a:ext cx="0" cy="164592"/>
          </a:xfrm>
          <a:prstGeom prst="line">
            <a:avLst/>
          </a:prstGeom>
          <a:ln w="889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7635240" y="4315968"/>
            <a:ext cx="0" cy="164592"/>
          </a:xfrm>
          <a:prstGeom prst="line">
            <a:avLst/>
          </a:prstGeom>
          <a:ln w="889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7635240" y="5212080"/>
            <a:ext cx="0" cy="146304"/>
          </a:xfrm>
          <a:prstGeom prst="line">
            <a:avLst/>
          </a:prstGeom>
          <a:ln w="889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10584180" y="2450592"/>
            <a:ext cx="0" cy="164592"/>
          </a:xfrm>
          <a:prstGeom prst="line">
            <a:avLst/>
          </a:prstGeom>
          <a:ln w="889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10584180" y="3401568"/>
            <a:ext cx="0" cy="164592"/>
          </a:xfrm>
          <a:prstGeom prst="line">
            <a:avLst/>
          </a:prstGeom>
          <a:ln w="889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0584180" y="4315968"/>
            <a:ext cx="0" cy="164592"/>
          </a:xfrm>
          <a:prstGeom prst="line">
            <a:avLst/>
          </a:prstGeom>
          <a:ln w="889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0584180" y="5212080"/>
            <a:ext cx="0" cy="146304"/>
          </a:xfrm>
          <a:prstGeom prst="line">
            <a:avLst/>
          </a:prstGeom>
          <a:ln w="889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73" name="Diamond 72"/>
          <p:cNvSpPr/>
          <p:nvPr/>
        </p:nvSpPr>
        <p:spPr>
          <a:xfrm>
            <a:off x="5760720" y="2734056"/>
            <a:ext cx="786384" cy="548640"/>
          </a:xfrm>
          <a:prstGeom prst="diamond">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lnSpc>
                <a:spcPct val="85000"/>
              </a:lnSpc>
              <a:spcAft>
                <a:spcPts val="100"/>
              </a:spcAft>
            </a:pPr>
            <a:r>
              <a:rPr sz="560" b="1" i="0">
                <a:solidFill>
                  <a:srgbClr val="FFFFFF"/>
                </a:solidFill>
                <a:latin typeface="Calibri"/>
              </a:rPr>
              <a:t>Terrain
already
here?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01168" y="128016"/>
            <a:ext cx="1188720" cy="310896"/>
          </a:xfrm>
          <a:prstGeom prst="roundRect">
            <a:avLst>
              <a:gd name="adj" fmla="val 40000"/>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2860" bIns="22860"/>
          <a:lstStyle/>
          <a:p>
            <a:pPr algn="ctr">
              <a:lnSpc>
                <a:spcPct val="92000"/>
              </a:lnSpc>
              <a:spcAft>
                <a:spcPts val="100"/>
              </a:spcAft>
            </a:pPr>
            <a:r>
              <a:rPr sz="1100" b="1" i="0">
                <a:solidFill>
                  <a:srgbClr val="FFFFFF"/>
                </a:solidFill>
                <a:latin typeface="Calibri"/>
              </a:rPr>
              <a:t>FloodView</a:t>
            </a:r>
          </a:p>
        </p:txBody>
      </p:sp>
      <p:sp>
        <p:nvSpPr>
          <p:cNvPr id="3" name="TextBox 2"/>
          <p:cNvSpPr txBox="1"/>
          <p:nvPr/>
        </p:nvSpPr>
        <p:spPr>
          <a:xfrm>
            <a:off x="201168" y="457200"/>
            <a:ext cx="1463040" cy="182880"/>
          </a:xfrm>
          <a:prstGeom prst="rect">
            <a:avLst/>
          </a:prstGeom>
          <a:noFill/>
        </p:spPr>
        <p:txBody>
          <a:bodyPr wrap="square" anchor="t" lIns="18288" rIns="18288" tIns="0" bIns="0">
            <a:spAutoFit/>
          </a:bodyPr>
          <a:lstStyle/>
          <a:p>
            <a:pPr algn="l">
              <a:lnSpc>
                <a:spcPct val="92000"/>
              </a:lnSpc>
              <a:spcAft>
                <a:spcPts val="100"/>
              </a:spcAft>
            </a:pPr>
            <a:r>
              <a:rPr sz="620" b="0" i="0">
                <a:solidFill>
                  <a:srgbClr val="6B7280"/>
                </a:solidFill>
                <a:latin typeface="Calibri"/>
              </a:rPr>
              <a:t>PS 26161 · NTRO</a:t>
            </a:r>
          </a:p>
        </p:txBody>
      </p:sp>
      <p:sp>
        <p:nvSpPr>
          <p:cNvPr id="4" name="TextBox 3"/>
          <p:cNvSpPr txBox="1"/>
          <p:nvPr/>
        </p:nvSpPr>
        <p:spPr>
          <a:xfrm>
            <a:off x="1554480" y="91440"/>
            <a:ext cx="8732520" cy="384048"/>
          </a:xfrm>
          <a:prstGeom prst="rect">
            <a:avLst/>
          </a:prstGeom>
          <a:noFill/>
        </p:spPr>
        <p:txBody>
          <a:bodyPr wrap="square" anchor="ctr" lIns="18288" rIns="18288" tIns="0" bIns="0">
            <a:spAutoFit/>
          </a:bodyPr>
          <a:lstStyle/>
          <a:p>
            <a:pPr algn="ctr">
              <a:lnSpc>
                <a:spcPct val="92000"/>
              </a:lnSpc>
              <a:spcAft>
                <a:spcPts val="100"/>
              </a:spcAft>
            </a:pPr>
            <a:r>
              <a:rPr sz="2300" b="1" i="0">
                <a:solidFill>
                  <a:srgbClr val="1F2937"/>
                </a:solidFill>
                <a:latin typeface="Calibri"/>
              </a:rPr>
              <a:t>WHAT IT IS BUILT WITH</a:t>
            </a:r>
          </a:p>
        </p:txBody>
      </p:sp>
      <p:sp>
        <p:nvSpPr>
          <p:cNvPr id="5" name="TextBox 4"/>
          <p:cNvSpPr txBox="1"/>
          <p:nvPr/>
        </p:nvSpPr>
        <p:spPr>
          <a:xfrm>
            <a:off x="1554480" y="475488"/>
            <a:ext cx="8732520" cy="201168"/>
          </a:xfrm>
          <a:prstGeom prst="rect">
            <a:avLst/>
          </a:prstGeom>
          <a:noFill/>
        </p:spPr>
        <p:txBody>
          <a:bodyPr wrap="square" anchor="t" lIns="18288" rIns="18288" tIns="0" bIns="0">
            <a:spAutoFit/>
          </a:bodyPr>
          <a:lstStyle/>
          <a:p>
            <a:pPr algn="ctr">
              <a:lnSpc>
                <a:spcPct val="92000"/>
              </a:lnSpc>
              <a:spcAft>
                <a:spcPts val="100"/>
              </a:spcAft>
            </a:pPr>
            <a:r>
              <a:rPr sz="819" b="0" i="1">
                <a:solidFill>
                  <a:srgbClr val="6B7280"/>
                </a:solidFill>
                <a:latin typeface="Calibri"/>
              </a:rPr>
              <a:t>Every piece is open-source and free to use. Nothing here carries a licence fee.</a:t>
            </a:r>
          </a:p>
        </p:txBody>
      </p:sp>
      <p:sp>
        <p:nvSpPr>
          <p:cNvPr id="6" name="TextBox 5"/>
          <p:cNvSpPr txBox="1"/>
          <p:nvPr/>
        </p:nvSpPr>
        <p:spPr>
          <a:xfrm>
            <a:off x="10378440" y="128016"/>
            <a:ext cx="1609344" cy="402336"/>
          </a:xfrm>
          <a:prstGeom prst="rect">
            <a:avLst/>
          </a:prstGeom>
          <a:noFill/>
        </p:spPr>
        <p:txBody>
          <a:bodyPr wrap="square" anchor="t" lIns="18288" rIns="18288" tIns="0" bIns="0">
            <a:spAutoFit/>
          </a:bodyPr>
          <a:lstStyle/>
          <a:p>
            <a:pPr algn="r">
              <a:lnSpc>
                <a:spcPct val="92000"/>
              </a:lnSpc>
              <a:spcAft>
                <a:spcPts val="0"/>
              </a:spcAft>
            </a:pPr>
            <a:r>
              <a:rPr sz="800" b="1" i="0">
                <a:solidFill>
                  <a:srgbClr val="0070C0"/>
                </a:solidFill>
                <a:latin typeface="Calibri"/>
              </a:rPr>
              <a:t>SMART INDIA</a:t>
            </a:r>
          </a:p>
          <a:p>
            <a:pPr algn="r">
              <a:lnSpc>
                <a:spcPct val="92000"/>
              </a:lnSpc>
              <a:spcAft>
                <a:spcPts val="0"/>
              </a:spcAft>
            </a:pPr>
            <a:r>
              <a:rPr sz="800" b="1" i="0">
                <a:solidFill>
                  <a:srgbClr val="0070C0"/>
                </a:solidFill>
                <a:latin typeface="Calibri"/>
              </a:rPr>
              <a:t>HACKATHON 2026</a:t>
            </a:r>
          </a:p>
        </p:txBody>
      </p:sp>
      <p:sp>
        <p:nvSpPr>
          <p:cNvPr id="7" name="Rectangle 6"/>
          <p:cNvSpPr/>
          <p:nvPr/>
        </p:nvSpPr>
        <p:spPr>
          <a:xfrm>
            <a:off x="0" y="6547104"/>
            <a:ext cx="12191695" cy="310896"/>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8" name="TextBox 7"/>
          <p:cNvSpPr txBox="1"/>
          <p:nvPr/>
        </p:nvSpPr>
        <p:spPr>
          <a:xfrm>
            <a:off x="256032" y="6601968"/>
            <a:ext cx="10607040" cy="201168"/>
          </a:xfrm>
          <a:prstGeom prst="rect">
            <a:avLst/>
          </a:prstGeom>
          <a:noFill/>
        </p:spPr>
        <p:txBody>
          <a:bodyPr wrap="square" anchor="t" lIns="18288" rIns="18288" tIns="0" bIns="0">
            <a:spAutoFit/>
          </a:bodyPr>
          <a:lstStyle/>
          <a:p>
            <a:pPr algn="l">
              <a:lnSpc>
                <a:spcPct val="92000"/>
              </a:lnSpc>
              <a:spcAft>
                <a:spcPts val="100"/>
              </a:spcAft>
            </a:pPr>
            <a:r>
              <a:rPr sz="800" b="1" i="0">
                <a:solidFill>
                  <a:srgbClr val="FFFFFF"/>
                </a:solidFill>
                <a:latin typeface="Calibri"/>
              </a:rPr>
              <a:t>Total software licence cost: zero. Total field-survey cost: zero.</a:t>
            </a:r>
          </a:p>
        </p:txBody>
      </p:sp>
      <p:sp>
        <p:nvSpPr>
          <p:cNvPr id="9" name="TextBox 8"/>
          <p:cNvSpPr txBox="1"/>
          <p:nvPr/>
        </p:nvSpPr>
        <p:spPr>
          <a:xfrm>
            <a:off x="11521440" y="6601968"/>
            <a:ext cx="457200" cy="201168"/>
          </a:xfrm>
          <a:prstGeom prst="rect">
            <a:avLst/>
          </a:prstGeom>
          <a:noFill/>
        </p:spPr>
        <p:txBody>
          <a:bodyPr wrap="square" anchor="t" lIns="18288" rIns="18288" tIns="0" bIns="0">
            <a:spAutoFit/>
          </a:bodyPr>
          <a:lstStyle/>
          <a:p>
            <a:pPr algn="r">
              <a:lnSpc>
                <a:spcPct val="92000"/>
              </a:lnSpc>
              <a:spcAft>
                <a:spcPts val="100"/>
              </a:spcAft>
            </a:pPr>
            <a:r>
              <a:rPr sz="850" b="1" i="0">
                <a:solidFill>
                  <a:srgbClr val="FFFFFF"/>
                </a:solidFill>
                <a:latin typeface="Calibri"/>
              </a:rPr>
              <a:t>4</a:t>
            </a:r>
          </a:p>
        </p:txBody>
      </p:sp>
      <p:sp>
        <p:nvSpPr>
          <p:cNvPr id="10" name="Rounded Rectangle 9"/>
          <p:cNvSpPr/>
          <p:nvPr/>
        </p:nvSpPr>
        <p:spPr>
          <a:xfrm>
            <a:off x="201168" y="896112"/>
            <a:ext cx="2212848" cy="676656"/>
          </a:xfrm>
          <a:prstGeom prst="roundRect">
            <a:avLst>
              <a:gd name="adj" fmla="val 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60" b="1" i="0">
                <a:solidFill>
                  <a:srgbClr val="FFFFFF"/>
                </a:solidFill>
                <a:latin typeface="Calibri"/>
              </a:rPr>
              <a:t>FLOOD SIMULATION</a:t>
            </a:r>
          </a:p>
          <a:p>
            <a:pPr algn="ctr">
              <a:lnSpc>
                <a:spcPct val="90000"/>
              </a:lnSpc>
              <a:spcAft>
                <a:spcPts val="100"/>
              </a:spcAft>
            </a:pPr>
            <a:r>
              <a:rPr sz="600" b="0" i="0">
                <a:solidFill>
                  <a:srgbClr val="D3ECEA"/>
                </a:solidFill>
                <a:latin typeface="Calibri"/>
              </a:rPr>
              <a:t>The mathematics that
moves the water</a:t>
            </a:r>
          </a:p>
        </p:txBody>
      </p:sp>
      <p:sp>
        <p:nvSpPr>
          <p:cNvPr id="11" name="Rounded Rectangle 10"/>
          <p:cNvSpPr/>
          <p:nvPr/>
        </p:nvSpPr>
        <p:spPr>
          <a:xfrm>
            <a:off x="228600" y="1682496"/>
            <a:ext cx="2157984" cy="475488"/>
          </a:xfrm>
          <a:prstGeom prst="roundRect">
            <a:avLst>
              <a:gd name="adj" fmla="val 10000"/>
            </a:avLst>
          </a:prstGeom>
          <a:solidFill>
            <a:srgbClr val="F0F9F8"/>
          </a:solidFill>
          <a:ln w="8890">
            <a:solidFill>
              <a:srgbClr val="92CFC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086058"/>
                </a:solidFill>
                <a:latin typeface="Calibri"/>
              </a:rPr>
              <a:t>NumPy and SciPy</a:t>
            </a:r>
          </a:p>
          <a:p>
            <a:pPr algn="l">
              <a:lnSpc>
                <a:spcPct val="90000"/>
              </a:lnSpc>
              <a:spcAft>
                <a:spcPts val="100"/>
              </a:spcAft>
            </a:pPr>
            <a:r>
              <a:rPr sz="580" b="0" i="0">
                <a:solidFill>
                  <a:srgbClr val="6B7280"/>
                </a:solidFill>
                <a:latin typeface="Calibri"/>
              </a:rPr>
              <a:t>the numerical core</a:t>
            </a:r>
          </a:p>
        </p:txBody>
      </p:sp>
      <p:sp>
        <p:nvSpPr>
          <p:cNvPr id="12" name="Rounded Rectangle 11"/>
          <p:cNvSpPr/>
          <p:nvPr/>
        </p:nvSpPr>
        <p:spPr>
          <a:xfrm>
            <a:off x="228600" y="2231136"/>
            <a:ext cx="2157984" cy="475488"/>
          </a:xfrm>
          <a:prstGeom prst="roundRect">
            <a:avLst>
              <a:gd name="adj" fmla="val 10000"/>
            </a:avLst>
          </a:prstGeom>
          <a:solidFill>
            <a:srgbClr val="F0F9F8"/>
          </a:solidFill>
          <a:ln w="8890">
            <a:solidFill>
              <a:srgbClr val="92CFC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086058"/>
                </a:solidFill>
                <a:latin typeface="Calibri"/>
              </a:rPr>
              <a:t>Numba</a:t>
            </a:r>
          </a:p>
          <a:p>
            <a:pPr algn="l">
              <a:lnSpc>
                <a:spcPct val="90000"/>
              </a:lnSpc>
              <a:spcAft>
                <a:spcPts val="100"/>
              </a:spcAft>
            </a:pPr>
            <a:r>
              <a:rPr sz="580" b="0" i="0">
                <a:solidFill>
                  <a:srgbClr val="6B7280"/>
                </a:solidFill>
                <a:latin typeface="Calibri"/>
              </a:rPr>
              <a:t>compiles the hot loops, roughly 100x</a:t>
            </a:r>
          </a:p>
        </p:txBody>
      </p:sp>
      <p:sp>
        <p:nvSpPr>
          <p:cNvPr id="13" name="Rounded Rectangle 12"/>
          <p:cNvSpPr/>
          <p:nvPr/>
        </p:nvSpPr>
        <p:spPr>
          <a:xfrm>
            <a:off x="228600" y="2779776"/>
            <a:ext cx="2157984" cy="475488"/>
          </a:xfrm>
          <a:prstGeom prst="roundRect">
            <a:avLst>
              <a:gd name="adj" fmla="val 10000"/>
            </a:avLst>
          </a:prstGeom>
          <a:solidFill>
            <a:srgbClr val="F0F9F8"/>
          </a:solidFill>
          <a:ln w="8890">
            <a:solidFill>
              <a:srgbClr val="92CFC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086058"/>
                </a:solidFill>
                <a:latin typeface="Calibri"/>
              </a:rPr>
              <a:t>PySPH</a:t>
            </a:r>
          </a:p>
          <a:p>
            <a:pPr algn="l">
              <a:lnSpc>
                <a:spcPct val="90000"/>
              </a:lnSpc>
              <a:spcAft>
                <a:spcPts val="100"/>
              </a:spcAft>
            </a:pPr>
            <a:r>
              <a:rPr sz="580" b="0" i="0">
                <a:solidFill>
                  <a:srgbClr val="6B7280"/>
                </a:solidFill>
                <a:latin typeface="Calibri"/>
              </a:rPr>
              <a:t>particle physics near the dam</a:t>
            </a:r>
          </a:p>
        </p:txBody>
      </p:sp>
      <p:sp>
        <p:nvSpPr>
          <p:cNvPr id="14" name="Rounded Rectangle 13"/>
          <p:cNvSpPr/>
          <p:nvPr/>
        </p:nvSpPr>
        <p:spPr>
          <a:xfrm>
            <a:off x="228600" y="3328416"/>
            <a:ext cx="2157984" cy="475488"/>
          </a:xfrm>
          <a:prstGeom prst="roundRect">
            <a:avLst>
              <a:gd name="adj" fmla="val 10000"/>
            </a:avLst>
          </a:prstGeom>
          <a:solidFill>
            <a:srgbClr val="F0F9F8"/>
          </a:solidFill>
          <a:ln w="8890">
            <a:solidFill>
              <a:srgbClr val="92CFC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086058"/>
                </a:solidFill>
                <a:latin typeface="Calibri"/>
              </a:rPr>
              <a:t>Matplotlib</a:t>
            </a:r>
          </a:p>
          <a:p>
            <a:pPr algn="l">
              <a:lnSpc>
                <a:spcPct val="90000"/>
              </a:lnSpc>
              <a:spcAft>
                <a:spcPts val="100"/>
              </a:spcAft>
            </a:pPr>
            <a:r>
              <a:rPr sz="580" b="0" i="0">
                <a:solidFill>
                  <a:srgbClr val="6B7280"/>
                </a:solidFill>
                <a:latin typeface="Calibri"/>
              </a:rPr>
              <a:t>scientific plotting</a:t>
            </a:r>
          </a:p>
        </p:txBody>
      </p:sp>
      <p:sp>
        <p:nvSpPr>
          <p:cNvPr id="15" name="Rounded Rectangle 14"/>
          <p:cNvSpPr/>
          <p:nvPr/>
        </p:nvSpPr>
        <p:spPr>
          <a:xfrm>
            <a:off x="228600" y="3877056"/>
            <a:ext cx="2157984" cy="475488"/>
          </a:xfrm>
          <a:prstGeom prst="roundRect">
            <a:avLst>
              <a:gd name="adj" fmla="val 10000"/>
            </a:avLst>
          </a:prstGeom>
          <a:solidFill>
            <a:srgbClr val="F0F9F8"/>
          </a:solidFill>
          <a:ln w="8890">
            <a:solidFill>
              <a:srgbClr val="92CFC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086058"/>
                </a:solidFill>
                <a:latin typeface="Calibri"/>
              </a:rPr>
              <a:t>Delft3D FM</a:t>
            </a:r>
          </a:p>
          <a:p>
            <a:pPr algn="l">
              <a:lnSpc>
                <a:spcPct val="90000"/>
              </a:lnSpc>
              <a:spcAft>
                <a:spcPts val="100"/>
              </a:spcAft>
            </a:pPr>
            <a:r>
              <a:rPr sz="580" b="0" i="0">
                <a:solidFill>
                  <a:srgbClr val="6B7280"/>
                </a:solidFill>
                <a:latin typeface="Calibri"/>
              </a:rPr>
              <a:t>Deltares kernel, 2026.01 build</a:t>
            </a:r>
          </a:p>
        </p:txBody>
      </p:sp>
      <p:sp>
        <p:nvSpPr>
          <p:cNvPr id="16" name="Rounded Rectangle 15"/>
          <p:cNvSpPr/>
          <p:nvPr/>
        </p:nvSpPr>
        <p:spPr>
          <a:xfrm>
            <a:off x="2560320" y="896112"/>
            <a:ext cx="2395728" cy="676656"/>
          </a:xfrm>
          <a:prstGeom prst="roundRect">
            <a:avLst>
              <a:gd name="adj" fmla="val 8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60" b="1" i="0">
                <a:solidFill>
                  <a:srgbClr val="FFFFFF"/>
                </a:solidFill>
                <a:latin typeface="Calibri"/>
              </a:rPr>
              <a:t>MAPS AND GEOGRAPHY</a:t>
            </a:r>
          </a:p>
          <a:p>
            <a:pPr algn="ctr">
              <a:lnSpc>
                <a:spcPct val="90000"/>
              </a:lnSpc>
              <a:spcAft>
                <a:spcPts val="100"/>
              </a:spcAft>
            </a:pPr>
            <a:r>
              <a:rPr sz="600" b="0" i="0">
                <a:solidFill>
                  <a:srgbClr val="D2ECE4"/>
                </a:solidFill>
                <a:latin typeface="Calibri"/>
              </a:rPr>
              <a:t>Reads satellite data,
writes map files</a:t>
            </a:r>
          </a:p>
        </p:txBody>
      </p:sp>
      <p:sp>
        <p:nvSpPr>
          <p:cNvPr id="17" name="Rounded Rectangle 16"/>
          <p:cNvSpPr/>
          <p:nvPr/>
        </p:nvSpPr>
        <p:spPr>
          <a:xfrm>
            <a:off x="2587751" y="1682496"/>
            <a:ext cx="2340864" cy="475488"/>
          </a:xfrm>
          <a:prstGeom prst="roundRect">
            <a:avLst>
              <a:gd name="adj" fmla="val 10000"/>
            </a:avLst>
          </a:prstGeom>
          <a:solidFill>
            <a:srgbClr val="F0F9F6"/>
          </a:solidFill>
          <a:ln w="8890">
            <a:solidFill>
              <a:srgbClr val="8ED0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036244"/>
                </a:solidFill>
                <a:latin typeface="Calibri"/>
              </a:rPr>
              <a:t>Rasterio</a:t>
            </a:r>
          </a:p>
          <a:p>
            <a:pPr algn="l">
              <a:lnSpc>
                <a:spcPct val="90000"/>
              </a:lnSpc>
              <a:spcAft>
                <a:spcPts val="100"/>
              </a:spcAft>
            </a:pPr>
            <a:r>
              <a:rPr sz="580" b="0" i="0">
                <a:solidFill>
                  <a:srgbClr val="6B7280"/>
                </a:solidFill>
                <a:latin typeface="Calibri"/>
              </a:rPr>
              <a:t>reads satellite ground-height data</a:t>
            </a:r>
          </a:p>
        </p:txBody>
      </p:sp>
      <p:sp>
        <p:nvSpPr>
          <p:cNvPr id="18" name="Rounded Rectangle 17"/>
          <p:cNvSpPr/>
          <p:nvPr/>
        </p:nvSpPr>
        <p:spPr>
          <a:xfrm>
            <a:off x="2587751" y="2231136"/>
            <a:ext cx="2340864" cy="475488"/>
          </a:xfrm>
          <a:prstGeom prst="roundRect">
            <a:avLst>
              <a:gd name="adj" fmla="val 10000"/>
            </a:avLst>
          </a:prstGeom>
          <a:solidFill>
            <a:srgbClr val="F0F9F6"/>
          </a:solidFill>
          <a:ln w="8890">
            <a:solidFill>
              <a:srgbClr val="8ED0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036244"/>
                </a:solidFill>
                <a:latin typeface="Calibri"/>
              </a:rPr>
              <a:t>GeoPandas</a:t>
            </a:r>
          </a:p>
          <a:p>
            <a:pPr algn="l">
              <a:lnSpc>
                <a:spcPct val="90000"/>
              </a:lnSpc>
              <a:spcAft>
                <a:spcPts val="100"/>
              </a:spcAft>
            </a:pPr>
            <a:r>
              <a:rPr sz="580" b="0" i="0">
                <a:solidFill>
                  <a:srgbClr val="6B7280"/>
                </a:solidFill>
                <a:latin typeface="Calibri"/>
              </a:rPr>
              <a:t>geographic boundaries and joins</a:t>
            </a:r>
          </a:p>
        </p:txBody>
      </p:sp>
      <p:sp>
        <p:nvSpPr>
          <p:cNvPr id="19" name="Rounded Rectangle 18"/>
          <p:cNvSpPr/>
          <p:nvPr/>
        </p:nvSpPr>
        <p:spPr>
          <a:xfrm>
            <a:off x="2587751" y="2779776"/>
            <a:ext cx="2340864" cy="475488"/>
          </a:xfrm>
          <a:prstGeom prst="roundRect">
            <a:avLst>
              <a:gd name="adj" fmla="val 10000"/>
            </a:avLst>
          </a:prstGeom>
          <a:solidFill>
            <a:srgbClr val="F0F9F6"/>
          </a:solidFill>
          <a:ln w="8890">
            <a:solidFill>
              <a:srgbClr val="8ED0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036244"/>
                </a:solidFill>
                <a:latin typeface="Calibri"/>
              </a:rPr>
              <a:t>Shapely</a:t>
            </a:r>
          </a:p>
          <a:p>
            <a:pPr algn="l">
              <a:lnSpc>
                <a:spcPct val="90000"/>
              </a:lnSpc>
              <a:spcAft>
                <a:spcPts val="100"/>
              </a:spcAft>
            </a:pPr>
            <a:r>
              <a:rPr sz="580" b="0" i="0">
                <a:solidFill>
                  <a:srgbClr val="6B7280"/>
                </a:solidFill>
                <a:latin typeface="Calibri"/>
              </a:rPr>
              <a:t>flood-zone shapes</a:t>
            </a:r>
          </a:p>
        </p:txBody>
      </p:sp>
      <p:sp>
        <p:nvSpPr>
          <p:cNvPr id="20" name="Rounded Rectangle 19"/>
          <p:cNvSpPr/>
          <p:nvPr/>
        </p:nvSpPr>
        <p:spPr>
          <a:xfrm>
            <a:off x="2587751" y="3328416"/>
            <a:ext cx="2340864" cy="475488"/>
          </a:xfrm>
          <a:prstGeom prst="roundRect">
            <a:avLst>
              <a:gd name="adj" fmla="val 10000"/>
            </a:avLst>
          </a:prstGeom>
          <a:solidFill>
            <a:srgbClr val="F0F9F6"/>
          </a:solidFill>
          <a:ln w="8890">
            <a:solidFill>
              <a:srgbClr val="8ED0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036244"/>
                </a:solidFill>
                <a:latin typeface="Calibri"/>
              </a:rPr>
              <a:t>PyProj</a:t>
            </a:r>
          </a:p>
          <a:p>
            <a:pPr algn="l">
              <a:lnSpc>
                <a:spcPct val="90000"/>
              </a:lnSpc>
              <a:spcAft>
                <a:spcPts val="100"/>
              </a:spcAft>
            </a:pPr>
            <a:r>
              <a:rPr sz="580" b="0" i="0">
                <a:solidFill>
                  <a:srgbClr val="6B7280"/>
                </a:solidFill>
                <a:latin typeface="Calibri"/>
              </a:rPr>
              <a:t>converts between coordinate systems</a:t>
            </a:r>
          </a:p>
        </p:txBody>
      </p:sp>
      <p:sp>
        <p:nvSpPr>
          <p:cNvPr id="21" name="Rounded Rectangle 20"/>
          <p:cNvSpPr/>
          <p:nvPr/>
        </p:nvSpPr>
        <p:spPr>
          <a:xfrm>
            <a:off x="2587751" y="3877056"/>
            <a:ext cx="2340864" cy="475488"/>
          </a:xfrm>
          <a:prstGeom prst="roundRect">
            <a:avLst>
              <a:gd name="adj" fmla="val 10000"/>
            </a:avLst>
          </a:prstGeom>
          <a:solidFill>
            <a:srgbClr val="F0F9F6"/>
          </a:solidFill>
          <a:ln w="8890">
            <a:solidFill>
              <a:srgbClr val="8ED0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036244"/>
                </a:solidFill>
                <a:latin typeface="Calibri"/>
              </a:rPr>
              <a:t>xarray</a:t>
            </a:r>
          </a:p>
          <a:p>
            <a:pPr algn="l">
              <a:lnSpc>
                <a:spcPct val="90000"/>
              </a:lnSpc>
              <a:spcAft>
                <a:spcPts val="100"/>
              </a:spcAft>
            </a:pPr>
            <a:r>
              <a:rPr sz="580" b="0" i="0">
                <a:solidFill>
                  <a:srgbClr val="6B7280"/>
                </a:solidFill>
                <a:latin typeface="Calibri"/>
              </a:rPr>
              <a:t>time-series flood data</a:t>
            </a:r>
          </a:p>
        </p:txBody>
      </p:sp>
      <p:sp>
        <p:nvSpPr>
          <p:cNvPr id="22" name="Rounded Rectangle 21"/>
          <p:cNvSpPr/>
          <p:nvPr/>
        </p:nvSpPr>
        <p:spPr>
          <a:xfrm>
            <a:off x="2587751" y="4425696"/>
            <a:ext cx="2340864" cy="475488"/>
          </a:xfrm>
          <a:prstGeom prst="roundRect">
            <a:avLst>
              <a:gd name="adj" fmla="val 10000"/>
            </a:avLst>
          </a:prstGeom>
          <a:solidFill>
            <a:srgbClr val="F0F9F6"/>
          </a:solidFill>
          <a:ln w="8890">
            <a:solidFill>
              <a:srgbClr val="8ED0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036244"/>
                </a:solidFill>
                <a:latin typeface="Calibri"/>
              </a:rPr>
              <a:t>Earth Engine</a:t>
            </a:r>
          </a:p>
          <a:p>
            <a:pPr algn="l">
              <a:lnSpc>
                <a:spcPct val="90000"/>
              </a:lnSpc>
              <a:spcAft>
                <a:spcPts val="100"/>
              </a:spcAft>
            </a:pPr>
            <a:r>
              <a:rPr sz="580" b="0" i="0">
                <a:solidFill>
                  <a:srgbClr val="6B7280"/>
                </a:solidFill>
                <a:latin typeface="Calibri"/>
              </a:rPr>
              <a:t>radar flood and population layers</a:t>
            </a:r>
          </a:p>
        </p:txBody>
      </p:sp>
      <p:sp>
        <p:nvSpPr>
          <p:cNvPr id="23" name="Rounded Rectangle 22"/>
          <p:cNvSpPr/>
          <p:nvPr/>
        </p:nvSpPr>
        <p:spPr>
          <a:xfrm>
            <a:off x="5102352" y="896112"/>
            <a:ext cx="2231136" cy="676656"/>
          </a:xfrm>
          <a:prstGeom prst="roundRect">
            <a:avLst>
              <a:gd name="adj" fmla="val 8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60" b="1" i="0">
                <a:solidFill>
                  <a:srgbClr val="FFFFFF"/>
                </a:solidFill>
                <a:latin typeface="Calibri"/>
              </a:rPr>
              <a:t>SERVER AND API</a:t>
            </a:r>
          </a:p>
          <a:p>
            <a:pPr algn="ctr">
              <a:lnSpc>
                <a:spcPct val="90000"/>
              </a:lnSpc>
              <a:spcAft>
                <a:spcPts val="100"/>
              </a:spcAft>
            </a:pPr>
            <a:r>
              <a:rPr sz="600" b="0" i="0">
                <a:solidFill>
                  <a:srgbClr val="D1E9F5"/>
                </a:solidFill>
                <a:latin typeface="Calibri"/>
              </a:rPr>
              <a:t>Coordinates the work,
never blocks the page</a:t>
            </a:r>
          </a:p>
        </p:txBody>
      </p:sp>
      <p:sp>
        <p:nvSpPr>
          <p:cNvPr id="24" name="Rounded Rectangle 23"/>
          <p:cNvSpPr/>
          <p:nvPr/>
        </p:nvSpPr>
        <p:spPr>
          <a:xfrm>
            <a:off x="5129784" y="1682496"/>
            <a:ext cx="2176272" cy="475488"/>
          </a:xfrm>
          <a:prstGeom prst="roundRect">
            <a:avLst>
              <a:gd name="adj" fmla="val 10000"/>
            </a:avLst>
          </a:prstGeom>
          <a:solidFill>
            <a:srgbClr val="F0F8FC"/>
          </a:solidFill>
          <a:ln w="889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015681"/>
                </a:solidFill>
                <a:latin typeface="Calibri"/>
              </a:rPr>
              <a:t>FastAPI</a:t>
            </a:r>
          </a:p>
          <a:p>
            <a:pPr algn="l">
              <a:lnSpc>
                <a:spcPct val="90000"/>
              </a:lnSpc>
              <a:spcAft>
                <a:spcPts val="100"/>
              </a:spcAft>
            </a:pPr>
            <a:r>
              <a:rPr sz="580" b="0" i="0">
                <a:solidFill>
                  <a:srgbClr val="6B7280"/>
                </a:solidFill>
                <a:latin typeface="Calibri"/>
              </a:rPr>
              <a:t>the web service</a:t>
            </a:r>
          </a:p>
        </p:txBody>
      </p:sp>
      <p:sp>
        <p:nvSpPr>
          <p:cNvPr id="25" name="Rounded Rectangle 24"/>
          <p:cNvSpPr/>
          <p:nvPr/>
        </p:nvSpPr>
        <p:spPr>
          <a:xfrm>
            <a:off x="5129784" y="2231136"/>
            <a:ext cx="2176272" cy="475488"/>
          </a:xfrm>
          <a:prstGeom prst="roundRect">
            <a:avLst>
              <a:gd name="adj" fmla="val 10000"/>
            </a:avLst>
          </a:prstGeom>
          <a:solidFill>
            <a:srgbClr val="F0F8FC"/>
          </a:solidFill>
          <a:ln w="889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015681"/>
                </a:solidFill>
                <a:latin typeface="Calibri"/>
              </a:rPr>
              <a:t>Uvicorn</a:t>
            </a:r>
          </a:p>
          <a:p>
            <a:pPr algn="l">
              <a:lnSpc>
                <a:spcPct val="90000"/>
              </a:lnSpc>
              <a:spcAft>
                <a:spcPts val="100"/>
              </a:spcAft>
            </a:pPr>
            <a:r>
              <a:rPr sz="580" b="0" i="0">
                <a:solidFill>
                  <a:srgbClr val="6B7280"/>
                </a:solidFill>
                <a:latin typeface="Calibri"/>
              </a:rPr>
              <a:t>runs it</a:t>
            </a:r>
          </a:p>
        </p:txBody>
      </p:sp>
      <p:sp>
        <p:nvSpPr>
          <p:cNvPr id="26" name="Rounded Rectangle 25"/>
          <p:cNvSpPr/>
          <p:nvPr/>
        </p:nvSpPr>
        <p:spPr>
          <a:xfrm>
            <a:off x="5129784" y="2779776"/>
            <a:ext cx="2176272" cy="475488"/>
          </a:xfrm>
          <a:prstGeom prst="roundRect">
            <a:avLst>
              <a:gd name="adj" fmla="val 10000"/>
            </a:avLst>
          </a:prstGeom>
          <a:solidFill>
            <a:srgbClr val="F0F8FC"/>
          </a:solidFill>
          <a:ln w="889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015681"/>
                </a:solidFill>
                <a:latin typeface="Calibri"/>
              </a:rPr>
              <a:t>Pydantic</a:t>
            </a:r>
          </a:p>
          <a:p>
            <a:pPr algn="l">
              <a:lnSpc>
                <a:spcPct val="90000"/>
              </a:lnSpc>
              <a:spcAft>
                <a:spcPts val="100"/>
              </a:spcAft>
            </a:pPr>
            <a:r>
              <a:rPr sz="580" b="0" i="0">
                <a:solidFill>
                  <a:srgbClr val="6B7280"/>
                </a:solidFill>
                <a:latin typeface="Calibri"/>
              </a:rPr>
              <a:t>validates every input</a:t>
            </a:r>
          </a:p>
        </p:txBody>
      </p:sp>
      <p:sp>
        <p:nvSpPr>
          <p:cNvPr id="27" name="Rounded Rectangle 26"/>
          <p:cNvSpPr/>
          <p:nvPr/>
        </p:nvSpPr>
        <p:spPr>
          <a:xfrm>
            <a:off x="5129784" y="3328416"/>
            <a:ext cx="2176272" cy="475488"/>
          </a:xfrm>
          <a:prstGeom prst="roundRect">
            <a:avLst>
              <a:gd name="adj" fmla="val 10000"/>
            </a:avLst>
          </a:prstGeom>
          <a:solidFill>
            <a:srgbClr val="F0F8FC"/>
          </a:solidFill>
          <a:ln w="889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015681"/>
                </a:solidFill>
                <a:latin typeface="Calibri"/>
              </a:rPr>
              <a:t>SQLite</a:t>
            </a:r>
          </a:p>
          <a:p>
            <a:pPr algn="l">
              <a:lnSpc>
                <a:spcPct val="90000"/>
              </a:lnSpc>
              <a:spcAft>
                <a:spcPts val="100"/>
              </a:spcAft>
            </a:pPr>
            <a:r>
              <a:rPr sz="580" b="0" i="0">
                <a:solidFill>
                  <a:srgbClr val="6B7280"/>
                </a:solidFill>
                <a:latin typeface="Calibri"/>
              </a:rPr>
              <a:t>keeps the run history</a:t>
            </a:r>
          </a:p>
        </p:txBody>
      </p:sp>
      <p:sp>
        <p:nvSpPr>
          <p:cNvPr id="28" name="Rounded Rectangle 27"/>
          <p:cNvSpPr/>
          <p:nvPr/>
        </p:nvSpPr>
        <p:spPr>
          <a:xfrm>
            <a:off x="5129784" y="3877056"/>
            <a:ext cx="2176272" cy="475488"/>
          </a:xfrm>
          <a:prstGeom prst="roundRect">
            <a:avLst>
              <a:gd name="adj" fmla="val 10000"/>
            </a:avLst>
          </a:prstGeom>
          <a:solidFill>
            <a:srgbClr val="F0F8FC"/>
          </a:solidFill>
          <a:ln w="889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015681"/>
                </a:solidFill>
                <a:latin typeface="Calibri"/>
              </a:rPr>
              <a:t>Celery</a:t>
            </a:r>
          </a:p>
          <a:p>
            <a:pPr algn="l">
              <a:lnSpc>
                <a:spcPct val="90000"/>
              </a:lnSpc>
              <a:spcAft>
                <a:spcPts val="100"/>
              </a:spcAft>
            </a:pPr>
            <a:r>
              <a:rPr sz="580" b="0" i="0">
                <a:solidFill>
                  <a:srgbClr val="6B7280"/>
                </a:solidFill>
                <a:latin typeface="Calibri"/>
              </a:rPr>
              <a:t>optional distributed worker</a:t>
            </a:r>
          </a:p>
        </p:txBody>
      </p:sp>
      <p:sp>
        <p:nvSpPr>
          <p:cNvPr id="29" name="Rounded Rectangle 28"/>
          <p:cNvSpPr/>
          <p:nvPr/>
        </p:nvSpPr>
        <p:spPr>
          <a:xfrm>
            <a:off x="7498079" y="896112"/>
            <a:ext cx="2286000" cy="676656"/>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60" b="1" i="0">
                <a:solidFill>
                  <a:srgbClr val="FFFFFF"/>
                </a:solidFill>
                <a:latin typeface="Calibri"/>
              </a:rPr>
              <a:t>WHAT PEOPLE SEE</a:t>
            </a:r>
          </a:p>
          <a:p>
            <a:pPr algn="ctr">
              <a:lnSpc>
                <a:spcPct val="90000"/>
              </a:lnSpc>
              <a:spcAft>
                <a:spcPts val="100"/>
              </a:spcAft>
            </a:pPr>
            <a:r>
              <a:rPr sz="600" b="0" i="0">
                <a:solidFill>
                  <a:srgbClr val="E7DCFC"/>
                </a:solidFill>
                <a:latin typeface="Calibri"/>
              </a:rPr>
              <a:t>Maps, globe and charts
in the browser</a:t>
            </a:r>
          </a:p>
        </p:txBody>
      </p:sp>
      <p:sp>
        <p:nvSpPr>
          <p:cNvPr id="30" name="Rounded Rectangle 29"/>
          <p:cNvSpPr/>
          <p:nvPr/>
        </p:nvSpPr>
        <p:spPr>
          <a:xfrm>
            <a:off x="7525511" y="1682496"/>
            <a:ext cx="2231136" cy="475488"/>
          </a:xfrm>
          <a:prstGeom prst="roundRect">
            <a:avLst>
              <a:gd name="adj" fmla="val 10000"/>
            </a:avLst>
          </a:prstGeom>
          <a:solidFill>
            <a:srgbClr val="F7F3FE"/>
          </a:solidFill>
          <a:ln w="889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51269A"/>
                </a:solidFill>
                <a:latin typeface="Calibri"/>
              </a:rPr>
              <a:t>React</a:t>
            </a:r>
          </a:p>
          <a:p>
            <a:pPr algn="l">
              <a:lnSpc>
                <a:spcPct val="90000"/>
              </a:lnSpc>
              <a:spcAft>
                <a:spcPts val="100"/>
              </a:spcAft>
            </a:pPr>
            <a:r>
              <a:rPr sz="580" b="0" i="0">
                <a:solidFill>
                  <a:srgbClr val="6B7280"/>
                </a:solidFill>
                <a:latin typeface="Calibri"/>
              </a:rPr>
              <a:t>the interface</a:t>
            </a:r>
          </a:p>
        </p:txBody>
      </p:sp>
      <p:sp>
        <p:nvSpPr>
          <p:cNvPr id="31" name="Rounded Rectangle 30"/>
          <p:cNvSpPr/>
          <p:nvPr/>
        </p:nvSpPr>
        <p:spPr>
          <a:xfrm>
            <a:off x="7525511" y="2231136"/>
            <a:ext cx="2231136" cy="475488"/>
          </a:xfrm>
          <a:prstGeom prst="roundRect">
            <a:avLst>
              <a:gd name="adj" fmla="val 10000"/>
            </a:avLst>
          </a:prstGeom>
          <a:solidFill>
            <a:srgbClr val="F7F3FE"/>
          </a:solidFill>
          <a:ln w="889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51269A"/>
                </a:solidFill>
                <a:latin typeface="Calibri"/>
              </a:rPr>
              <a:t>Vite</a:t>
            </a:r>
          </a:p>
          <a:p>
            <a:pPr algn="l">
              <a:lnSpc>
                <a:spcPct val="90000"/>
              </a:lnSpc>
              <a:spcAft>
                <a:spcPts val="100"/>
              </a:spcAft>
            </a:pPr>
            <a:r>
              <a:rPr sz="580" b="0" i="0">
                <a:solidFill>
                  <a:srgbClr val="6B7280"/>
                </a:solidFill>
                <a:latin typeface="Calibri"/>
              </a:rPr>
              <a:t>instant reloads while building</a:t>
            </a:r>
          </a:p>
        </p:txBody>
      </p:sp>
      <p:sp>
        <p:nvSpPr>
          <p:cNvPr id="32" name="Rounded Rectangle 31"/>
          <p:cNvSpPr/>
          <p:nvPr/>
        </p:nvSpPr>
        <p:spPr>
          <a:xfrm>
            <a:off x="7525511" y="2779776"/>
            <a:ext cx="2231136" cy="475488"/>
          </a:xfrm>
          <a:prstGeom prst="roundRect">
            <a:avLst>
              <a:gd name="adj" fmla="val 10000"/>
            </a:avLst>
          </a:prstGeom>
          <a:solidFill>
            <a:srgbClr val="F7F3FE"/>
          </a:solidFill>
          <a:ln w="889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51269A"/>
                </a:solidFill>
                <a:latin typeface="Calibri"/>
              </a:rPr>
              <a:t>Leaflet</a:t>
            </a:r>
          </a:p>
          <a:p>
            <a:pPr algn="l">
              <a:lnSpc>
                <a:spcPct val="90000"/>
              </a:lnSpc>
              <a:spcAft>
                <a:spcPts val="100"/>
              </a:spcAft>
            </a:pPr>
            <a:r>
              <a:rPr sz="580" b="0" i="0">
                <a:solidFill>
                  <a:srgbClr val="6B7280"/>
                </a:solidFill>
                <a:latin typeface="Calibri"/>
              </a:rPr>
              <a:t>the 2D flood map</a:t>
            </a:r>
          </a:p>
        </p:txBody>
      </p:sp>
      <p:sp>
        <p:nvSpPr>
          <p:cNvPr id="33" name="Rounded Rectangle 32"/>
          <p:cNvSpPr/>
          <p:nvPr/>
        </p:nvSpPr>
        <p:spPr>
          <a:xfrm>
            <a:off x="7525511" y="3328416"/>
            <a:ext cx="2231136" cy="475488"/>
          </a:xfrm>
          <a:prstGeom prst="roundRect">
            <a:avLst>
              <a:gd name="adj" fmla="val 10000"/>
            </a:avLst>
          </a:prstGeom>
          <a:solidFill>
            <a:srgbClr val="F7F3FE"/>
          </a:solidFill>
          <a:ln w="889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51269A"/>
                </a:solidFill>
                <a:latin typeface="Calibri"/>
              </a:rPr>
              <a:t>CesiumJS</a:t>
            </a:r>
          </a:p>
          <a:p>
            <a:pPr algn="l">
              <a:lnSpc>
                <a:spcPct val="90000"/>
              </a:lnSpc>
              <a:spcAft>
                <a:spcPts val="100"/>
              </a:spcAft>
            </a:pPr>
            <a:r>
              <a:rPr sz="580" b="0" i="0">
                <a:solidFill>
                  <a:srgbClr val="6B7280"/>
                </a:solidFill>
                <a:latin typeface="Calibri"/>
              </a:rPr>
              <a:t>the 3D globe with real terrain</a:t>
            </a:r>
          </a:p>
        </p:txBody>
      </p:sp>
      <p:sp>
        <p:nvSpPr>
          <p:cNvPr id="34" name="Rounded Rectangle 33"/>
          <p:cNvSpPr/>
          <p:nvPr/>
        </p:nvSpPr>
        <p:spPr>
          <a:xfrm>
            <a:off x="7525511" y="3877056"/>
            <a:ext cx="2231136" cy="475488"/>
          </a:xfrm>
          <a:prstGeom prst="roundRect">
            <a:avLst>
              <a:gd name="adj" fmla="val 10000"/>
            </a:avLst>
          </a:prstGeom>
          <a:solidFill>
            <a:srgbClr val="F7F3FE"/>
          </a:solidFill>
          <a:ln w="889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51269A"/>
                </a:solidFill>
                <a:latin typeface="Calibri"/>
              </a:rPr>
              <a:t>Recharts</a:t>
            </a:r>
          </a:p>
          <a:p>
            <a:pPr algn="l">
              <a:lnSpc>
                <a:spcPct val="90000"/>
              </a:lnSpc>
              <a:spcAft>
                <a:spcPts val="100"/>
              </a:spcAft>
            </a:pPr>
            <a:r>
              <a:rPr sz="580" b="0" i="0">
                <a:solidFill>
                  <a:srgbClr val="6B7280"/>
                </a:solidFill>
                <a:latin typeface="Calibri"/>
              </a:rPr>
              <a:t>arrival-time and depth charts</a:t>
            </a:r>
          </a:p>
        </p:txBody>
      </p:sp>
      <p:sp>
        <p:nvSpPr>
          <p:cNvPr id="35" name="Rounded Rectangle 34"/>
          <p:cNvSpPr/>
          <p:nvPr/>
        </p:nvSpPr>
        <p:spPr>
          <a:xfrm>
            <a:off x="7525511" y="4425696"/>
            <a:ext cx="2231136" cy="475488"/>
          </a:xfrm>
          <a:prstGeom prst="roundRect">
            <a:avLst>
              <a:gd name="adj" fmla="val 10000"/>
            </a:avLst>
          </a:prstGeom>
          <a:solidFill>
            <a:srgbClr val="F7F3FE"/>
          </a:solidFill>
          <a:ln w="889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51269A"/>
                </a:solidFill>
                <a:latin typeface="Calibri"/>
              </a:rPr>
              <a:t>ParaView</a:t>
            </a:r>
          </a:p>
          <a:p>
            <a:pPr algn="l">
              <a:lnSpc>
                <a:spcPct val="90000"/>
              </a:lnSpc>
              <a:spcAft>
                <a:spcPts val="100"/>
              </a:spcAft>
            </a:pPr>
            <a:r>
              <a:rPr sz="580" b="0" i="0">
                <a:solidFill>
                  <a:srgbClr val="6B7280"/>
                </a:solidFill>
                <a:latin typeface="Calibri"/>
              </a:rPr>
              <a:t>cinematic flood animation</a:t>
            </a:r>
          </a:p>
        </p:txBody>
      </p:sp>
      <p:sp>
        <p:nvSpPr>
          <p:cNvPr id="36" name="Rounded Rectangle 35"/>
          <p:cNvSpPr/>
          <p:nvPr/>
        </p:nvSpPr>
        <p:spPr>
          <a:xfrm>
            <a:off x="9948672" y="896112"/>
            <a:ext cx="2039112" cy="676656"/>
          </a:xfrm>
          <a:prstGeom prst="roundRect">
            <a:avLst>
              <a:gd name="adj" fmla="val 8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60" b="1" i="0">
                <a:solidFill>
                  <a:srgbClr val="FFFFFF"/>
                </a:solidFill>
                <a:latin typeface="Calibri"/>
              </a:rPr>
              <a:t>PACKAGE AND PROVE</a:t>
            </a:r>
          </a:p>
          <a:p>
            <a:pPr algn="ctr">
              <a:lnSpc>
                <a:spcPct val="90000"/>
              </a:lnSpc>
              <a:spcAft>
                <a:spcPts val="100"/>
              </a:spcAft>
            </a:pPr>
            <a:r>
              <a:rPr sz="600" b="0" i="0">
                <a:solidFill>
                  <a:srgbClr val="FBE1D3"/>
                </a:solidFill>
                <a:latin typeface="Calibri"/>
              </a:rPr>
              <a:t>Ships anywhere,
tests every change</a:t>
            </a:r>
          </a:p>
        </p:txBody>
      </p:sp>
      <p:sp>
        <p:nvSpPr>
          <p:cNvPr id="37" name="Rounded Rectangle 36"/>
          <p:cNvSpPr/>
          <p:nvPr/>
        </p:nvSpPr>
        <p:spPr>
          <a:xfrm>
            <a:off x="9976104" y="1682496"/>
            <a:ext cx="1984248" cy="475488"/>
          </a:xfrm>
          <a:prstGeom prst="roundRect">
            <a:avLst>
              <a:gd name="adj" fmla="val 10000"/>
            </a:avLst>
          </a:prstGeom>
          <a:solidFill>
            <a:srgbClr val="FEF5F0"/>
          </a:solidFill>
          <a:ln w="8890">
            <a:solidFill>
              <a:srgbClr val="F6B49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983908"/>
                </a:solidFill>
                <a:latin typeface="Calibri"/>
              </a:rPr>
              <a:t>Docker</a:t>
            </a:r>
          </a:p>
          <a:p>
            <a:pPr algn="l">
              <a:lnSpc>
                <a:spcPct val="90000"/>
              </a:lnSpc>
              <a:spcAft>
                <a:spcPts val="100"/>
              </a:spcAft>
            </a:pPr>
            <a:r>
              <a:rPr sz="580" b="0" i="0">
                <a:solidFill>
                  <a:srgbClr val="6B7280"/>
                </a:solidFill>
                <a:latin typeface="Calibri"/>
              </a:rPr>
              <a:t>the whole system, one command</a:t>
            </a:r>
          </a:p>
        </p:txBody>
      </p:sp>
      <p:sp>
        <p:nvSpPr>
          <p:cNvPr id="38" name="Rounded Rectangle 37"/>
          <p:cNvSpPr/>
          <p:nvPr/>
        </p:nvSpPr>
        <p:spPr>
          <a:xfrm>
            <a:off x="9976104" y="2231136"/>
            <a:ext cx="1984248" cy="475488"/>
          </a:xfrm>
          <a:prstGeom prst="roundRect">
            <a:avLst>
              <a:gd name="adj" fmla="val 10000"/>
            </a:avLst>
          </a:prstGeom>
          <a:solidFill>
            <a:srgbClr val="FEF5F0"/>
          </a:solidFill>
          <a:ln w="8890">
            <a:solidFill>
              <a:srgbClr val="F6B49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983908"/>
                </a:solidFill>
                <a:latin typeface="Calibri"/>
              </a:rPr>
              <a:t>Pytest</a:t>
            </a:r>
          </a:p>
          <a:p>
            <a:pPr algn="l">
              <a:lnSpc>
                <a:spcPct val="90000"/>
              </a:lnSpc>
              <a:spcAft>
                <a:spcPts val="100"/>
              </a:spcAft>
            </a:pPr>
            <a:r>
              <a:rPr sz="580" b="0" i="0">
                <a:solidFill>
                  <a:srgbClr val="6B7280"/>
                </a:solidFill>
                <a:latin typeface="Calibri"/>
              </a:rPr>
              <a:t>the automated test suite</a:t>
            </a:r>
          </a:p>
        </p:txBody>
      </p:sp>
      <p:sp>
        <p:nvSpPr>
          <p:cNvPr id="39" name="Rounded Rectangle 38"/>
          <p:cNvSpPr/>
          <p:nvPr/>
        </p:nvSpPr>
        <p:spPr>
          <a:xfrm>
            <a:off x="9976104" y="2779776"/>
            <a:ext cx="1984248" cy="475488"/>
          </a:xfrm>
          <a:prstGeom prst="roundRect">
            <a:avLst>
              <a:gd name="adj" fmla="val 10000"/>
            </a:avLst>
          </a:prstGeom>
          <a:solidFill>
            <a:srgbClr val="FEF5F0"/>
          </a:solidFill>
          <a:ln w="8890">
            <a:solidFill>
              <a:srgbClr val="F6B49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983908"/>
                </a:solidFill>
                <a:latin typeface="Calibri"/>
              </a:rPr>
              <a:t>Ruff</a:t>
            </a:r>
          </a:p>
          <a:p>
            <a:pPr algn="l">
              <a:lnSpc>
                <a:spcPct val="90000"/>
              </a:lnSpc>
              <a:spcAft>
                <a:spcPts val="100"/>
              </a:spcAft>
            </a:pPr>
            <a:r>
              <a:rPr sz="580" b="0" i="0">
                <a:solidFill>
                  <a:srgbClr val="6B7280"/>
                </a:solidFill>
                <a:latin typeface="Calibri"/>
              </a:rPr>
              <a:t>keeps the code clean</a:t>
            </a:r>
          </a:p>
        </p:txBody>
      </p:sp>
      <p:sp>
        <p:nvSpPr>
          <p:cNvPr id="40" name="Rounded Rectangle 39"/>
          <p:cNvSpPr/>
          <p:nvPr/>
        </p:nvSpPr>
        <p:spPr>
          <a:xfrm>
            <a:off x="9976104" y="3328416"/>
            <a:ext cx="1984248" cy="475488"/>
          </a:xfrm>
          <a:prstGeom prst="roundRect">
            <a:avLst>
              <a:gd name="adj" fmla="val 10000"/>
            </a:avLst>
          </a:prstGeom>
          <a:solidFill>
            <a:srgbClr val="FEF5F0"/>
          </a:solidFill>
          <a:ln w="8890">
            <a:solidFill>
              <a:srgbClr val="F6B49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983908"/>
                </a:solidFill>
                <a:latin typeface="Calibri"/>
              </a:rPr>
              <a:t>GitHub Actions</a:t>
            </a:r>
          </a:p>
          <a:p>
            <a:pPr algn="l">
              <a:lnSpc>
                <a:spcPct val="90000"/>
              </a:lnSpc>
              <a:spcAft>
                <a:spcPts val="100"/>
              </a:spcAft>
            </a:pPr>
            <a:r>
              <a:rPr sz="580" b="0" i="0">
                <a:solidFill>
                  <a:srgbClr val="6B7280"/>
                </a:solidFill>
                <a:latin typeface="Calibri"/>
              </a:rPr>
              <a:t>re-runs the gates on every change</a:t>
            </a:r>
          </a:p>
        </p:txBody>
      </p:sp>
      <p:sp>
        <p:nvSpPr>
          <p:cNvPr id="41" name="Rounded Rectangle 40"/>
          <p:cNvSpPr/>
          <p:nvPr/>
        </p:nvSpPr>
        <p:spPr>
          <a:xfrm rot="21564000">
            <a:off x="9976104" y="4023360"/>
            <a:ext cx="1984248" cy="1115568"/>
          </a:xfrm>
          <a:prstGeom prst="roundRect">
            <a:avLst>
              <a:gd name="adj" fmla="val 14000"/>
            </a:avLst>
          </a:prstGeom>
          <a:solidFill>
            <a:srgbClr val="FBF1E6"/>
          </a:solidFill>
          <a:ln w="1143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ctr">
              <a:lnSpc>
                <a:spcPct val="92000"/>
              </a:lnSpc>
              <a:spcAft>
                <a:spcPts val="100"/>
              </a:spcAft>
            </a:pPr>
            <a:r>
              <a:rPr sz="640" b="0" i="1">
                <a:solidFill>
                  <a:srgbClr val="824704"/>
                </a:solidFill>
                <a:latin typeface="Calibri"/>
              </a:rPr>
              <a:t>The one line item a conventional study cannot avoid — the licensed modelling package — simply has no equivalent on this slide.</a:t>
            </a:r>
          </a:p>
        </p:txBody>
      </p:sp>
      <p:sp>
        <p:nvSpPr>
          <p:cNvPr id="42" name="Rounded Rectangle 41"/>
          <p:cNvSpPr/>
          <p:nvPr/>
        </p:nvSpPr>
        <p:spPr>
          <a:xfrm>
            <a:off x="201168" y="5230368"/>
            <a:ext cx="11786616" cy="1170432"/>
          </a:xfrm>
          <a:prstGeom prst="roundRect">
            <a:avLst>
              <a:gd name="adj" fmla="val 5000"/>
            </a:avLst>
          </a:prstGeom>
          <a:solidFill>
            <a:srgbClr val="F1F3F5"/>
          </a:solidFill>
          <a:ln w="19050">
            <a:solidFill>
              <a:srgbClr val="14305A"/>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43" name="Rounded Rectangle 42"/>
          <p:cNvSpPr/>
          <p:nvPr/>
        </p:nvSpPr>
        <p:spPr>
          <a:xfrm>
            <a:off x="384048" y="5125212"/>
            <a:ext cx="8828532" cy="219456"/>
          </a:xfrm>
          <a:prstGeom prst="roundRect">
            <a:avLst>
              <a:gd name="adj" fmla="val 30000"/>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2000"/>
              </a:lnSpc>
              <a:spcAft>
                <a:spcPts val="100"/>
              </a:spcAft>
            </a:pPr>
            <a:r>
              <a:rPr sz="760" b="1" i="0">
                <a:solidFill>
                  <a:srgbClr val="FFFFFF"/>
                </a:solidFill>
                <a:latin typeface="Calibri"/>
              </a:rPr>
              <a:t>WHERE THE DATA COMES FROM  —  free, open, and cached so demo day needs no network</a:t>
            </a:r>
          </a:p>
        </p:txBody>
      </p:sp>
      <p:sp>
        <p:nvSpPr>
          <p:cNvPr id="44" name="Rounded Rectangle 43"/>
          <p:cNvSpPr/>
          <p:nvPr/>
        </p:nvSpPr>
        <p:spPr>
          <a:xfrm>
            <a:off x="365760" y="5468112"/>
            <a:ext cx="1975104" cy="658368"/>
          </a:xfrm>
          <a:prstGeom prst="roundRect">
            <a:avLst>
              <a:gd name="adj" fmla="val 10000"/>
            </a:avLst>
          </a:prstGeom>
          <a:solidFill>
            <a:srgbClr val="E3E6EB"/>
          </a:solidFill>
          <a:ln w="12700">
            <a:solidFill>
              <a:srgbClr val="1430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8000"/>
              </a:lnSpc>
              <a:spcAft>
                <a:spcPts val="100"/>
              </a:spcAft>
            </a:pPr>
            <a:r>
              <a:rPr sz="700" b="1" i="0">
                <a:solidFill>
                  <a:srgbClr val="0D1F3A"/>
                </a:solidFill>
                <a:latin typeface="Calibri"/>
              </a:rPr>
              <a:t>Copernicus Ground Height</a:t>
            </a:r>
          </a:p>
          <a:p>
            <a:pPr algn="ctr">
              <a:lnSpc>
                <a:spcPct val="90000"/>
              </a:lnSpc>
              <a:spcAft>
                <a:spcPts val="100"/>
              </a:spcAft>
            </a:pPr>
            <a:r>
              <a:rPr sz="560" b="0" i="0">
                <a:solidFill>
                  <a:srgbClr val="6B7280"/>
                </a:solidFill>
                <a:latin typeface="Calibri"/>
              </a:rPr>
              <a:t>European Space Agency · 30-metre detail</a:t>
            </a:r>
          </a:p>
        </p:txBody>
      </p:sp>
      <p:sp>
        <p:nvSpPr>
          <p:cNvPr id="45" name="Rounded Rectangle 44"/>
          <p:cNvSpPr/>
          <p:nvPr/>
        </p:nvSpPr>
        <p:spPr>
          <a:xfrm>
            <a:off x="2468880" y="5468112"/>
            <a:ext cx="1847088" cy="658368"/>
          </a:xfrm>
          <a:prstGeom prst="roundRect">
            <a:avLst>
              <a:gd name="adj" fmla="val 10000"/>
            </a:avLst>
          </a:prstGeom>
          <a:solidFill>
            <a:srgbClr val="E1F2ED"/>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8000"/>
              </a:lnSpc>
              <a:spcAft>
                <a:spcPts val="100"/>
              </a:spcAft>
            </a:pPr>
            <a:r>
              <a:rPr sz="700" b="1" i="0">
                <a:solidFill>
                  <a:srgbClr val="036244"/>
                </a:solidFill>
                <a:latin typeface="Calibri"/>
              </a:rPr>
              <a:t>Earth Engine Imagery</a:t>
            </a:r>
          </a:p>
          <a:p>
            <a:pPr algn="ctr">
              <a:lnSpc>
                <a:spcPct val="90000"/>
              </a:lnSpc>
              <a:spcAft>
                <a:spcPts val="100"/>
              </a:spcAft>
            </a:pPr>
            <a:r>
              <a:rPr sz="560" b="0" i="0">
                <a:solidFill>
                  <a:srgbClr val="6B7280"/>
                </a:solidFill>
                <a:latin typeface="Calibri"/>
              </a:rPr>
              <a:t>Radar flood extent and population density</a:t>
            </a:r>
          </a:p>
        </p:txBody>
      </p:sp>
      <p:sp>
        <p:nvSpPr>
          <p:cNvPr id="46" name="Rounded Rectangle 45"/>
          <p:cNvSpPr/>
          <p:nvPr/>
        </p:nvSpPr>
        <p:spPr>
          <a:xfrm>
            <a:off x="4443984" y="5468112"/>
            <a:ext cx="1755648" cy="658368"/>
          </a:xfrm>
          <a:prstGeom prst="roundRect">
            <a:avLst>
              <a:gd name="adj" fmla="val 10000"/>
            </a:avLst>
          </a:prstGeom>
          <a:solidFill>
            <a:srgbClr val="E9EBED"/>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8000"/>
              </a:lnSpc>
              <a:spcAft>
                <a:spcPts val="100"/>
              </a:spcAft>
            </a:pPr>
            <a:r>
              <a:rPr sz="700" b="1" i="0">
                <a:solidFill>
                  <a:srgbClr val="2E3744"/>
                </a:solidFill>
                <a:latin typeface="Calibri"/>
              </a:rPr>
              <a:t>ESA Land Cover</a:t>
            </a:r>
          </a:p>
          <a:p>
            <a:pPr algn="ctr">
              <a:lnSpc>
                <a:spcPct val="90000"/>
              </a:lnSpc>
              <a:spcAft>
                <a:spcPts val="100"/>
              </a:spcAft>
            </a:pPr>
            <a:r>
              <a:rPr sz="560" b="0" i="0">
                <a:solidFill>
                  <a:srgbClr val="6B7280"/>
                </a:solidFill>
                <a:latin typeface="Calibri"/>
              </a:rPr>
              <a:t>Forest, town or farmland at 10 metres</a:t>
            </a:r>
          </a:p>
        </p:txBody>
      </p:sp>
      <p:sp>
        <p:nvSpPr>
          <p:cNvPr id="47" name="Rounded Rectangle 46"/>
          <p:cNvSpPr/>
          <p:nvPr/>
        </p:nvSpPr>
        <p:spPr>
          <a:xfrm>
            <a:off x="6327648" y="5468112"/>
            <a:ext cx="1920240" cy="658368"/>
          </a:xfrm>
          <a:prstGeom prst="roundRect">
            <a:avLst>
              <a:gd name="adj" fmla="val 10000"/>
            </a:avLst>
          </a:prstGeom>
          <a:solidFill>
            <a:srgbClr val="EFE7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8000"/>
              </a:lnSpc>
              <a:spcAft>
                <a:spcPts val="100"/>
              </a:spcAft>
            </a:pPr>
            <a:r>
              <a:rPr sz="700" b="1" i="0">
                <a:solidFill>
                  <a:srgbClr val="51269A"/>
                </a:solidFill>
                <a:latin typeface="Calibri"/>
              </a:rPr>
              <a:t>Delft3D FM</a:t>
            </a:r>
          </a:p>
          <a:p>
            <a:pPr algn="ctr">
              <a:lnSpc>
                <a:spcPct val="90000"/>
              </a:lnSpc>
              <a:spcAft>
                <a:spcPts val="100"/>
              </a:spcAft>
            </a:pPr>
            <a:r>
              <a:rPr sz="560" b="0" i="0">
                <a:solidFill>
                  <a:srgbClr val="6B7280"/>
                </a:solidFill>
                <a:latin typeface="Calibri"/>
              </a:rPr>
              <a:t>Deltares, Netherlands · independent check</a:t>
            </a:r>
          </a:p>
        </p:txBody>
      </p:sp>
      <p:sp>
        <p:nvSpPr>
          <p:cNvPr id="48" name="Rounded Rectangle 47"/>
          <p:cNvSpPr/>
          <p:nvPr/>
        </p:nvSpPr>
        <p:spPr>
          <a:xfrm>
            <a:off x="8375904" y="5468112"/>
            <a:ext cx="1883664" cy="658368"/>
          </a:xfrm>
          <a:prstGeom prst="roundRect">
            <a:avLst>
              <a:gd name="adj" fmla="val 10000"/>
            </a:avLst>
          </a:prstGeom>
          <a:solidFill>
            <a:srgbClr val="E3E6EB"/>
          </a:solidFill>
          <a:ln w="12700">
            <a:solidFill>
              <a:srgbClr val="1430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8000"/>
              </a:lnSpc>
              <a:spcAft>
                <a:spcPts val="100"/>
              </a:spcAft>
            </a:pPr>
            <a:r>
              <a:rPr sz="700" b="1" i="0">
                <a:solidFill>
                  <a:srgbClr val="0D1F3A"/>
                </a:solidFill>
                <a:latin typeface="Calibri"/>
              </a:rPr>
              <a:t>CWC Dam Register</a:t>
            </a:r>
          </a:p>
          <a:p>
            <a:pPr algn="ctr">
              <a:lnSpc>
                <a:spcPct val="90000"/>
              </a:lnSpc>
              <a:spcAft>
                <a:spcPts val="100"/>
              </a:spcAft>
            </a:pPr>
            <a:r>
              <a:rPr sz="560" b="0" i="0">
                <a:solidFill>
                  <a:srgbClr val="6B7280"/>
                </a:solidFill>
                <a:latin typeface="Calibri"/>
              </a:rPr>
              <a:t>The official Indian list, 5,000-plus dams</a:t>
            </a:r>
          </a:p>
        </p:txBody>
      </p:sp>
      <p:sp>
        <p:nvSpPr>
          <p:cNvPr id="49" name="Rounded Rectangle 48"/>
          <p:cNvSpPr/>
          <p:nvPr/>
        </p:nvSpPr>
        <p:spPr>
          <a:xfrm>
            <a:off x="10387584" y="5468112"/>
            <a:ext cx="1472184" cy="658368"/>
          </a:xfrm>
          <a:prstGeom prst="roundRect">
            <a:avLst>
              <a:gd name="adj" fmla="val 10000"/>
            </a:avLst>
          </a:prstGeom>
          <a:solidFill>
            <a:srgbClr val="E9EBED"/>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8000"/>
              </a:lnSpc>
              <a:spcAft>
                <a:spcPts val="100"/>
              </a:spcAft>
            </a:pPr>
            <a:r>
              <a:rPr sz="700" b="1" i="0">
                <a:solidFill>
                  <a:srgbClr val="2E3744"/>
                </a:solidFill>
                <a:latin typeface="Calibri"/>
              </a:rPr>
              <a:t>Local Cache</a:t>
            </a:r>
          </a:p>
          <a:p>
            <a:pPr algn="ctr">
              <a:lnSpc>
                <a:spcPct val="90000"/>
              </a:lnSpc>
              <a:spcAft>
                <a:spcPts val="100"/>
              </a:spcAft>
            </a:pPr>
            <a:r>
              <a:rPr sz="560" b="0" i="0">
                <a:solidFill>
                  <a:srgbClr val="6B7280"/>
                </a:solidFill>
                <a:latin typeface="Calibri"/>
              </a:rPr>
              <a:t>Fetched once, then offline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01168" y="128016"/>
            <a:ext cx="1188720" cy="310896"/>
          </a:xfrm>
          <a:prstGeom prst="roundRect">
            <a:avLst>
              <a:gd name="adj" fmla="val 40000"/>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2860" bIns="22860"/>
          <a:lstStyle/>
          <a:p>
            <a:pPr algn="ctr">
              <a:lnSpc>
                <a:spcPct val="92000"/>
              </a:lnSpc>
              <a:spcAft>
                <a:spcPts val="100"/>
              </a:spcAft>
            </a:pPr>
            <a:r>
              <a:rPr sz="1100" b="1" i="0">
                <a:solidFill>
                  <a:srgbClr val="FFFFFF"/>
                </a:solidFill>
                <a:latin typeface="Calibri"/>
              </a:rPr>
              <a:t>FloodView</a:t>
            </a:r>
          </a:p>
        </p:txBody>
      </p:sp>
      <p:sp>
        <p:nvSpPr>
          <p:cNvPr id="3" name="TextBox 2"/>
          <p:cNvSpPr txBox="1"/>
          <p:nvPr/>
        </p:nvSpPr>
        <p:spPr>
          <a:xfrm>
            <a:off x="201168" y="457200"/>
            <a:ext cx="1463040" cy="182880"/>
          </a:xfrm>
          <a:prstGeom prst="rect">
            <a:avLst/>
          </a:prstGeom>
          <a:noFill/>
        </p:spPr>
        <p:txBody>
          <a:bodyPr wrap="square" anchor="t" lIns="18288" rIns="18288" tIns="0" bIns="0">
            <a:spAutoFit/>
          </a:bodyPr>
          <a:lstStyle/>
          <a:p>
            <a:pPr algn="l">
              <a:lnSpc>
                <a:spcPct val="92000"/>
              </a:lnSpc>
              <a:spcAft>
                <a:spcPts val="100"/>
              </a:spcAft>
            </a:pPr>
            <a:r>
              <a:rPr sz="620" b="0" i="0">
                <a:solidFill>
                  <a:srgbClr val="6B7280"/>
                </a:solidFill>
                <a:latin typeface="Calibri"/>
              </a:rPr>
              <a:t>PS 26161 · NTRO</a:t>
            </a:r>
          </a:p>
        </p:txBody>
      </p:sp>
      <p:sp>
        <p:nvSpPr>
          <p:cNvPr id="4" name="TextBox 3"/>
          <p:cNvSpPr txBox="1"/>
          <p:nvPr/>
        </p:nvSpPr>
        <p:spPr>
          <a:xfrm>
            <a:off x="1554480" y="91440"/>
            <a:ext cx="8732520" cy="384048"/>
          </a:xfrm>
          <a:prstGeom prst="rect">
            <a:avLst/>
          </a:prstGeom>
          <a:noFill/>
        </p:spPr>
        <p:txBody>
          <a:bodyPr wrap="square" anchor="ctr" lIns="18288" rIns="18288" tIns="0" bIns="0">
            <a:spAutoFit/>
          </a:bodyPr>
          <a:lstStyle/>
          <a:p>
            <a:pPr algn="ctr">
              <a:lnSpc>
                <a:spcPct val="92000"/>
              </a:lnSpc>
              <a:spcAft>
                <a:spcPts val="100"/>
              </a:spcAft>
            </a:pPr>
            <a:r>
              <a:rPr sz="2300" b="1" i="0">
                <a:solidFill>
                  <a:srgbClr val="1F2937"/>
                </a:solidFill>
                <a:latin typeface="Calibri"/>
              </a:rPr>
              <a:t>WHO USES IT, AND WHAT FOR</a:t>
            </a:r>
          </a:p>
        </p:txBody>
      </p:sp>
      <p:sp>
        <p:nvSpPr>
          <p:cNvPr id="5" name="TextBox 4"/>
          <p:cNvSpPr txBox="1"/>
          <p:nvPr/>
        </p:nvSpPr>
        <p:spPr>
          <a:xfrm>
            <a:off x="1554480" y="475488"/>
            <a:ext cx="8732520" cy="201168"/>
          </a:xfrm>
          <a:prstGeom prst="rect">
            <a:avLst/>
          </a:prstGeom>
          <a:noFill/>
        </p:spPr>
        <p:txBody>
          <a:bodyPr wrap="square" anchor="t" lIns="18288" rIns="18288" tIns="0" bIns="0">
            <a:spAutoFit/>
          </a:bodyPr>
          <a:lstStyle/>
          <a:p>
            <a:pPr algn="ctr">
              <a:lnSpc>
                <a:spcPct val="92000"/>
              </a:lnSpc>
              <a:spcAft>
                <a:spcPts val="100"/>
              </a:spcAft>
            </a:pPr>
            <a:r>
              <a:rPr sz="819" b="0" i="1">
                <a:solidFill>
                  <a:srgbClr val="6B7280"/>
                </a:solidFill>
                <a:latin typeface="Calibri"/>
              </a:rPr>
              <a:t>Four kinds of user inside the country, four data services outside it, twelve things the system does.</a:t>
            </a:r>
          </a:p>
        </p:txBody>
      </p:sp>
      <p:sp>
        <p:nvSpPr>
          <p:cNvPr id="6" name="TextBox 5"/>
          <p:cNvSpPr txBox="1"/>
          <p:nvPr/>
        </p:nvSpPr>
        <p:spPr>
          <a:xfrm>
            <a:off x="10378440" y="128016"/>
            <a:ext cx="1609344" cy="402336"/>
          </a:xfrm>
          <a:prstGeom prst="rect">
            <a:avLst/>
          </a:prstGeom>
          <a:noFill/>
        </p:spPr>
        <p:txBody>
          <a:bodyPr wrap="square" anchor="t" lIns="18288" rIns="18288" tIns="0" bIns="0">
            <a:spAutoFit/>
          </a:bodyPr>
          <a:lstStyle/>
          <a:p>
            <a:pPr algn="r">
              <a:lnSpc>
                <a:spcPct val="92000"/>
              </a:lnSpc>
              <a:spcAft>
                <a:spcPts val="0"/>
              </a:spcAft>
            </a:pPr>
            <a:r>
              <a:rPr sz="800" b="1" i="0">
                <a:solidFill>
                  <a:srgbClr val="0070C0"/>
                </a:solidFill>
                <a:latin typeface="Calibri"/>
              </a:rPr>
              <a:t>SMART INDIA</a:t>
            </a:r>
          </a:p>
          <a:p>
            <a:pPr algn="r">
              <a:lnSpc>
                <a:spcPct val="92000"/>
              </a:lnSpc>
              <a:spcAft>
                <a:spcPts val="0"/>
              </a:spcAft>
            </a:pPr>
            <a:r>
              <a:rPr sz="800" b="1" i="0">
                <a:solidFill>
                  <a:srgbClr val="0070C0"/>
                </a:solidFill>
                <a:latin typeface="Calibri"/>
              </a:rPr>
              <a:t>HACKATHON 2026</a:t>
            </a:r>
          </a:p>
        </p:txBody>
      </p:sp>
      <p:sp>
        <p:nvSpPr>
          <p:cNvPr id="7" name="Rectangle 6"/>
          <p:cNvSpPr/>
          <p:nvPr/>
        </p:nvSpPr>
        <p:spPr>
          <a:xfrm>
            <a:off x="0" y="6547104"/>
            <a:ext cx="12191695" cy="310896"/>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8" name="TextBox 7"/>
          <p:cNvSpPr txBox="1"/>
          <p:nvPr/>
        </p:nvSpPr>
        <p:spPr>
          <a:xfrm>
            <a:off x="256032" y="6601968"/>
            <a:ext cx="10607040" cy="201168"/>
          </a:xfrm>
          <a:prstGeom prst="rect">
            <a:avLst/>
          </a:prstGeom>
          <a:noFill/>
        </p:spPr>
        <p:txBody>
          <a:bodyPr wrap="square" anchor="t" lIns="18288" rIns="18288" tIns="0" bIns="0">
            <a:spAutoFit/>
          </a:bodyPr>
          <a:lstStyle/>
          <a:p>
            <a:pPr algn="l">
              <a:lnSpc>
                <a:spcPct val="92000"/>
              </a:lnSpc>
              <a:spcAft>
                <a:spcPts val="100"/>
              </a:spcAft>
            </a:pPr>
            <a:r>
              <a:rPr sz="800" b="1" i="0">
                <a:solidFill>
                  <a:srgbClr val="FFFFFF"/>
                </a:solidFill>
                <a:latin typeface="Calibri"/>
              </a:rPr>
              <a:t>One system, four audiences: the operator, the emergency planner, the researcher and the policy maker.</a:t>
            </a:r>
          </a:p>
        </p:txBody>
      </p:sp>
      <p:sp>
        <p:nvSpPr>
          <p:cNvPr id="9" name="TextBox 8"/>
          <p:cNvSpPr txBox="1"/>
          <p:nvPr/>
        </p:nvSpPr>
        <p:spPr>
          <a:xfrm>
            <a:off x="11521440" y="6601968"/>
            <a:ext cx="457200" cy="201168"/>
          </a:xfrm>
          <a:prstGeom prst="rect">
            <a:avLst/>
          </a:prstGeom>
          <a:noFill/>
        </p:spPr>
        <p:txBody>
          <a:bodyPr wrap="square" anchor="t" lIns="18288" rIns="18288" tIns="0" bIns="0">
            <a:spAutoFit/>
          </a:bodyPr>
          <a:lstStyle/>
          <a:p>
            <a:pPr algn="r">
              <a:lnSpc>
                <a:spcPct val="92000"/>
              </a:lnSpc>
              <a:spcAft>
                <a:spcPts val="100"/>
              </a:spcAft>
            </a:pPr>
            <a:r>
              <a:rPr sz="850" b="1" i="0">
                <a:solidFill>
                  <a:srgbClr val="FFFFFF"/>
                </a:solidFill>
                <a:latin typeface="Calibri"/>
              </a:rPr>
              <a:t>5</a:t>
            </a:r>
          </a:p>
        </p:txBody>
      </p:sp>
      <p:sp>
        <p:nvSpPr>
          <p:cNvPr id="10" name="Oval 9"/>
          <p:cNvSpPr/>
          <p:nvPr/>
        </p:nvSpPr>
        <p:spPr>
          <a:xfrm>
            <a:off x="740664" y="1097280"/>
            <a:ext cx="201168" cy="201168"/>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rapezoid 10"/>
          <p:cNvSpPr/>
          <p:nvPr/>
        </p:nvSpPr>
        <p:spPr>
          <a:xfrm rot="10800000">
            <a:off x="658368" y="1316736"/>
            <a:ext cx="365760" cy="201168"/>
          </a:xfrm>
          <a:prstGeom prst="trapezoid">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 y="1554480"/>
            <a:ext cx="1316736" cy="566928"/>
          </a:xfrm>
          <a:prstGeom prst="rect">
            <a:avLst/>
          </a:prstGeom>
          <a:noFill/>
        </p:spPr>
        <p:txBody>
          <a:bodyPr wrap="square" anchor="t" lIns="18288" rIns="18288" tIns="0" bIns="0">
            <a:spAutoFit/>
          </a:bodyPr>
          <a:lstStyle/>
          <a:p>
            <a:pPr algn="ctr">
              <a:lnSpc>
                <a:spcPct val="86000"/>
              </a:lnSpc>
              <a:spcAft>
                <a:spcPts val="50"/>
              </a:spcAft>
            </a:pPr>
            <a:r>
              <a:rPr sz="720" b="1" i="0">
                <a:solidFill>
                  <a:srgbClr val="1F2937"/>
                </a:solidFill>
                <a:latin typeface="Calibri"/>
              </a:rPr>
              <a:t>Dam Safety Officer</a:t>
            </a:r>
          </a:p>
          <a:p>
            <a:pPr algn="ctr">
              <a:lnSpc>
                <a:spcPct val="86000"/>
              </a:lnSpc>
              <a:spcAft>
                <a:spcPts val="100"/>
              </a:spcAft>
            </a:pPr>
            <a:r>
              <a:rPr sz="580" b="0" i="1">
                <a:solidFill>
                  <a:srgbClr val="6B7280"/>
                </a:solidFill>
                <a:latin typeface="Calibri"/>
              </a:rPr>
              <a:t>Central Water Commission ·
watches dam health</a:t>
            </a:r>
          </a:p>
        </p:txBody>
      </p:sp>
      <p:sp>
        <p:nvSpPr>
          <p:cNvPr id="13" name="Oval 12"/>
          <p:cNvSpPr/>
          <p:nvPr/>
        </p:nvSpPr>
        <p:spPr>
          <a:xfrm>
            <a:off x="740664" y="2395728"/>
            <a:ext cx="201168" cy="201168"/>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rapezoid 13"/>
          <p:cNvSpPr/>
          <p:nvPr/>
        </p:nvSpPr>
        <p:spPr>
          <a:xfrm rot="10800000">
            <a:off x="658368" y="2615184"/>
            <a:ext cx="365760" cy="201168"/>
          </a:xfrm>
          <a:prstGeom prst="trapezoid">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2880" y="2852928"/>
            <a:ext cx="1316736" cy="566928"/>
          </a:xfrm>
          <a:prstGeom prst="rect">
            <a:avLst/>
          </a:prstGeom>
          <a:noFill/>
        </p:spPr>
        <p:txBody>
          <a:bodyPr wrap="square" anchor="t" lIns="18288" rIns="18288" tIns="0" bIns="0">
            <a:spAutoFit/>
          </a:bodyPr>
          <a:lstStyle/>
          <a:p>
            <a:pPr algn="ctr">
              <a:lnSpc>
                <a:spcPct val="86000"/>
              </a:lnSpc>
              <a:spcAft>
                <a:spcPts val="50"/>
              </a:spcAft>
            </a:pPr>
            <a:r>
              <a:rPr sz="720" b="1" i="0">
                <a:solidFill>
                  <a:srgbClr val="1F2937"/>
                </a:solidFill>
                <a:latin typeface="Calibri"/>
              </a:rPr>
              <a:t>Emergency Manager</a:t>
            </a:r>
          </a:p>
          <a:p>
            <a:pPr algn="ctr">
              <a:lnSpc>
                <a:spcPct val="86000"/>
              </a:lnSpc>
              <a:spcAft>
                <a:spcPts val="100"/>
              </a:spcAft>
            </a:pPr>
            <a:r>
              <a:rPr sz="580" b="0" i="1">
                <a:solidFill>
                  <a:srgbClr val="6B7280"/>
                </a:solidFill>
                <a:latin typeface="Calibri"/>
              </a:rPr>
              <a:t>District and national authority ·
plans the evacuation</a:t>
            </a:r>
          </a:p>
        </p:txBody>
      </p:sp>
      <p:sp>
        <p:nvSpPr>
          <p:cNvPr id="16" name="Oval 15"/>
          <p:cNvSpPr/>
          <p:nvPr/>
        </p:nvSpPr>
        <p:spPr>
          <a:xfrm>
            <a:off x="740664" y="3694176"/>
            <a:ext cx="201168" cy="201168"/>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rapezoid 16"/>
          <p:cNvSpPr/>
          <p:nvPr/>
        </p:nvSpPr>
        <p:spPr>
          <a:xfrm rot="10800000">
            <a:off x="658368" y="3913632"/>
            <a:ext cx="365760" cy="201168"/>
          </a:xfrm>
          <a:prstGeom prst="trapezoid">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2880" y="4151376"/>
            <a:ext cx="1316736" cy="566928"/>
          </a:xfrm>
          <a:prstGeom prst="rect">
            <a:avLst/>
          </a:prstGeom>
          <a:noFill/>
        </p:spPr>
        <p:txBody>
          <a:bodyPr wrap="square" anchor="t" lIns="18288" rIns="18288" tIns="0" bIns="0">
            <a:spAutoFit/>
          </a:bodyPr>
          <a:lstStyle/>
          <a:p>
            <a:pPr algn="ctr">
              <a:lnSpc>
                <a:spcPct val="86000"/>
              </a:lnSpc>
              <a:spcAft>
                <a:spcPts val="50"/>
              </a:spcAft>
            </a:pPr>
            <a:r>
              <a:rPr sz="720" b="1" i="0">
                <a:solidFill>
                  <a:srgbClr val="1F2937"/>
                </a:solidFill>
                <a:latin typeface="Calibri"/>
              </a:rPr>
              <a:t>Researcher / Engineer</a:t>
            </a:r>
          </a:p>
          <a:p>
            <a:pPr algn="ctr">
              <a:lnSpc>
                <a:spcPct val="86000"/>
              </a:lnSpc>
              <a:spcAft>
                <a:spcPts val="100"/>
              </a:spcAft>
            </a:pPr>
            <a:r>
              <a:rPr sz="580" b="0" i="1">
                <a:solidFill>
                  <a:srgbClr val="6B7280"/>
                </a:solidFill>
                <a:latin typeface="Calibri"/>
              </a:rPr>
              <a:t>Validates the model, runs
comparative studies</a:t>
            </a:r>
          </a:p>
        </p:txBody>
      </p:sp>
      <p:sp>
        <p:nvSpPr>
          <p:cNvPr id="19" name="Oval 18"/>
          <p:cNvSpPr/>
          <p:nvPr/>
        </p:nvSpPr>
        <p:spPr>
          <a:xfrm>
            <a:off x="740664" y="4992624"/>
            <a:ext cx="201168" cy="201168"/>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pezoid 19"/>
          <p:cNvSpPr/>
          <p:nvPr/>
        </p:nvSpPr>
        <p:spPr>
          <a:xfrm rot="10800000">
            <a:off x="658368" y="5212080"/>
            <a:ext cx="365760" cy="201168"/>
          </a:xfrm>
          <a:prstGeom prst="trapezoid">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82880" y="5449824"/>
            <a:ext cx="1316736" cy="566928"/>
          </a:xfrm>
          <a:prstGeom prst="rect">
            <a:avLst/>
          </a:prstGeom>
          <a:noFill/>
        </p:spPr>
        <p:txBody>
          <a:bodyPr wrap="square" anchor="t" lIns="18288" rIns="18288" tIns="0" bIns="0">
            <a:spAutoFit/>
          </a:bodyPr>
          <a:lstStyle/>
          <a:p>
            <a:pPr algn="ctr">
              <a:lnSpc>
                <a:spcPct val="86000"/>
              </a:lnSpc>
              <a:spcAft>
                <a:spcPts val="50"/>
              </a:spcAft>
            </a:pPr>
            <a:r>
              <a:rPr sz="720" b="1" i="0">
                <a:solidFill>
                  <a:srgbClr val="1F2937"/>
                </a:solidFill>
                <a:latin typeface="Calibri"/>
              </a:rPr>
              <a:t>Policy Maker</a:t>
            </a:r>
          </a:p>
          <a:p>
            <a:pPr algn="ctr">
              <a:lnSpc>
                <a:spcPct val="86000"/>
              </a:lnSpc>
              <a:spcAft>
                <a:spcPts val="100"/>
              </a:spcAft>
            </a:pPr>
            <a:r>
              <a:rPr sz="580" b="0" i="1">
                <a:solidFill>
                  <a:srgbClr val="6B7280"/>
                </a:solidFill>
                <a:latin typeface="Calibri"/>
              </a:rPr>
              <a:t>State or centre · decides
where the safety budget goes</a:t>
            </a:r>
          </a:p>
        </p:txBody>
      </p:sp>
      <p:sp>
        <p:nvSpPr>
          <p:cNvPr id="22" name="Rounded Rectangle 21"/>
          <p:cNvSpPr/>
          <p:nvPr/>
        </p:nvSpPr>
        <p:spPr>
          <a:xfrm>
            <a:off x="2121408" y="932688"/>
            <a:ext cx="7077456" cy="5413248"/>
          </a:xfrm>
          <a:prstGeom prst="roundRect">
            <a:avLst>
              <a:gd name="adj" fmla="val 3000"/>
            </a:avLst>
          </a:prstGeom>
          <a:solidFill>
            <a:srgbClr val="F9FCFE"/>
          </a:solidFill>
          <a:ln w="2032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23" name="Rounded Rectangle 22"/>
          <p:cNvSpPr/>
          <p:nvPr/>
        </p:nvSpPr>
        <p:spPr>
          <a:xfrm>
            <a:off x="4041648" y="822960"/>
            <a:ext cx="3236976" cy="274320"/>
          </a:xfrm>
          <a:prstGeom prst="roundRect">
            <a:avLst>
              <a:gd name="adj" fmla="val 26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2000"/>
              </a:lnSpc>
              <a:spcAft>
                <a:spcPts val="100"/>
              </a:spcAft>
            </a:pPr>
            <a:r>
              <a:rPr sz="740" b="1" i="0">
                <a:solidFill>
                  <a:srgbClr val="FFFFFF"/>
                </a:solidFill>
                <a:latin typeface="Calibri"/>
              </a:rPr>
              <a:t>EVERYTHING INSIDE THIS BOX IS FLOODVIEW</a:t>
            </a:r>
          </a:p>
        </p:txBody>
      </p:sp>
      <p:sp>
        <p:nvSpPr>
          <p:cNvPr id="24" name="Oval 23"/>
          <p:cNvSpPr/>
          <p:nvPr/>
        </p:nvSpPr>
        <p:spPr>
          <a:xfrm>
            <a:off x="2377440" y="1042415"/>
            <a:ext cx="2907792" cy="786384"/>
          </a:xfrm>
          <a:prstGeom prst="ellipse">
            <a:avLst/>
          </a:prstGeom>
          <a:solidFill>
            <a:srgbClr val="CFEAE7"/>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650" b="1" i="0">
                <a:solidFill>
                  <a:srgbClr val="086058"/>
                </a:solidFill>
                <a:latin typeface="Calibri"/>
              </a:rPr>
              <a:t>Choose a dam and set
the failure scenario</a:t>
            </a:r>
          </a:p>
        </p:txBody>
      </p:sp>
      <p:sp>
        <p:nvSpPr>
          <p:cNvPr id="25" name="Oval 24"/>
          <p:cNvSpPr/>
          <p:nvPr/>
        </p:nvSpPr>
        <p:spPr>
          <a:xfrm>
            <a:off x="2432304" y="1929384"/>
            <a:ext cx="2798064" cy="768096"/>
          </a:xfrm>
          <a:prstGeom prst="ellipse">
            <a:avLst/>
          </a:prstGeom>
          <a:solidFill>
            <a:srgbClr val="D2D9EF"/>
          </a:solidFill>
          <a:ln w="1270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650" b="1" i="0">
                <a:solidFill>
                  <a:srgbClr val="142A72"/>
                </a:solidFill>
                <a:latin typeface="Calibri"/>
              </a:rPr>
              <a:t>Run a full flood simulation
— minutes, not weeks</a:t>
            </a:r>
          </a:p>
        </p:txBody>
      </p:sp>
      <p:sp>
        <p:nvSpPr>
          <p:cNvPr id="26" name="Oval 25"/>
          <p:cNvSpPr/>
          <p:nvPr/>
        </p:nvSpPr>
        <p:spPr>
          <a:xfrm>
            <a:off x="2359152" y="2816352"/>
            <a:ext cx="3017520" cy="804672"/>
          </a:xfrm>
          <a:prstGeom prst="ellipse">
            <a:avLst/>
          </a:prstGeom>
          <a:solidFill>
            <a:srgbClr val="CFEAE7"/>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650" b="1" i="0">
                <a:solidFill>
                  <a:srgbClr val="086058"/>
                </a:solidFill>
                <a:latin typeface="Calibri"/>
              </a:rPr>
              <a:t>Run thirty what-if variations
for an honest range</a:t>
            </a:r>
          </a:p>
        </p:txBody>
      </p:sp>
      <p:sp>
        <p:nvSpPr>
          <p:cNvPr id="27" name="Oval 26"/>
          <p:cNvSpPr/>
          <p:nvPr/>
        </p:nvSpPr>
        <p:spPr>
          <a:xfrm>
            <a:off x="2395728" y="3703320"/>
            <a:ext cx="2944368" cy="786384"/>
          </a:xfrm>
          <a:prstGeom prst="ellipse">
            <a:avLst/>
          </a:prstGeom>
          <a:solidFill>
            <a:srgbClr val="DCDAFA"/>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650" b="1" i="0">
                <a:solidFill>
                  <a:srgbClr val="332E95"/>
                </a:solidFill>
                <a:latin typeface="Calibri"/>
              </a:rPr>
              <a:t>Read the flood on a 2D map
and on a 3D globe</a:t>
            </a:r>
          </a:p>
        </p:txBody>
      </p:sp>
      <p:sp>
        <p:nvSpPr>
          <p:cNvPr id="28" name="Oval 27"/>
          <p:cNvSpPr/>
          <p:nvPr/>
        </p:nvSpPr>
        <p:spPr>
          <a:xfrm>
            <a:off x="2450592" y="4590288"/>
            <a:ext cx="2761488" cy="768096"/>
          </a:xfrm>
          <a:prstGeom prst="ellipse">
            <a:avLst/>
          </a:prstGeom>
          <a:solidFill>
            <a:srgbClr val="DCDAFA"/>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650" b="1" i="0">
                <a:solidFill>
                  <a:srgbClr val="332E95"/>
                </a:solidFill>
                <a:latin typeface="Calibri"/>
              </a:rPr>
              <a:t>Download the pack for the
district authority</a:t>
            </a:r>
          </a:p>
        </p:txBody>
      </p:sp>
      <p:sp>
        <p:nvSpPr>
          <p:cNvPr id="29" name="Oval 28"/>
          <p:cNvSpPr/>
          <p:nvPr/>
        </p:nvSpPr>
        <p:spPr>
          <a:xfrm>
            <a:off x="2377440" y="5477256"/>
            <a:ext cx="2871216" cy="786384"/>
          </a:xfrm>
          <a:prstGeom prst="ellipse">
            <a:avLst/>
          </a:prstGeom>
          <a:solidFill>
            <a:srgbClr val="F8D4D4"/>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650" b="1" i="0">
                <a:solidFill>
                  <a:srgbClr val="8F1919"/>
                </a:solidFill>
                <a:latin typeface="Calibri"/>
              </a:rPr>
              <a:t>Get arrival times for every
downstream town</a:t>
            </a:r>
          </a:p>
        </p:txBody>
      </p:sp>
      <p:sp>
        <p:nvSpPr>
          <p:cNvPr id="30" name="Oval 29"/>
          <p:cNvSpPr/>
          <p:nvPr/>
        </p:nvSpPr>
        <p:spPr>
          <a:xfrm>
            <a:off x="5888736" y="1042415"/>
            <a:ext cx="2871216" cy="786384"/>
          </a:xfrm>
          <a:prstGeom prst="ellipse">
            <a:avLst/>
          </a:prstGeom>
          <a:solidFill>
            <a:srgbClr val="CDEAE1"/>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650" b="1" i="0">
                <a:solidFill>
                  <a:srgbClr val="036244"/>
                </a:solidFill>
                <a:latin typeface="Calibri"/>
              </a:rPr>
              <a:t>Check answers against the
known exact solution</a:t>
            </a:r>
          </a:p>
        </p:txBody>
      </p:sp>
      <p:sp>
        <p:nvSpPr>
          <p:cNvPr id="31" name="Oval 30"/>
          <p:cNvSpPr/>
          <p:nvPr/>
        </p:nvSpPr>
        <p:spPr>
          <a:xfrm>
            <a:off x="5833872" y="1984248"/>
            <a:ext cx="3035808" cy="804672"/>
          </a:xfrm>
          <a:prstGeom prst="ellipse">
            <a:avLst/>
          </a:prstGeom>
          <a:solidFill>
            <a:srgbClr val="E5D8FB"/>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650" b="1" i="0">
                <a:solidFill>
                  <a:srgbClr val="51269A"/>
                </a:solidFill>
                <a:latin typeface="Calibri"/>
              </a:rPr>
              <a:t>Cross-check against the
independent Delft3D engine</a:t>
            </a:r>
          </a:p>
        </p:txBody>
      </p:sp>
      <p:sp>
        <p:nvSpPr>
          <p:cNvPr id="32" name="Oval 31"/>
          <p:cNvSpPr/>
          <p:nvPr/>
        </p:nvSpPr>
        <p:spPr>
          <a:xfrm>
            <a:off x="5870448" y="2816352"/>
            <a:ext cx="2962656" cy="786384"/>
          </a:xfrm>
          <a:prstGeom prst="ellipse">
            <a:avLst/>
          </a:prstGeom>
          <a:solidFill>
            <a:srgbClr val="F8D4D4"/>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650" b="1" i="0">
                <a:solidFill>
                  <a:srgbClr val="8F1919"/>
                </a:solidFill>
                <a:latin typeface="Calibri"/>
              </a:rPr>
              <a:t>Estimate the population
exposed, from satellite data</a:t>
            </a:r>
          </a:p>
        </p:txBody>
      </p:sp>
      <p:sp>
        <p:nvSpPr>
          <p:cNvPr id="33" name="Oval 32"/>
          <p:cNvSpPr/>
          <p:nvPr/>
        </p:nvSpPr>
        <p:spPr>
          <a:xfrm>
            <a:off x="5943600" y="3758183"/>
            <a:ext cx="2779776" cy="768096"/>
          </a:xfrm>
          <a:prstGeom prst="ellipse">
            <a:avLst/>
          </a:prstGeom>
          <a:solidFill>
            <a:srgbClr val="F8D4D4"/>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650" b="1" i="0">
                <a:solidFill>
                  <a:srgbClr val="8F1919"/>
                </a:solidFill>
                <a:latin typeface="Calibri"/>
              </a:rPr>
              <a:t>Estimate damage to
buildings and to life</a:t>
            </a:r>
          </a:p>
        </p:txBody>
      </p:sp>
      <p:sp>
        <p:nvSpPr>
          <p:cNvPr id="34" name="Oval 33"/>
          <p:cNvSpPr/>
          <p:nvPr/>
        </p:nvSpPr>
        <p:spPr>
          <a:xfrm>
            <a:off x="5907024" y="4590288"/>
            <a:ext cx="2834640" cy="768096"/>
          </a:xfrm>
          <a:prstGeom prst="ellipse">
            <a:avLst/>
          </a:prstGeom>
          <a:solidFill>
            <a:srgbClr val="E5D8FB"/>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650" b="1" i="0">
                <a:solidFill>
                  <a:srgbClr val="51269A"/>
                </a:solidFill>
                <a:latin typeface="Calibri"/>
              </a:rPr>
              <a:t>Run the detailed 3D physics
right at the wall</a:t>
            </a:r>
          </a:p>
        </p:txBody>
      </p:sp>
      <p:sp>
        <p:nvSpPr>
          <p:cNvPr id="35" name="Oval 34"/>
          <p:cNvSpPr/>
          <p:nvPr/>
        </p:nvSpPr>
        <p:spPr>
          <a:xfrm>
            <a:off x="5852160" y="5477256"/>
            <a:ext cx="2980944" cy="804672"/>
          </a:xfrm>
          <a:prstGeom prst="ellipse">
            <a:avLst/>
          </a:prstGeom>
          <a:solidFill>
            <a:srgbClr val="CDEAE1"/>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650" b="1" i="0">
                <a:solidFill>
                  <a:srgbClr val="036244"/>
                </a:solidFill>
                <a:latin typeface="Calibri"/>
              </a:rPr>
              <a:t>Rank several dams against
each other by priority</a:t>
            </a:r>
          </a:p>
        </p:txBody>
      </p:sp>
      <p:sp>
        <p:nvSpPr>
          <p:cNvPr id="36" name="Rounded Rectangle 35"/>
          <p:cNvSpPr/>
          <p:nvPr/>
        </p:nvSpPr>
        <p:spPr>
          <a:xfrm>
            <a:off x="9528048" y="1115568"/>
            <a:ext cx="2267712" cy="658368"/>
          </a:xfrm>
          <a:prstGeom prst="roundRect">
            <a:avLst>
              <a:gd name="adj" fmla="val 10000"/>
            </a:avLst>
          </a:prstGeom>
          <a:solidFill>
            <a:srgbClr val="E3E6EB"/>
          </a:solidFill>
          <a:ln w="13970">
            <a:solidFill>
              <a:srgbClr val="1430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8000"/>
              </a:lnSpc>
              <a:spcAft>
                <a:spcPts val="100"/>
              </a:spcAft>
            </a:pPr>
            <a:r>
              <a:rPr sz="720" b="1" i="0">
                <a:solidFill>
                  <a:srgbClr val="0D1F3A"/>
                </a:solidFill>
                <a:latin typeface="Calibri"/>
              </a:rPr>
              <a:t>Copernicus Ground Height</a:t>
            </a:r>
          </a:p>
          <a:p>
            <a:pPr algn="ctr">
              <a:lnSpc>
                <a:spcPct val="90000"/>
              </a:lnSpc>
              <a:spcAft>
                <a:spcPts val="100"/>
              </a:spcAft>
            </a:pPr>
            <a:r>
              <a:rPr sz="570" b="0" i="0">
                <a:solidFill>
                  <a:srgbClr val="6B7280"/>
                </a:solidFill>
                <a:latin typeface="Calibri"/>
              </a:rPr>
              <a:t>30-metre satellite elevation</a:t>
            </a:r>
          </a:p>
        </p:txBody>
      </p:sp>
      <p:cxnSp>
        <p:nvCxnSpPr>
          <p:cNvPr id="37" name="Connector 36"/>
          <p:cNvCxnSpPr/>
          <p:nvPr/>
        </p:nvCxnSpPr>
        <p:spPr>
          <a:xfrm flipH="1" flipV="1">
            <a:off x="8869680" y="1316736"/>
            <a:ext cx="658368" cy="128016"/>
          </a:xfrm>
          <a:prstGeom prst="line">
            <a:avLst/>
          </a:prstGeom>
          <a:ln w="8890">
            <a:solidFill>
              <a:srgbClr val="9CA3AF"/>
            </a:solidFill>
            <a:prstDash val="sysDash"/>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528048" y="2395728"/>
            <a:ext cx="2395728" cy="658368"/>
          </a:xfrm>
          <a:prstGeom prst="roundRect">
            <a:avLst>
              <a:gd name="adj" fmla="val 10000"/>
            </a:avLst>
          </a:prstGeom>
          <a:solidFill>
            <a:srgbClr val="E1F2ED"/>
          </a:solidFill>
          <a:ln w="1397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8000"/>
              </a:lnSpc>
              <a:spcAft>
                <a:spcPts val="100"/>
              </a:spcAft>
            </a:pPr>
            <a:r>
              <a:rPr sz="720" b="1" i="0">
                <a:solidFill>
                  <a:srgbClr val="036244"/>
                </a:solidFill>
                <a:latin typeface="Calibri"/>
              </a:rPr>
              <a:t>Earth Engine</a:t>
            </a:r>
          </a:p>
          <a:p>
            <a:pPr algn="ctr">
              <a:lnSpc>
                <a:spcPct val="90000"/>
              </a:lnSpc>
              <a:spcAft>
                <a:spcPts val="100"/>
              </a:spcAft>
            </a:pPr>
            <a:r>
              <a:rPr sz="570" b="0" i="0">
                <a:solidFill>
                  <a:srgbClr val="6B7280"/>
                </a:solidFill>
                <a:latin typeface="Calibri"/>
              </a:rPr>
              <a:t>Radar flood extent, population</a:t>
            </a:r>
          </a:p>
        </p:txBody>
      </p:sp>
      <p:cxnSp>
        <p:nvCxnSpPr>
          <p:cNvPr id="39" name="Connector 38"/>
          <p:cNvCxnSpPr/>
          <p:nvPr/>
        </p:nvCxnSpPr>
        <p:spPr>
          <a:xfrm flipH="1" flipV="1">
            <a:off x="8869680" y="2596896"/>
            <a:ext cx="658368" cy="128016"/>
          </a:xfrm>
          <a:prstGeom prst="line">
            <a:avLst/>
          </a:prstGeom>
          <a:ln w="8890">
            <a:solidFill>
              <a:srgbClr val="9CA3AF"/>
            </a:solidFill>
            <a:prstDash val="sysDash"/>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9528048" y="3712463"/>
            <a:ext cx="2331720" cy="658368"/>
          </a:xfrm>
          <a:prstGeom prst="roundRect">
            <a:avLst>
              <a:gd name="adj" fmla="val 10000"/>
            </a:avLst>
          </a:prstGeom>
          <a:solidFill>
            <a:srgbClr val="EFE7FD"/>
          </a:solidFill>
          <a:ln w="1397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8000"/>
              </a:lnSpc>
              <a:spcAft>
                <a:spcPts val="100"/>
              </a:spcAft>
            </a:pPr>
            <a:r>
              <a:rPr sz="720" b="1" i="0">
                <a:solidFill>
                  <a:srgbClr val="51269A"/>
                </a:solidFill>
                <a:latin typeface="Calibri"/>
              </a:rPr>
              <a:t>Delft3D FM</a:t>
            </a:r>
          </a:p>
          <a:p>
            <a:pPr algn="ctr">
              <a:lnSpc>
                <a:spcPct val="90000"/>
              </a:lnSpc>
              <a:spcAft>
                <a:spcPts val="100"/>
              </a:spcAft>
            </a:pPr>
            <a:r>
              <a:rPr sz="570" b="0" i="0">
                <a:solidFill>
                  <a:srgbClr val="6B7280"/>
                </a:solidFill>
                <a:latin typeface="Calibri"/>
              </a:rPr>
              <a:t>Independent verification engine</a:t>
            </a:r>
          </a:p>
        </p:txBody>
      </p:sp>
      <p:cxnSp>
        <p:nvCxnSpPr>
          <p:cNvPr id="41" name="Connector 40"/>
          <p:cNvCxnSpPr/>
          <p:nvPr/>
        </p:nvCxnSpPr>
        <p:spPr>
          <a:xfrm flipH="1" flipV="1">
            <a:off x="8869680" y="3913631"/>
            <a:ext cx="658368" cy="128017"/>
          </a:xfrm>
          <a:prstGeom prst="line">
            <a:avLst/>
          </a:prstGeom>
          <a:ln w="8890">
            <a:solidFill>
              <a:srgbClr val="9CA3AF"/>
            </a:solidFill>
            <a:prstDash val="sysDash"/>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528048" y="5010912"/>
            <a:ext cx="2231136" cy="658368"/>
          </a:xfrm>
          <a:prstGeom prst="roundRect">
            <a:avLst>
              <a:gd name="adj" fmla="val 10000"/>
            </a:avLst>
          </a:prstGeom>
          <a:solidFill>
            <a:srgbClr val="E3E6EB"/>
          </a:solidFill>
          <a:ln w="13970">
            <a:solidFill>
              <a:srgbClr val="1430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8000"/>
              </a:lnSpc>
              <a:spcAft>
                <a:spcPts val="100"/>
              </a:spcAft>
            </a:pPr>
            <a:r>
              <a:rPr sz="720" b="1" i="0">
                <a:solidFill>
                  <a:srgbClr val="0D1F3A"/>
                </a:solidFill>
                <a:latin typeface="Calibri"/>
              </a:rPr>
              <a:t>CWC Dam Register</a:t>
            </a:r>
          </a:p>
          <a:p>
            <a:pPr algn="ctr">
              <a:lnSpc>
                <a:spcPct val="90000"/>
              </a:lnSpc>
              <a:spcAft>
                <a:spcPts val="100"/>
              </a:spcAft>
            </a:pPr>
            <a:r>
              <a:rPr sz="570" b="0" i="0">
                <a:solidFill>
                  <a:srgbClr val="6B7280"/>
                </a:solidFill>
                <a:latin typeface="Calibri"/>
              </a:rPr>
              <a:t>Official Indian dam records</a:t>
            </a:r>
          </a:p>
        </p:txBody>
      </p:sp>
      <p:cxnSp>
        <p:nvCxnSpPr>
          <p:cNvPr id="43" name="Connector 42"/>
          <p:cNvCxnSpPr/>
          <p:nvPr/>
        </p:nvCxnSpPr>
        <p:spPr>
          <a:xfrm flipH="1" flipV="1">
            <a:off x="8869680" y="5212080"/>
            <a:ext cx="658368" cy="128016"/>
          </a:xfrm>
          <a:prstGeom prst="line">
            <a:avLst/>
          </a:prstGeom>
          <a:ln w="8890">
            <a:solidFill>
              <a:srgbClr val="9CA3AF"/>
            </a:solidFill>
            <a:prstDash val="sys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389888" y="1298448"/>
            <a:ext cx="1005840" cy="73152"/>
          </a:xfrm>
          <a:prstGeom prst="line">
            <a:avLst/>
          </a:prstGeom>
          <a:ln w="8890">
            <a:solidFill>
              <a:srgbClr val="9CA3AF"/>
            </a:solidFill>
            <a:prstDash val="sys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389888" y="2596896"/>
            <a:ext cx="1005840" cy="73152"/>
          </a:xfrm>
          <a:prstGeom prst="line">
            <a:avLst/>
          </a:prstGeom>
          <a:ln w="8890">
            <a:solidFill>
              <a:srgbClr val="9CA3AF"/>
            </a:solidFill>
            <a:prstDash val="sys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389888" y="3895344"/>
            <a:ext cx="1005840" cy="73152"/>
          </a:xfrm>
          <a:prstGeom prst="line">
            <a:avLst/>
          </a:prstGeom>
          <a:ln w="8890">
            <a:solidFill>
              <a:srgbClr val="9CA3AF"/>
            </a:solidFill>
            <a:prstDash val="sysDash"/>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389888" y="5193792"/>
            <a:ext cx="1005840" cy="73152"/>
          </a:xfrm>
          <a:prstGeom prst="line">
            <a:avLst/>
          </a:prstGeom>
          <a:ln w="8890">
            <a:solidFill>
              <a:srgbClr val="9CA3AF"/>
            </a:solidFill>
            <a:prstDash val="sysDash"/>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9528048" y="5870448"/>
            <a:ext cx="2395728" cy="475488"/>
          </a:xfrm>
          <a:prstGeom prst="rect">
            <a:avLst/>
          </a:prstGeom>
          <a:noFill/>
        </p:spPr>
        <p:txBody>
          <a:bodyPr wrap="square" anchor="t" lIns="18288" rIns="18288" tIns="0" bIns="0">
            <a:spAutoFit/>
          </a:bodyPr>
          <a:lstStyle/>
          <a:p>
            <a:pPr algn="ctr">
              <a:lnSpc>
                <a:spcPct val="94000"/>
              </a:lnSpc>
              <a:spcAft>
                <a:spcPts val="100"/>
              </a:spcAft>
            </a:pPr>
            <a:r>
              <a:rPr sz="600" b="0" i="1">
                <a:solidFill>
                  <a:srgbClr val="6B7280"/>
                </a:solidFill>
                <a:latin typeface="Calibri"/>
              </a:rPr>
              <a:t>Outside services are read, never written to. Nothing leaves the machine the system runs 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01168" y="128016"/>
            <a:ext cx="1188720" cy="310896"/>
          </a:xfrm>
          <a:prstGeom prst="roundRect">
            <a:avLst>
              <a:gd name="adj" fmla="val 40000"/>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2860" bIns="22860"/>
          <a:lstStyle/>
          <a:p>
            <a:pPr algn="ctr">
              <a:lnSpc>
                <a:spcPct val="92000"/>
              </a:lnSpc>
              <a:spcAft>
                <a:spcPts val="100"/>
              </a:spcAft>
            </a:pPr>
            <a:r>
              <a:rPr sz="1100" b="1" i="0">
                <a:solidFill>
                  <a:srgbClr val="FFFFFF"/>
                </a:solidFill>
                <a:latin typeface="Calibri"/>
              </a:rPr>
              <a:t>FloodView</a:t>
            </a:r>
          </a:p>
        </p:txBody>
      </p:sp>
      <p:sp>
        <p:nvSpPr>
          <p:cNvPr id="3" name="TextBox 2"/>
          <p:cNvSpPr txBox="1"/>
          <p:nvPr/>
        </p:nvSpPr>
        <p:spPr>
          <a:xfrm>
            <a:off x="201168" y="457200"/>
            <a:ext cx="1463040" cy="182880"/>
          </a:xfrm>
          <a:prstGeom prst="rect">
            <a:avLst/>
          </a:prstGeom>
          <a:noFill/>
        </p:spPr>
        <p:txBody>
          <a:bodyPr wrap="square" anchor="t" lIns="18288" rIns="18288" tIns="0" bIns="0">
            <a:spAutoFit/>
          </a:bodyPr>
          <a:lstStyle/>
          <a:p>
            <a:pPr algn="l">
              <a:lnSpc>
                <a:spcPct val="92000"/>
              </a:lnSpc>
              <a:spcAft>
                <a:spcPts val="100"/>
              </a:spcAft>
            </a:pPr>
            <a:r>
              <a:rPr sz="620" b="0" i="0">
                <a:solidFill>
                  <a:srgbClr val="6B7280"/>
                </a:solidFill>
                <a:latin typeface="Calibri"/>
              </a:rPr>
              <a:t>PS 26161 · NTRO</a:t>
            </a:r>
          </a:p>
        </p:txBody>
      </p:sp>
      <p:sp>
        <p:nvSpPr>
          <p:cNvPr id="4" name="TextBox 3"/>
          <p:cNvSpPr txBox="1"/>
          <p:nvPr/>
        </p:nvSpPr>
        <p:spPr>
          <a:xfrm>
            <a:off x="1554480" y="91440"/>
            <a:ext cx="8732520" cy="384048"/>
          </a:xfrm>
          <a:prstGeom prst="rect">
            <a:avLst/>
          </a:prstGeom>
          <a:noFill/>
        </p:spPr>
        <p:txBody>
          <a:bodyPr wrap="square" anchor="ctr" lIns="18288" rIns="18288" tIns="0" bIns="0">
            <a:spAutoFit/>
          </a:bodyPr>
          <a:lstStyle/>
          <a:p>
            <a:pPr algn="ctr">
              <a:lnSpc>
                <a:spcPct val="92000"/>
              </a:lnSpc>
              <a:spcAft>
                <a:spcPts val="100"/>
              </a:spcAft>
            </a:pPr>
            <a:r>
              <a:rPr sz="2300" b="1" i="0">
                <a:solidFill>
                  <a:srgbClr val="1F2937"/>
                </a:solidFill>
                <a:latin typeface="Calibri"/>
              </a:rPr>
              <a:t>WHAT EACH PART DOES</a:t>
            </a:r>
          </a:p>
        </p:txBody>
      </p:sp>
      <p:sp>
        <p:nvSpPr>
          <p:cNvPr id="5" name="TextBox 4"/>
          <p:cNvSpPr txBox="1"/>
          <p:nvPr/>
        </p:nvSpPr>
        <p:spPr>
          <a:xfrm>
            <a:off x="1554480" y="475488"/>
            <a:ext cx="8732520" cy="201168"/>
          </a:xfrm>
          <a:prstGeom prst="rect">
            <a:avLst/>
          </a:prstGeom>
          <a:noFill/>
        </p:spPr>
        <p:txBody>
          <a:bodyPr wrap="square" anchor="t" lIns="18288" rIns="18288" tIns="0" bIns="0">
            <a:spAutoFit/>
          </a:bodyPr>
          <a:lstStyle/>
          <a:p>
            <a:pPr algn="ctr">
              <a:lnSpc>
                <a:spcPct val="92000"/>
              </a:lnSpc>
              <a:spcAft>
                <a:spcPts val="100"/>
              </a:spcAft>
            </a:pPr>
            <a:r>
              <a:rPr sz="819" b="0" i="1">
                <a:solidFill>
                  <a:srgbClr val="6B7280"/>
                </a:solidFill>
                <a:latin typeface="Calibri"/>
              </a:rPr>
              <a:t>Six working parts and three supporting ones. Arrows show which way information travels.</a:t>
            </a:r>
          </a:p>
        </p:txBody>
      </p:sp>
      <p:sp>
        <p:nvSpPr>
          <p:cNvPr id="6" name="TextBox 5"/>
          <p:cNvSpPr txBox="1"/>
          <p:nvPr/>
        </p:nvSpPr>
        <p:spPr>
          <a:xfrm>
            <a:off x="10378440" y="128016"/>
            <a:ext cx="1609344" cy="402336"/>
          </a:xfrm>
          <a:prstGeom prst="rect">
            <a:avLst/>
          </a:prstGeom>
          <a:noFill/>
        </p:spPr>
        <p:txBody>
          <a:bodyPr wrap="square" anchor="t" lIns="18288" rIns="18288" tIns="0" bIns="0">
            <a:spAutoFit/>
          </a:bodyPr>
          <a:lstStyle/>
          <a:p>
            <a:pPr algn="r">
              <a:lnSpc>
                <a:spcPct val="92000"/>
              </a:lnSpc>
              <a:spcAft>
                <a:spcPts val="0"/>
              </a:spcAft>
            </a:pPr>
            <a:r>
              <a:rPr sz="800" b="1" i="0">
                <a:solidFill>
                  <a:srgbClr val="0070C0"/>
                </a:solidFill>
                <a:latin typeface="Calibri"/>
              </a:rPr>
              <a:t>SMART INDIA</a:t>
            </a:r>
          </a:p>
          <a:p>
            <a:pPr algn="r">
              <a:lnSpc>
                <a:spcPct val="92000"/>
              </a:lnSpc>
              <a:spcAft>
                <a:spcPts val="0"/>
              </a:spcAft>
            </a:pPr>
            <a:r>
              <a:rPr sz="800" b="1" i="0">
                <a:solidFill>
                  <a:srgbClr val="0070C0"/>
                </a:solidFill>
                <a:latin typeface="Calibri"/>
              </a:rPr>
              <a:t>HACKATHON 2026</a:t>
            </a:r>
          </a:p>
        </p:txBody>
      </p:sp>
      <p:sp>
        <p:nvSpPr>
          <p:cNvPr id="7" name="Rectangle 6"/>
          <p:cNvSpPr/>
          <p:nvPr/>
        </p:nvSpPr>
        <p:spPr>
          <a:xfrm>
            <a:off x="0" y="6547104"/>
            <a:ext cx="12191695" cy="310896"/>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8" name="TextBox 7"/>
          <p:cNvSpPr txBox="1"/>
          <p:nvPr/>
        </p:nvSpPr>
        <p:spPr>
          <a:xfrm>
            <a:off x="256032" y="6601968"/>
            <a:ext cx="10607040" cy="201168"/>
          </a:xfrm>
          <a:prstGeom prst="rect">
            <a:avLst/>
          </a:prstGeom>
          <a:noFill/>
        </p:spPr>
        <p:txBody>
          <a:bodyPr wrap="square" anchor="t" lIns="18288" rIns="18288" tIns="0" bIns="0">
            <a:spAutoFit/>
          </a:bodyPr>
          <a:lstStyle/>
          <a:p>
            <a:pPr algn="l">
              <a:lnSpc>
                <a:spcPct val="92000"/>
              </a:lnSpc>
              <a:spcAft>
                <a:spcPts val="100"/>
              </a:spcAft>
            </a:pPr>
            <a:r>
              <a:rPr sz="800" b="1" i="0">
                <a:solidFill>
                  <a:srgbClr val="FFFFFF"/>
                </a:solidFill>
                <a:latin typeface="Calibri"/>
              </a:rPr>
              <a:t>Each part depends only on the parts to its left, so any one of them can be replaced on its own.</a:t>
            </a:r>
          </a:p>
        </p:txBody>
      </p:sp>
      <p:sp>
        <p:nvSpPr>
          <p:cNvPr id="9" name="TextBox 8"/>
          <p:cNvSpPr txBox="1"/>
          <p:nvPr/>
        </p:nvSpPr>
        <p:spPr>
          <a:xfrm>
            <a:off x="11521440" y="6601968"/>
            <a:ext cx="457200" cy="201168"/>
          </a:xfrm>
          <a:prstGeom prst="rect">
            <a:avLst/>
          </a:prstGeom>
          <a:noFill/>
        </p:spPr>
        <p:txBody>
          <a:bodyPr wrap="square" anchor="t" lIns="18288" rIns="18288" tIns="0" bIns="0">
            <a:spAutoFit/>
          </a:bodyPr>
          <a:lstStyle/>
          <a:p>
            <a:pPr algn="r">
              <a:lnSpc>
                <a:spcPct val="92000"/>
              </a:lnSpc>
              <a:spcAft>
                <a:spcPts val="100"/>
              </a:spcAft>
            </a:pPr>
            <a:r>
              <a:rPr sz="850" b="1" i="0">
                <a:solidFill>
                  <a:srgbClr val="FFFFFF"/>
                </a:solidFill>
                <a:latin typeface="Calibri"/>
              </a:rPr>
              <a:t>6</a:t>
            </a:r>
          </a:p>
        </p:txBody>
      </p:sp>
      <p:sp>
        <p:nvSpPr>
          <p:cNvPr id="10" name="Rounded Rectangle 9"/>
          <p:cNvSpPr/>
          <p:nvPr/>
        </p:nvSpPr>
        <p:spPr>
          <a:xfrm>
            <a:off x="4590288" y="877824"/>
            <a:ext cx="3017520" cy="475488"/>
          </a:xfrm>
          <a:prstGeom prst="roundRect">
            <a:avLst>
              <a:gd name="adj" fmla="val 2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92000"/>
              </a:lnSpc>
              <a:spcAft>
                <a:spcPts val="100"/>
              </a:spcAft>
            </a:pPr>
            <a:r>
              <a:rPr sz="1000" b="1" i="0">
                <a:solidFill>
                  <a:srgbClr val="FFFFFF"/>
                </a:solidFill>
                <a:latin typeface="Calibri"/>
              </a:rPr>
              <a:t>FLOODVIEW · THE WHOLE SYSTEM</a:t>
            </a:r>
          </a:p>
        </p:txBody>
      </p:sp>
      <p:cxnSp>
        <p:nvCxnSpPr>
          <p:cNvPr id="11" name="Connector 10"/>
          <p:cNvCxnSpPr/>
          <p:nvPr/>
        </p:nvCxnSpPr>
        <p:spPr>
          <a:xfrm flipH="1">
            <a:off x="1143000" y="1353312"/>
            <a:ext cx="4956048" cy="347472"/>
          </a:xfrm>
          <a:prstGeom prst="line">
            <a:avLst/>
          </a:prstGeom>
          <a:ln w="10160">
            <a:solidFill>
              <a:srgbClr val="9CA3AF"/>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01168" y="1700784"/>
            <a:ext cx="1883664" cy="530352"/>
          </a:xfrm>
          <a:prstGeom prst="roundRect">
            <a:avLst>
              <a:gd name="adj" fmla="val 12000"/>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19" b="1" i="0">
                <a:solidFill>
                  <a:srgbClr val="FFFFFF"/>
                </a:solidFill>
                <a:latin typeface="Calibri"/>
              </a:rPr>
              <a:t>Flood Simulation Engine</a:t>
            </a:r>
          </a:p>
        </p:txBody>
      </p:sp>
      <p:sp>
        <p:nvSpPr>
          <p:cNvPr id="13" name="TextBox 12"/>
          <p:cNvSpPr txBox="1"/>
          <p:nvPr/>
        </p:nvSpPr>
        <p:spPr>
          <a:xfrm>
            <a:off x="219456" y="2286000"/>
            <a:ext cx="1847088" cy="530352"/>
          </a:xfrm>
          <a:prstGeom prst="rect">
            <a:avLst/>
          </a:prstGeom>
          <a:noFill/>
        </p:spPr>
        <p:txBody>
          <a:bodyPr wrap="square" anchor="t" lIns="18288" rIns="18288" tIns="0" bIns="0">
            <a:spAutoFit/>
          </a:bodyPr>
          <a:lstStyle/>
          <a:p>
            <a:pPr algn="ctr">
              <a:lnSpc>
                <a:spcPct val="92000"/>
              </a:lnSpc>
              <a:spcAft>
                <a:spcPts val="100"/>
              </a:spcAft>
            </a:pPr>
            <a:r>
              <a:rPr sz="570" b="0" i="0">
                <a:solidFill>
                  <a:srgbClr val="6B7280"/>
                </a:solidFill>
                <a:latin typeface="Calibri"/>
              </a:rPr>
              <a:t>The mathematical core. Follows the water across the terrain
step by step, using equations settled in hydraulic engineering.</a:t>
            </a:r>
          </a:p>
        </p:txBody>
      </p:sp>
      <p:sp>
        <p:nvSpPr>
          <p:cNvPr id="14" name="Rounded Rectangle 13"/>
          <p:cNvSpPr/>
          <p:nvPr/>
        </p:nvSpPr>
        <p:spPr>
          <a:xfrm>
            <a:off x="201168" y="2852928"/>
            <a:ext cx="1883664" cy="402336"/>
          </a:xfrm>
          <a:prstGeom prst="roundRect">
            <a:avLst>
              <a:gd name="adj" fmla="val 10000"/>
            </a:avLst>
          </a:prstGeom>
          <a:solidFill>
            <a:srgbClr val="F4F5FB"/>
          </a:solidFill>
          <a:ln w="7620">
            <a:solidFill>
              <a:srgbClr val="A5B3D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The stepping loop, timestep by timestep</a:t>
            </a:r>
          </a:p>
        </p:txBody>
      </p:sp>
      <p:sp>
        <p:nvSpPr>
          <p:cNvPr id="15" name="Rounded Rectangle 14"/>
          <p:cNvSpPr/>
          <p:nvPr/>
        </p:nvSpPr>
        <p:spPr>
          <a:xfrm>
            <a:off x="201168" y="3310128"/>
            <a:ext cx="1883664" cy="402336"/>
          </a:xfrm>
          <a:prstGeom prst="roundRect">
            <a:avLst>
              <a:gd name="adj" fmla="val 10000"/>
            </a:avLst>
          </a:prstGeom>
          <a:solidFill>
            <a:srgbClr val="F4F5FB"/>
          </a:solidFill>
          <a:ln w="7620">
            <a:solidFill>
              <a:srgbClr val="A5B3D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Flood-front tracking — where the water actually goes</a:t>
            </a:r>
          </a:p>
        </p:txBody>
      </p:sp>
      <p:sp>
        <p:nvSpPr>
          <p:cNvPr id="16" name="Rounded Rectangle 15"/>
          <p:cNvSpPr/>
          <p:nvPr/>
        </p:nvSpPr>
        <p:spPr>
          <a:xfrm>
            <a:off x="201168" y="3767328"/>
            <a:ext cx="1883664" cy="402336"/>
          </a:xfrm>
          <a:prstGeom prst="roundRect">
            <a:avLst>
              <a:gd name="adj" fmla="val 10000"/>
            </a:avLst>
          </a:prstGeom>
          <a:solidFill>
            <a:srgbClr val="F4F5FB"/>
          </a:solidFill>
          <a:ln w="7620">
            <a:solidFill>
              <a:srgbClr val="A5B3D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Wet-and-dry handling at the flood edge</a:t>
            </a:r>
          </a:p>
        </p:txBody>
      </p:sp>
      <p:sp>
        <p:nvSpPr>
          <p:cNvPr id="17" name="Rounded Rectangle 16"/>
          <p:cNvSpPr/>
          <p:nvPr/>
        </p:nvSpPr>
        <p:spPr>
          <a:xfrm>
            <a:off x="201168" y="4224528"/>
            <a:ext cx="1883664" cy="402336"/>
          </a:xfrm>
          <a:prstGeom prst="roundRect">
            <a:avLst>
              <a:gd name="adj" fmla="val 10000"/>
            </a:avLst>
          </a:prstGeom>
          <a:solidFill>
            <a:srgbClr val="F4F5FB"/>
          </a:solidFill>
          <a:ln w="7620">
            <a:solidFill>
              <a:srgbClr val="A5B3D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Runs across every processor core available</a:t>
            </a:r>
          </a:p>
        </p:txBody>
      </p:sp>
      <p:cxnSp>
        <p:nvCxnSpPr>
          <p:cNvPr id="18" name="Connector 17"/>
          <p:cNvCxnSpPr/>
          <p:nvPr/>
        </p:nvCxnSpPr>
        <p:spPr>
          <a:xfrm flipH="1">
            <a:off x="3209544" y="1353312"/>
            <a:ext cx="2889504" cy="347472"/>
          </a:xfrm>
          <a:prstGeom prst="line">
            <a:avLst/>
          </a:prstGeom>
          <a:ln w="10160">
            <a:solidFill>
              <a:srgbClr val="9CA3AF"/>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212848" y="1700784"/>
            <a:ext cx="1993392" cy="530352"/>
          </a:xfrm>
          <a:prstGeom prst="roundRect">
            <a:avLst>
              <a:gd name="adj" fmla="val 12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19" b="1" i="0">
                <a:solidFill>
                  <a:srgbClr val="FFFFFF"/>
                </a:solidFill>
                <a:latin typeface="Calibri"/>
              </a:rPr>
              <a:t>Terrain and Dam Break</a:t>
            </a:r>
          </a:p>
        </p:txBody>
      </p:sp>
      <p:sp>
        <p:nvSpPr>
          <p:cNvPr id="20" name="TextBox 19"/>
          <p:cNvSpPr txBox="1"/>
          <p:nvPr/>
        </p:nvSpPr>
        <p:spPr>
          <a:xfrm>
            <a:off x="2231136" y="2286000"/>
            <a:ext cx="1956816" cy="530352"/>
          </a:xfrm>
          <a:prstGeom prst="rect">
            <a:avLst/>
          </a:prstGeom>
          <a:noFill/>
        </p:spPr>
        <p:txBody>
          <a:bodyPr wrap="square" anchor="t" lIns="18288" rIns="18288" tIns="0" bIns="0">
            <a:spAutoFit/>
          </a:bodyPr>
          <a:lstStyle/>
          <a:p>
            <a:pPr algn="ctr">
              <a:lnSpc>
                <a:spcPct val="92000"/>
              </a:lnSpc>
              <a:spcAft>
                <a:spcPts val="100"/>
              </a:spcAft>
            </a:pPr>
            <a:r>
              <a:rPr sz="570" b="0" i="0">
                <a:solidFill>
                  <a:srgbClr val="6B7280"/>
                </a:solidFill>
                <a:latin typeface="Calibri"/>
              </a:rPr>
              <a:t>Prepares the digital landscape, then models how the wall gives
way — how wide, how quickly, how much water is released.</a:t>
            </a:r>
          </a:p>
        </p:txBody>
      </p:sp>
      <p:sp>
        <p:nvSpPr>
          <p:cNvPr id="21" name="Rounded Rectangle 20"/>
          <p:cNvSpPr/>
          <p:nvPr/>
        </p:nvSpPr>
        <p:spPr>
          <a:xfrm>
            <a:off x="2212848" y="2852928"/>
            <a:ext cx="1993392" cy="402336"/>
          </a:xfrm>
          <a:prstGeom prst="roundRect">
            <a:avLst>
              <a:gd name="adj" fmla="val 10000"/>
            </a:avLst>
          </a:prstGeom>
          <a:solidFill>
            <a:srgbClr val="F2FAF8"/>
          </a:solidFill>
          <a:ln w="7620">
            <a:solidFill>
              <a:srgbClr val="9BD5C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Terrain smoothing and artefact cleaning</a:t>
            </a:r>
          </a:p>
        </p:txBody>
      </p:sp>
      <p:sp>
        <p:nvSpPr>
          <p:cNvPr id="22" name="Rounded Rectangle 21"/>
          <p:cNvSpPr/>
          <p:nvPr/>
        </p:nvSpPr>
        <p:spPr>
          <a:xfrm>
            <a:off x="2212848" y="3310128"/>
            <a:ext cx="1993392" cy="402336"/>
          </a:xfrm>
          <a:prstGeom prst="roundRect">
            <a:avLst>
              <a:gd name="adj" fmla="val 10000"/>
            </a:avLst>
          </a:prstGeom>
          <a:solidFill>
            <a:srgbClr val="F2FAF8"/>
          </a:solidFill>
          <a:ln w="7620">
            <a:solidFill>
              <a:srgbClr val="9BD5C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Breach growth from published dam-safety work</a:t>
            </a:r>
          </a:p>
        </p:txBody>
      </p:sp>
      <p:sp>
        <p:nvSpPr>
          <p:cNvPr id="23" name="Rounded Rectangle 22"/>
          <p:cNvSpPr/>
          <p:nvPr/>
        </p:nvSpPr>
        <p:spPr>
          <a:xfrm>
            <a:off x="2212848" y="3767328"/>
            <a:ext cx="1993392" cy="402336"/>
          </a:xfrm>
          <a:prstGeom prst="roundRect">
            <a:avLst>
              <a:gd name="adj" fmla="val 10000"/>
            </a:avLst>
          </a:prstGeom>
          <a:solidFill>
            <a:srgbClr val="F2FAF8"/>
          </a:solidFill>
          <a:ln w="7620">
            <a:solidFill>
              <a:srgbClr val="9BD5C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Study-area definition around the dam</a:t>
            </a:r>
          </a:p>
        </p:txBody>
      </p:sp>
      <p:sp>
        <p:nvSpPr>
          <p:cNvPr id="24" name="Rounded Rectangle 23"/>
          <p:cNvSpPr/>
          <p:nvPr/>
        </p:nvSpPr>
        <p:spPr>
          <a:xfrm>
            <a:off x="2212848" y="4224528"/>
            <a:ext cx="1993392" cy="402336"/>
          </a:xfrm>
          <a:prstGeom prst="roundRect">
            <a:avLst>
              <a:gd name="adj" fmla="val 10000"/>
            </a:avLst>
          </a:prstGeom>
          <a:solidFill>
            <a:srgbClr val="F2FAF8"/>
          </a:solidFill>
          <a:ln w="7620">
            <a:solidFill>
              <a:srgbClr val="9BD5C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Ground cover mapped to how fast water flows</a:t>
            </a:r>
          </a:p>
        </p:txBody>
      </p:sp>
      <p:cxnSp>
        <p:nvCxnSpPr>
          <p:cNvPr id="25" name="Connector 24"/>
          <p:cNvCxnSpPr/>
          <p:nvPr/>
        </p:nvCxnSpPr>
        <p:spPr>
          <a:xfrm flipH="1">
            <a:off x="5330952" y="1353312"/>
            <a:ext cx="768096" cy="347472"/>
          </a:xfrm>
          <a:prstGeom prst="line">
            <a:avLst/>
          </a:prstGeom>
          <a:ln w="10160">
            <a:solidFill>
              <a:srgbClr val="9CA3AF"/>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370832" y="1700784"/>
            <a:ext cx="1920240" cy="530352"/>
          </a:xfrm>
          <a:prstGeom prst="roundRect">
            <a:avLst>
              <a:gd name="adj" fmla="val 12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19" b="1" i="0">
                <a:solidFill>
                  <a:srgbClr val="FFFFFF"/>
                </a:solidFill>
                <a:latin typeface="Calibri"/>
              </a:rPr>
              <a:t>Impact and Risk</a:t>
            </a:r>
          </a:p>
        </p:txBody>
      </p:sp>
      <p:sp>
        <p:nvSpPr>
          <p:cNvPr id="27" name="TextBox 26"/>
          <p:cNvSpPr txBox="1"/>
          <p:nvPr/>
        </p:nvSpPr>
        <p:spPr>
          <a:xfrm>
            <a:off x="4389120" y="2286000"/>
            <a:ext cx="1883664" cy="530352"/>
          </a:xfrm>
          <a:prstGeom prst="rect">
            <a:avLst/>
          </a:prstGeom>
          <a:noFill/>
        </p:spPr>
        <p:txBody>
          <a:bodyPr wrap="square" anchor="t" lIns="18288" rIns="18288" tIns="0" bIns="0">
            <a:spAutoFit/>
          </a:bodyPr>
          <a:lstStyle/>
          <a:p>
            <a:pPr algn="ctr">
              <a:lnSpc>
                <a:spcPct val="92000"/>
              </a:lnSpc>
              <a:spcAft>
                <a:spcPts val="100"/>
              </a:spcAft>
            </a:pPr>
            <a:r>
              <a:rPr sz="570" b="0" i="0">
                <a:solidFill>
                  <a:srgbClr val="6B7280"/>
                </a:solidFill>
                <a:latin typeface="Calibri"/>
              </a:rPr>
              <a:t>Turns depth into consequence: which areas, how deep, how many
people, and what it is likely to cost.</a:t>
            </a:r>
          </a:p>
        </p:txBody>
      </p:sp>
      <p:sp>
        <p:nvSpPr>
          <p:cNvPr id="28" name="Rounded Rectangle 27"/>
          <p:cNvSpPr/>
          <p:nvPr/>
        </p:nvSpPr>
        <p:spPr>
          <a:xfrm>
            <a:off x="4370832" y="2852928"/>
            <a:ext cx="1920240" cy="402336"/>
          </a:xfrm>
          <a:prstGeom prst="roundRect">
            <a:avLst>
              <a:gd name="adj" fmla="val 10000"/>
            </a:avLst>
          </a:prstGeom>
          <a:solidFill>
            <a:srgbClr val="FDF4F4"/>
          </a:solidFill>
          <a:ln w="7620">
            <a:solidFill>
              <a:srgbClr val="F1A8A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Four hazard classes, ankle-deep to above five metres</a:t>
            </a:r>
          </a:p>
        </p:txBody>
      </p:sp>
      <p:sp>
        <p:nvSpPr>
          <p:cNvPr id="29" name="Rounded Rectangle 28"/>
          <p:cNvSpPr/>
          <p:nvPr/>
        </p:nvSpPr>
        <p:spPr>
          <a:xfrm>
            <a:off x="4370832" y="3310128"/>
            <a:ext cx="1920240" cy="402336"/>
          </a:xfrm>
          <a:prstGeom prst="roundRect">
            <a:avLst>
              <a:gd name="adj" fmla="val 10000"/>
            </a:avLst>
          </a:prstGeom>
          <a:solidFill>
            <a:srgbClr val="FDF4F4"/>
          </a:solidFill>
          <a:ln w="7620">
            <a:solidFill>
              <a:srgbClr val="F1A8A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Building damage from published damage curves</a:t>
            </a:r>
          </a:p>
        </p:txBody>
      </p:sp>
      <p:sp>
        <p:nvSpPr>
          <p:cNvPr id="30" name="Rounded Rectangle 29"/>
          <p:cNvSpPr/>
          <p:nvPr/>
        </p:nvSpPr>
        <p:spPr>
          <a:xfrm>
            <a:off x="4370832" y="3767328"/>
            <a:ext cx="1920240" cy="402336"/>
          </a:xfrm>
          <a:prstGeom prst="roundRect">
            <a:avLst>
              <a:gd name="adj" fmla="val 10000"/>
            </a:avLst>
          </a:prstGeom>
          <a:solidFill>
            <a:srgbClr val="FDF4F4"/>
          </a:solidFill>
          <a:ln w="7620">
            <a:solidFill>
              <a:srgbClr val="F1A8A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Loss-of-life estimates from the standard tables</a:t>
            </a:r>
          </a:p>
        </p:txBody>
      </p:sp>
      <p:sp>
        <p:nvSpPr>
          <p:cNvPr id="31" name="Rounded Rectangle 30"/>
          <p:cNvSpPr/>
          <p:nvPr/>
        </p:nvSpPr>
        <p:spPr>
          <a:xfrm>
            <a:off x="4370832" y="4224528"/>
            <a:ext cx="1920240" cy="402336"/>
          </a:xfrm>
          <a:prstGeom prst="roundRect">
            <a:avLst>
              <a:gd name="adj" fmla="val 10000"/>
            </a:avLst>
          </a:prstGeom>
          <a:solidFill>
            <a:srgbClr val="FDF4F4"/>
          </a:solidFill>
          <a:ln w="7620">
            <a:solidFill>
              <a:srgbClr val="F1A8A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Population exposed, read from satellite data</a:t>
            </a:r>
          </a:p>
        </p:txBody>
      </p:sp>
      <p:cxnSp>
        <p:nvCxnSpPr>
          <p:cNvPr id="32" name="Connector 31"/>
          <p:cNvCxnSpPr/>
          <p:nvPr/>
        </p:nvCxnSpPr>
        <p:spPr>
          <a:xfrm>
            <a:off x="6099048" y="1353312"/>
            <a:ext cx="1335023" cy="347472"/>
          </a:xfrm>
          <a:prstGeom prst="line">
            <a:avLst/>
          </a:prstGeom>
          <a:ln w="10160">
            <a:solidFill>
              <a:srgbClr val="9CA3AF"/>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455664" y="1700784"/>
            <a:ext cx="1956816" cy="530352"/>
          </a:xfrm>
          <a:prstGeom prst="roundRect">
            <a:avLst>
              <a:gd name="adj" fmla="val 12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19" b="1" i="0">
                <a:solidFill>
                  <a:srgbClr val="FFFFFF"/>
                </a:solidFill>
                <a:latin typeface="Calibri"/>
              </a:rPr>
              <a:t>Near-Dam 3D Physics</a:t>
            </a:r>
          </a:p>
        </p:txBody>
      </p:sp>
      <p:sp>
        <p:nvSpPr>
          <p:cNvPr id="34" name="TextBox 33"/>
          <p:cNvSpPr txBox="1"/>
          <p:nvPr/>
        </p:nvSpPr>
        <p:spPr>
          <a:xfrm>
            <a:off x="6473951" y="2286000"/>
            <a:ext cx="1920240" cy="530352"/>
          </a:xfrm>
          <a:prstGeom prst="rect">
            <a:avLst/>
          </a:prstGeom>
          <a:noFill/>
        </p:spPr>
        <p:txBody>
          <a:bodyPr wrap="square" anchor="t" lIns="18288" rIns="18288" tIns="0" bIns="0">
            <a:spAutoFit/>
          </a:bodyPr>
          <a:lstStyle/>
          <a:p>
            <a:pPr algn="ctr">
              <a:lnSpc>
                <a:spcPct val="92000"/>
              </a:lnSpc>
              <a:spcAft>
                <a:spcPts val="100"/>
              </a:spcAft>
            </a:pPr>
            <a:r>
              <a:rPr sz="570" b="0" i="0">
                <a:solidFill>
                  <a:srgbClr val="6B7280"/>
                </a:solidFill>
                <a:latin typeface="Calibri"/>
              </a:rPr>
              <a:t>Optional detail for the violent water right at the wall. It adds
resolution; it never replaces the main simulation.</a:t>
            </a:r>
          </a:p>
        </p:txBody>
      </p:sp>
      <p:sp>
        <p:nvSpPr>
          <p:cNvPr id="35" name="Rounded Rectangle 34"/>
          <p:cNvSpPr/>
          <p:nvPr/>
        </p:nvSpPr>
        <p:spPr>
          <a:xfrm rot="36000">
            <a:off x="6455664" y="2852928"/>
            <a:ext cx="1956816" cy="402336"/>
          </a:xfrm>
          <a:prstGeom prst="roundRect">
            <a:avLst>
              <a:gd name="adj" fmla="val 10000"/>
            </a:avLst>
          </a:prstGeom>
          <a:solidFill>
            <a:srgbClr val="F8F5FE"/>
          </a:solidFill>
          <a:ln w="7620">
            <a:solidFill>
              <a:srgbClr val="CBB0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Hand-off from the flood solver, one direction only</a:t>
            </a:r>
          </a:p>
        </p:txBody>
      </p:sp>
      <p:sp>
        <p:nvSpPr>
          <p:cNvPr id="36" name="Rounded Rectangle 35"/>
          <p:cNvSpPr/>
          <p:nvPr/>
        </p:nvSpPr>
        <p:spPr>
          <a:xfrm>
            <a:off x="6455664" y="3310128"/>
            <a:ext cx="1956816" cy="402336"/>
          </a:xfrm>
          <a:prstGeom prst="roundRect">
            <a:avLst>
              <a:gd name="adj" fmla="val 10000"/>
            </a:avLst>
          </a:prstGeom>
          <a:solidFill>
            <a:srgbClr val="F8F5FE"/>
          </a:solidFill>
          <a:ln w="7620">
            <a:solidFill>
              <a:srgbClr val="CBB0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A 3D domain roughly 600 metres across</a:t>
            </a:r>
          </a:p>
        </p:txBody>
      </p:sp>
      <p:sp>
        <p:nvSpPr>
          <p:cNvPr id="37" name="Rounded Rectangle 36"/>
          <p:cNvSpPr/>
          <p:nvPr/>
        </p:nvSpPr>
        <p:spPr>
          <a:xfrm>
            <a:off x="6455664" y="3767328"/>
            <a:ext cx="1956816" cy="402336"/>
          </a:xfrm>
          <a:prstGeom prst="roundRect">
            <a:avLst>
              <a:gd name="adj" fmla="val 10000"/>
            </a:avLst>
          </a:prstGeom>
          <a:solidFill>
            <a:srgbClr val="F8F5FE"/>
          </a:solidFill>
          <a:ln w="7620">
            <a:solidFill>
              <a:srgbClr val="CBB0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Particle-based water, about 15 seconds of it</a:t>
            </a:r>
          </a:p>
        </p:txBody>
      </p:sp>
      <p:sp>
        <p:nvSpPr>
          <p:cNvPr id="38" name="Rounded Rectangle 37"/>
          <p:cNvSpPr/>
          <p:nvPr/>
        </p:nvSpPr>
        <p:spPr>
          <a:xfrm>
            <a:off x="6455664" y="4224528"/>
            <a:ext cx="1956816" cy="402336"/>
          </a:xfrm>
          <a:prstGeom prst="roundRect">
            <a:avLst>
              <a:gd name="adj" fmla="val 10000"/>
            </a:avLst>
          </a:prstGeom>
          <a:solidFill>
            <a:srgbClr val="F8F5FE"/>
          </a:solidFill>
          <a:ln w="7620">
            <a:solidFill>
              <a:srgbClr val="CBB0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Overtopping and splash behaviour at the crest</a:t>
            </a:r>
          </a:p>
        </p:txBody>
      </p:sp>
      <p:cxnSp>
        <p:nvCxnSpPr>
          <p:cNvPr id="39" name="Connector 38"/>
          <p:cNvCxnSpPr/>
          <p:nvPr/>
        </p:nvCxnSpPr>
        <p:spPr>
          <a:xfrm>
            <a:off x="6099048" y="1353312"/>
            <a:ext cx="3401568" cy="347472"/>
          </a:xfrm>
          <a:prstGeom prst="line">
            <a:avLst/>
          </a:prstGeom>
          <a:ln w="10160">
            <a:solidFill>
              <a:srgbClr val="9CA3AF"/>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8577072" y="1700784"/>
            <a:ext cx="1847088" cy="530352"/>
          </a:xfrm>
          <a:prstGeom prst="roundRect">
            <a:avLst>
              <a:gd name="adj" fmla="val 12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19" b="1" i="0">
                <a:solidFill>
                  <a:srgbClr val="FFFFFF"/>
                </a:solidFill>
                <a:latin typeface="Calibri"/>
              </a:rPr>
              <a:t>Quality Assurance</a:t>
            </a:r>
          </a:p>
        </p:txBody>
      </p:sp>
      <p:sp>
        <p:nvSpPr>
          <p:cNvPr id="41" name="TextBox 40"/>
          <p:cNvSpPr txBox="1"/>
          <p:nvPr/>
        </p:nvSpPr>
        <p:spPr>
          <a:xfrm>
            <a:off x="8595360" y="2286000"/>
            <a:ext cx="1810512" cy="530352"/>
          </a:xfrm>
          <a:prstGeom prst="rect">
            <a:avLst/>
          </a:prstGeom>
          <a:noFill/>
        </p:spPr>
        <p:txBody>
          <a:bodyPr wrap="square" anchor="t" lIns="18288" rIns="18288" tIns="0" bIns="0">
            <a:spAutoFit/>
          </a:bodyPr>
          <a:lstStyle/>
          <a:p>
            <a:pPr algn="ctr">
              <a:lnSpc>
                <a:spcPct val="92000"/>
              </a:lnSpc>
              <a:spcAft>
                <a:spcPts val="100"/>
              </a:spcAft>
            </a:pPr>
            <a:r>
              <a:rPr sz="570" b="0" i="0">
                <a:solidFill>
                  <a:srgbClr val="6B7280"/>
                </a:solidFill>
                <a:latin typeface="Calibri"/>
              </a:rPr>
              <a:t>Automated proof that must pass before a result is released.
Four checks. Fail one and nothing is published.</a:t>
            </a:r>
          </a:p>
        </p:txBody>
      </p:sp>
      <p:sp>
        <p:nvSpPr>
          <p:cNvPr id="42" name="Rounded Rectangle 41"/>
          <p:cNvSpPr/>
          <p:nvPr/>
        </p:nvSpPr>
        <p:spPr>
          <a:xfrm>
            <a:off x="8577072" y="2852928"/>
            <a:ext cx="1847088" cy="402336"/>
          </a:xfrm>
          <a:prstGeom prst="roundRect">
            <a:avLst>
              <a:gd name="adj" fmla="val 10000"/>
            </a:avLst>
          </a:prstGeom>
          <a:solidFill>
            <a:srgbClr val="F2FAF8"/>
          </a:solidFill>
          <a:ln w="7620">
            <a:solidFill>
              <a:srgbClr val="9BD5C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Still water must stay still</a:t>
            </a:r>
          </a:p>
        </p:txBody>
      </p:sp>
      <p:sp>
        <p:nvSpPr>
          <p:cNvPr id="43" name="Rounded Rectangle 42"/>
          <p:cNvSpPr/>
          <p:nvPr/>
        </p:nvSpPr>
        <p:spPr>
          <a:xfrm>
            <a:off x="8577072" y="3310128"/>
            <a:ext cx="1847088" cy="402336"/>
          </a:xfrm>
          <a:prstGeom prst="roundRect">
            <a:avLst>
              <a:gd name="adj" fmla="val 10000"/>
            </a:avLst>
          </a:prstGeom>
          <a:solidFill>
            <a:srgbClr val="F2FAF8"/>
          </a:solidFill>
          <a:ln w="7620">
            <a:solidFill>
              <a:srgbClr val="9BD5C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No water may be created or lost</a:t>
            </a:r>
          </a:p>
        </p:txBody>
      </p:sp>
      <p:sp>
        <p:nvSpPr>
          <p:cNvPr id="44" name="Rounded Rectangle 43"/>
          <p:cNvSpPr/>
          <p:nvPr/>
        </p:nvSpPr>
        <p:spPr>
          <a:xfrm>
            <a:off x="8577072" y="3767328"/>
            <a:ext cx="1847088" cy="402336"/>
          </a:xfrm>
          <a:prstGeom prst="roundRect">
            <a:avLst>
              <a:gd name="adj" fmla="val 10000"/>
            </a:avLst>
          </a:prstGeom>
          <a:solidFill>
            <a:srgbClr val="F2FAF8"/>
          </a:solidFill>
          <a:ln w="7620">
            <a:solidFill>
              <a:srgbClr val="9BD5C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No impossible depths anywhere in the grid</a:t>
            </a:r>
          </a:p>
        </p:txBody>
      </p:sp>
      <p:sp>
        <p:nvSpPr>
          <p:cNvPr id="45" name="Rounded Rectangle 44"/>
          <p:cNvSpPr/>
          <p:nvPr/>
        </p:nvSpPr>
        <p:spPr>
          <a:xfrm>
            <a:off x="8577072" y="4224528"/>
            <a:ext cx="1847088" cy="402336"/>
          </a:xfrm>
          <a:prstGeom prst="roundRect">
            <a:avLst>
              <a:gd name="adj" fmla="val 10000"/>
            </a:avLst>
          </a:prstGeom>
          <a:solidFill>
            <a:srgbClr val="F2FAF8"/>
          </a:solidFill>
          <a:ln w="7620">
            <a:solidFill>
              <a:srgbClr val="9BD5C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The answer must match the independent engine</a:t>
            </a:r>
          </a:p>
        </p:txBody>
      </p:sp>
      <p:cxnSp>
        <p:nvCxnSpPr>
          <p:cNvPr id="46" name="Connector 45"/>
          <p:cNvCxnSpPr/>
          <p:nvPr/>
        </p:nvCxnSpPr>
        <p:spPr>
          <a:xfrm>
            <a:off x="6099048" y="1353312"/>
            <a:ext cx="5207507" cy="347472"/>
          </a:xfrm>
          <a:prstGeom prst="line">
            <a:avLst/>
          </a:prstGeom>
          <a:ln w="10160">
            <a:solidFill>
              <a:srgbClr val="9CA3AF"/>
            </a:solidFill>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10625328" y="1700784"/>
            <a:ext cx="1362456" cy="530352"/>
          </a:xfrm>
          <a:prstGeom prst="roundRect">
            <a:avLst>
              <a:gd name="adj" fmla="val 12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19" b="1" i="0">
                <a:solidFill>
                  <a:srgbClr val="FFFFFF"/>
                </a:solidFill>
                <a:latin typeface="Calibri"/>
              </a:rPr>
              <a:t>Reports and Maps</a:t>
            </a:r>
          </a:p>
        </p:txBody>
      </p:sp>
      <p:sp>
        <p:nvSpPr>
          <p:cNvPr id="48" name="TextBox 47"/>
          <p:cNvSpPr txBox="1"/>
          <p:nvPr/>
        </p:nvSpPr>
        <p:spPr>
          <a:xfrm>
            <a:off x="10643615" y="2286000"/>
            <a:ext cx="1325880" cy="530352"/>
          </a:xfrm>
          <a:prstGeom prst="rect">
            <a:avLst/>
          </a:prstGeom>
          <a:noFill/>
        </p:spPr>
        <p:txBody>
          <a:bodyPr wrap="square" anchor="t" lIns="18288" rIns="18288" tIns="0" bIns="0">
            <a:spAutoFit/>
          </a:bodyPr>
          <a:lstStyle/>
          <a:p>
            <a:pPr algn="ctr">
              <a:lnSpc>
                <a:spcPct val="92000"/>
              </a:lnSpc>
              <a:spcAft>
                <a:spcPts val="100"/>
              </a:spcAft>
            </a:pPr>
            <a:r>
              <a:rPr sz="570" b="0" i="0">
                <a:solidFill>
                  <a:srgbClr val="6B7280"/>
                </a:solidFill>
                <a:latin typeface="Calibri"/>
              </a:rPr>
              <a:t>Everything a decision maker actually receives.</a:t>
            </a:r>
          </a:p>
        </p:txBody>
      </p:sp>
      <p:sp>
        <p:nvSpPr>
          <p:cNvPr id="49" name="Rounded Rectangle 48"/>
          <p:cNvSpPr/>
          <p:nvPr/>
        </p:nvSpPr>
        <p:spPr>
          <a:xfrm>
            <a:off x="10625328" y="2852928"/>
            <a:ext cx="1362456" cy="402336"/>
          </a:xfrm>
          <a:prstGeom prst="roundRect">
            <a:avLst>
              <a:gd name="adj" fmla="val 10000"/>
            </a:avLst>
          </a:prstGeom>
          <a:solidFill>
            <a:srgbClr val="F6F6FE"/>
          </a:solidFill>
          <a:ln w="7620">
            <a:solidFill>
              <a:srgbClr val="B9B5F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Flood depth maps for standard mapping tools</a:t>
            </a:r>
          </a:p>
        </p:txBody>
      </p:sp>
      <p:sp>
        <p:nvSpPr>
          <p:cNvPr id="50" name="Rounded Rectangle 49"/>
          <p:cNvSpPr/>
          <p:nvPr/>
        </p:nvSpPr>
        <p:spPr>
          <a:xfrm>
            <a:off x="10625328" y="3310128"/>
            <a:ext cx="1362456" cy="402336"/>
          </a:xfrm>
          <a:prstGeom prst="roundRect">
            <a:avLst>
              <a:gd name="adj" fmla="val 10000"/>
            </a:avLst>
          </a:prstGeom>
          <a:solidFill>
            <a:srgbClr val="F6F6FE"/>
          </a:solidFill>
          <a:ln w="7620">
            <a:solidFill>
              <a:srgbClr val="B9B5F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Boundary shapes for planning software</a:t>
            </a:r>
          </a:p>
        </p:txBody>
      </p:sp>
      <p:sp>
        <p:nvSpPr>
          <p:cNvPr id="51" name="Rounded Rectangle 50"/>
          <p:cNvSpPr/>
          <p:nvPr/>
        </p:nvSpPr>
        <p:spPr>
          <a:xfrm>
            <a:off x="10625328" y="3767328"/>
            <a:ext cx="1362456" cy="402336"/>
          </a:xfrm>
          <a:prstGeom prst="roundRect">
            <a:avLst>
              <a:gd name="adj" fmla="val 10000"/>
            </a:avLst>
          </a:prstGeom>
          <a:solidFill>
            <a:srgbClr val="F6F6FE"/>
          </a:solidFill>
          <a:ln w="7620">
            <a:solidFill>
              <a:srgbClr val="B9B5F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Google Earth overlays</a:t>
            </a:r>
          </a:p>
        </p:txBody>
      </p:sp>
      <p:sp>
        <p:nvSpPr>
          <p:cNvPr id="52" name="Rounded Rectangle 51"/>
          <p:cNvSpPr/>
          <p:nvPr/>
        </p:nvSpPr>
        <p:spPr>
          <a:xfrm>
            <a:off x="10625328" y="4224528"/>
            <a:ext cx="1362456" cy="402336"/>
          </a:xfrm>
          <a:prstGeom prst="roundRect">
            <a:avLst>
              <a:gd name="adj" fmla="val 10000"/>
            </a:avLst>
          </a:prstGeom>
          <a:solidFill>
            <a:srgbClr val="F6F6FE"/>
          </a:solidFill>
          <a:ln w="7620">
            <a:solidFill>
              <a:srgbClr val="B9B5F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Time-lapse animation frames</a:t>
            </a:r>
          </a:p>
        </p:txBody>
      </p:sp>
      <p:sp>
        <p:nvSpPr>
          <p:cNvPr id="53" name="Rounded Rectangle 52"/>
          <p:cNvSpPr/>
          <p:nvPr/>
        </p:nvSpPr>
        <p:spPr>
          <a:xfrm>
            <a:off x="10625328" y="4681728"/>
            <a:ext cx="1362456" cy="402336"/>
          </a:xfrm>
          <a:prstGeom prst="roundRect">
            <a:avLst>
              <a:gd name="adj" fmla="val 10000"/>
            </a:avLst>
          </a:prstGeom>
          <a:solidFill>
            <a:srgbClr val="F6F6FE"/>
          </a:solidFill>
          <a:ln w="7620">
            <a:solidFill>
              <a:srgbClr val="B9B5F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Spreadsheets of arrival times</a:t>
            </a:r>
          </a:p>
        </p:txBody>
      </p:sp>
      <p:sp>
        <p:nvSpPr>
          <p:cNvPr id="54" name="TextBox 53"/>
          <p:cNvSpPr txBox="1"/>
          <p:nvPr/>
        </p:nvSpPr>
        <p:spPr>
          <a:xfrm>
            <a:off x="201168" y="5138928"/>
            <a:ext cx="5504688" cy="219456"/>
          </a:xfrm>
          <a:prstGeom prst="rect">
            <a:avLst/>
          </a:prstGeom>
          <a:noFill/>
        </p:spPr>
        <p:txBody>
          <a:bodyPr wrap="square" anchor="t" lIns="18288" rIns="18288" tIns="0" bIns="0">
            <a:spAutoFit/>
          </a:bodyPr>
          <a:lstStyle/>
          <a:p>
            <a:pPr algn="l">
              <a:lnSpc>
                <a:spcPct val="92000"/>
              </a:lnSpc>
              <a:spcAft>
                <a:spcPts val="100"/>
              </a:spcAft>
            </a:pPr>
            <a:r>
              <a:rPr sz="840" b="1" i="0">
                <a:solidFill>
                  <a:srgbClr val="6B7280"/>
                </a:solidFill>
                <a:latin typeface="Calibri"/>
              </a:rPr>
              <a:t>The one rule the whole map obeys</a:t>
            </a:r>
          </a:p>
        </p:txBody>
      </p:sp>
      <p:sp>
        <p:nvSpPr>
          <p:cNvPr id="55" name="Rounded Rectangle 54"/>
          <p:cNvSpPr/>
          <p:nvPr/>
        </p:nvSpPr>
        <p:spPr>
          <a:xfrm rot="21582000">
            <a:off x="201168" y="5431536"/>
            <a:ext cx="5504688" cy="950976"/>
          </a:xfrm>
          <a:prstGeom prst="roundRect">
            <a:avLst>
              <a:gd name="adj" fmla="val 14000"/>
            </a:avLst>
          </a:prstGeom>
          <a:solidFill>
            <a:srgbClr val="FBF1E6"/>
          </a:solidFill>
          <a:ln w="1143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l">
              <a:lnSpc>
                <a:spcPct val="92000"/>
              </a:lnSpc>
              <a:spcAft>
                <a:spcPts val="100"/>
              </a:spcAft>
            </a:pPr>
            <a:r>
              <a:rPr sz="660" b="0" i="1">
                <a:solidFill>
                  <a:srgbClr val="824704"/>
                </a:solidFill>
                <a:latin typeface="Calibri"/>
              </a:rPr>
              <a:t>A part may only depend on the parts to its left. That is why the near-dam 3D physics can be switched off entirely without touching anything else, and why the reporting stage can be rewritten without going near the mathematics. It is also what keeps each part testable on its own.</a:t>
            </a:r>
          </a:p>
        </p:txBody>
      </p:sp>
      <p:sp>
        <p:nvSpPr>
          <p:cNvPr id="56" name="TextBox 55"/>
          <p:cNvSpPr txBox="1"/>
          <p:nvPr/>
        </p:nvSpPr>
        <p:spPr>
          <a:xfrm>
            <a:off x="5961888" y="5138928"/>
            <a:ext cx="2743200" cy="219456"/>
          </a:xfrm>
          <a:prstGeom prst="rect">
            <a:avLst/>
          </a:prstGeom>
          <a:noFill/>
        </p:spPr>
        <p:txBody>
          <a:bodyPr wrap="square" anchor="t" lIns="18288" rIns="18288" tIns="0" bIns="0">
            <a:spAutoFit/>
          </a:bodyPr>
          <a:lstStyle/>
          <a:p>
            <a:pPr algn="l">
              <a:lnSpc>
                <a:spcPct val="92000"/>
              </a:lnSpc>
              <a:spcAft>
                <a:spcPts val="100"/>
              </a:spcAft>
            </a:pPr>
            <a:r>
              <a:rPr sz="840" b="1" i="0">
                <a:solidFill>
                  <a:srgbClr val="6B7280"/>
                </a:solidFill>
                <a:latin typeface="Calibri"/>
              </a:rPr>
              <a:t>Supporting services</a:t>
            </a:r>
          </a:p>
        </p:txBody>
      </p:sp>
      <p:sp>
        <p:nvSpPr>
          <p:cNvPr id="57" name="Rounded Rectangle 56"/>
          <p:cNvSpPr/>
          <p:nvPr/>
        </p:nvSpPr>
        <p:spPr>
          <a:xfrm>
            <a:off x="5961888" y="5431536"/>
            <a:ext cx="1883664" cy="950976"/>
          </a:xfrm>
          <a:prstGeom prst="roundRect">
            <a:avLst>
              <a:gd name="adj" fmla="val 10000"/>
            </a:avLst>
          </a:prstGeom>
          <a:solidFill>
            <a:srgbClr val="EDEEF0"/>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8000"/>
              </a:lnSpc>
              <a:spcAft>
                <a:spcPts val="100"/>
              </a:spcAft>
            </a:pPr>
            <a:r>
              <a:rPr sz="720" b="1" i="0">
                <a:solidFill>
                  <a:srgbClr val="2E3744"/>
                </a:solidFill>
                <a:latin typeface="Calibri"/>
              </a:rPr>
              <a:t>Settings Loader</a:t>
            </a:r>
          </a:p>
          <a:p>
            <a:pPr algn="ctr">
              <a:lnSpc>
                <a:spcPct val="90000"/>
              </a:lnSpc>
              <a:spcAft>
                <a:spcPts val="100"/>
              </a:spcAft>
            </a:pPr>
            <a:r>
              <a:rPr sz="570" b="0" i="0">
                <a:solidFill>
                  <a:srgbClr val="6B7280"/>
                </a:solidFill>
                <a:latin typeface="Calibri"/>
              </a:rPr>
              <a:t>Reads the run settings and
checks them before anything starts</a:t>
            </a:r>
          </a:p>
        </p:txBody>
      </p:sp>
      <p:sp>
        <p:nvSpPr>
          <p:cNvPr id="58" name="Rounded Rectangle 57"/>
          <p:cNvSpPr/>
          <p:nvPr/>
        </p:nvSpPr>
        <p:spPr>
          <a:xfrm>
            <a:off x="7973568" y="5431536"/>
            <a:ext cx="1956816" cy="950976"/>
          </a:xfrm>
          <a:prstGeom prst="roundRect">
            <a:avLst>
              <a:gd name="adj" fmla="val 10000"/>
            </a:avLst>
          </a:prstGeom>
          <a:solidFill>
            <a:srgbClr val="E8EAEE"/>
          </a:solidFill>
          <a:ln w="12700">
            <a:solidFill>
              <a:srgbClr val="1430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8000"/>
              </a:lnSpc>
              <a:spcAft>
                <a:spcPts val="100"/>
              </a:spcAft>
            </a:pPr>
            <a:r>
              <a:rPr sz="720" b="1" i="0">
                <a:solidFill>
                  <a:srgbClr val="0D1F3A"/>
                </a:solidFill>
                <a:latin typeface="Calibri"/>
              </a:rPr>
              <a:t>Dam Profile Library</a:t>
            </a:r>
          </a:p>
          <a:p>
            <a:pPr algn="ctr">
              <a:lnSpc>
                <a:spcPct val="90000"/>
              </a:lnSpc>
              <a:spcAft>
                <a:spcPts val="100"/>
              </a:spcAft>
            </a:pPr>
            <a:r>
              <a:rPr sz="570" b="0" i="0">
                <a:solidFill>
                  <a:srgbClr val="6B7280"/>
                </a:solidFill>
                <a:latin typeface="Calibri"/>
              </a:rPr>
              <a:t>Tehri, Khadakwasla and their
downstream towns, ready to run</a:t>
            </a:r>
          </a:p>
        </p:txBody>
      </p:sp>
      <p:sp>
        <p:nvSpPr>
          <p:cNvPr id="59" name="Rounded Rectangle 58"/>
          <p:cNvSpPr/>
          <p:nvPr/>
        </p:nvSpPr>
        <p:spPr>
          <a:xfrm>
            <a:off x="10076688" y="5431536"/>
            <a:ext cx="1911095" cy="950976"/>
          </a:xfrm>
          <a:prstGeom prst="roundRect">
            <a:avLst>
              <a:gd name="adj" fmla="val 10000"/>
            </a:avLst>
          </a:prstGeom>
          <a:solidFill>
            <a:srgbClr val="EDEEF0"/>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8000"/>
              </a:lnSpc>
              <a:spcAft>
                <a:spcPts val="100"/>
              </a:spcAft>
            </a:pPr>
            <a:r>
              <a:rPr sz="720" b="1" i="0">
                <a:solidFill>
                  <a:srgbClr val="2E3744"/>
                </a:solidFill>
                <a:latin typeface="Calibri"/>
              </a:rPr>
              <a:t>Offline Cache</a:t>
            </a:r>
          </a:p>
          <a:p>
            <a:pPr algn="ctr">
              <a:lnSpc>
                <a:spcPct val="90000"/>
              </a:lnSpc>
              <a:spcAft>
                <a:spcPts val="100"/>
              </a:spcAft>
            </a:pPr>
            <a:r>
              <a:rPr sz="570" b="0" i="0">
                <a:solidFill>
                  <a:srgbClr val="6B7280"/>
                </a:solidFill>
                <a:latin typeface="Calibri"/>
              </a:rPr>
              <a:t>Holds everything downloaded so
the next run needs no network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01168" y="128016"/>
            <a:ext cx="1188720" cy="310896"/>
          </a:xfrm>
          <a:prstGeom prst="roundRect">
            <a:avLst>
              <a:gd name="adj" fmla="val 40000"/>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2860" bIns="22860"/>
          <a:lstStyle/>
          <a:p>
            <a:pPr algn="ctr">
              <a:lnSpc>
                <a:spcPct val="92000"/>
              </a:lnSpc>
              <a:spcAft>
                <a:spcPts val="100"/>
              </a:spcAft>
            </a:pPr>
            <a:r>
              <a:rPr sz="1100" b="1" i="0">
                <a:solidFill>
                  <a:srgbClr val="FFFFFF"/>
                </a:solidFill>
                <a:latin typeface="Calibri"/>
              </a:rPr>
              <a:t>FloodView</a:t>
            </a:r>
          </a:p>
        </p:txBody>
      </p:sp>
      <p:sp>
        <p:nvSpPr>
          <p:cNvPr id="3" name="TextBox 2"/>
          <p:cNvSpPr txBox="1"/>
          <p:nvPr/>
        </p:nvSpPr>
        <p:spPr>
          <a:xfrm>
            <a:off x="201168" y="457200"/>
            <a:ext cx="1463040" cy="182880"/>
          </a:xfrm>
          <a:prstGeom prst="rect">
            <a:avLst/>
          </a:prstGeom>
          <a:noFill/>
        </p:spPr>
        <p:txBody>
          <a:bodyPr wrap="square" anchor="t" lIns="18288" rIns="18288" tIns="0" bIns="0">
            <a:spAutoFit/>
          </a:bodyPr>
          <a:lstStyle/>
          <a:p>
            <a:pPr algn="l">
              <a:lnSpc>
                <a:spcPct val="92000"/>
              </a:lnSpc>
              <a:spcAft>
                <a:spcPts val="100"/>
              </a:spcAft>
            </a:pPr>
            <a:r>
              <a:rPr sz="620" b="0" i="0">
                <a:solidFill>
                  <a:srgbClr val="6B7280"/>
                </a:solidFill>
                <a:latin typeface="Calibri"/>
              </a:rPr>
              <a:t>PS 26161 · NTRO</a:t>
            </a:r>
          </a:p>
        </p:txBody>
      </p:sp>
      <p:sp>
        <p:nvSpPr>
          <p:cNvPr id="4" name="TextBox 3"/>
          <p:cNvSpPr txBox="1"/>
          <p:nvPr/>
        </p:nvSpPr>
        <p:spPr>
          <a:xfrm>
            <a:off x="1554480" y="91440"/>
            <a:ext cx="8732520" cy="384048"/>
          </a:xfrm>
          <a:prstGeom prst="rect">
            <a:avLst/>
          </a:prstGeom>
          <a:noFill/>
        </p:spPr>
        <p:txBody>
          <a:bodyPr wrap="square" anchor="ctr" lIns="18288" rIns="18288" tIns="0" bIns="0">
            <a:spAutoFit/>
          </a:bodyPr>
          <a:lstStyle/>
          <a:p>
            <a:pPr algn="ctr">
              <a:lnSpc>
                <a:spcPct val="92000"/>
              </a:lnSpc>
              <a:spcAft>
                <a:spcPts val="100"/>
              </a:spcAft>
            </a:pPr>
            <a:r>
              <a:rPr sz="2300" b="1" i="0">
                <a:solidFill>
                  <a:srgbClr val="1F2937"/>
                </a:solidFill>
                <a:latin typeface="Calibri"/>
              </a:rPr>
              <a:t>FROM RAW DATA TO A DECISION</a:t>
            </a:r>
          </a:p>
        </p:txBody>
      </p:sp>
      <p:sp>
        <p:nvSpPr>
          <p:cNvPr id="5" name="TextBox 4"/>
          <p:cNvSpPr txBox="1"/>
          <p:nvPr/>
        </p:nvSpPr>
        <p:spPr>
          <a:xfrm>
            <a:off x="1554480" y="475488"/>
            <a:ext cx="8732520" cy="201168"/>
          </a:xfrm>
          <a:prstGeom prst="rect">
            <a:avLst/>
          </a:prstGeom>
          <a:noFill/>
        </p:spPr>
        <p:txBody>
          <a:bodyPr wrap="square" anchor="t" lIns="18288" rIns="18288" tIns="0" bIns="0">
            <a:spAutoFit/>
          </a:bodyPr>
          <a:lstStyle/>
          <a:p>
            <a:pPr algn="ctr">
              <a:lnSpc>
                <a:spcPct val="92000"/>
              </a:lnSpc>
              <a:spcAft>
                <a:spcPts val="100"/>
              </a:spcAft>
            </a:pPr>
            <a:r>
              <a:rPr sz="819" b="0" i="1">
                <a:solidFill>
                  <a:srgbClr val="6B7280"/>
                </a:solidFill>
                <a:latin typeface="Calibri"/>
              </a:rPr>
              <a:t>Three stages. Collect once, simulate on demand, then publish something a district officer can act on.</a:t>
            </a:r>
          </a:p>
        </p:txBody>
      </p:sp>
      <p:sp>
        <p:nvSpPr>
          <p:cNvPr id="6" name="TextBox 5"/>
          <p:cNvSpPr txBox="1"/>
          <p:nvPr/>
        </p:nvSpPr>
        <p:spPr>
          <a:xfrm>
            <a:off x="10378440" y="128016"/>
            <a:ext cx="1609344" cy="402336"/>
          </a:xfrm>
          <a:prstGeom prst="rect">
            <a:avLst/>
          </a:prstGeom>
          <a:noFill/>
        </p:spPr>
        <p:txBody>
          <a:bodyPr wrap="square" anchor="t" lIns="18288" rIns="18288" tIns="0" bIns="0">
            <a:spAutoFit/>
          </a:bodyPr>
          <a:lstStyle/>
          <a:p>
            <a:pPr algn="r">
              <a:lnSpc>
                <a:spcPct val="92000"/>
              </a:lnSpc>
              <a:spcAft>
                <a:spcPts val="0"/>
              </a:spcAft>
            </a:pPr>
            <a:r>
              <a:rPr sz="800" b="1" i="0">
                <a:solidFill>
                  <a:srgbClr val="0070C0"/>
                </a:solidFill>
                <a:latin typeface="Calibri"/>
              </a:rPr>
              <a:t>SMART INDIA</a:t>
            </a:r>
          </a:p>
          <a:p>
            <a:pPr algn="r">
              <a:lnSpc>
                <a:spcPct val="92000"/>
              </a:lnSpc>
              <a:spcAft>
                <a:spcPts val="0"/>
              </a:spcAft>
            </a:pPr>
            <a:r>
              <a:rPr sz="800" b="1" i="0">
                <a:solidFill>
                  <a:srgbClr val="0070C0"/>
                </a:solidFill>
                <a:latin typeface="Calibri"/>
              </a:rPr>
              <a:t>HACKATHON 2026</a:t>
            </a:r>
          </a:p>
        </p:txBody>
      </p:sp>
      <p:sp>
        <p:nvSpPr>
          <p:cNvPr id="7" name="Rectangle 6"/>
          <p:cNvSpPr/>
          <p:nvPr/>
        </p:nvSpPr>
        <p:spPr>
          <a:xfrm>
            <a:off x="0" y="6547104"/>
            <a:ext cx="12191695" cy="310896"/>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8" name="TextBox 7"/>
          <p:cNvSpPr txBox="1"/>
          <p:nvPr/>
        </p:nvSpPr>
        <p:spPr>
          <a:xfrm>
            <a:off x="256032" y="6601968"/>
            <a:ext cx="10607040" cy="201168"/>
          </a:xfrm>
          <a:prstGeom prst="rect">
            <a:avLst/>
          </a:prstGeom>
          <a:noFill/>
        </p:spPr>
        <p:txBody>
          <a:bodyPr wrap="square" anchor="t" lIns="18288" rIns="18288" tIns="0" bIns="0">
            <a:spAutoFit/>
          </a:bodyPr>
          <a:lstStyle/>
          <a:p>
            <a:pPr algn="l">
              <a:lnSpc>
                <a:spcPct val="92000"/>
              </a:lnSpc>
              <a:spcAft>
                <a:spcPts val="100"/>
              </a:spcAft>
            </a:pPr>
            <a:r>
              <a:rPr sz="800" b="1" i="0">
                <a:solidFill>
                  <a:srgbClr val="FFFFFF"/>
                </a:solidFill>
                <a:latin typeface="Calibri"/>
              </a:rPr>
              <a:t>Stage one happens once per dam. Stages two and three happen every time somebody asks a question.</a:t>
            </a:r>
          </a:p>
        </p:txBody>
      </p:sp>
      <p:sp>
        <p:nvSpPr>
          <p:cNvPr id="9" name="TextBox 8"/>
          <p:cNvSpPr txBox="1"/>
          <p:nvPr/>
        </p:nvSpPr>
        <p:spPr>
          <a:xfrm>
            <a:off x="11521440" y="6601968"/>
            <a:ext cx="457200" cy="201168"/>
          </a:xfrm>
          <a:prstGeom prst="rect">
            <a:avLst/>
          </a:prstGeom>
          <a:noFill/>
        </p:spPr>
        <p:txBody>
          <a:bodyPr wrap="square" anchor="t" lIns="18288" rIns="18288" tIns="0" bIns="0">
            <a:spAutoFit/>
          </a:bodyPr>
          <a:lstStyle/>
          <a:p>
            <a:pPr algn="r">
              <a:lnSpc>
                <a:spcPct val="92000"/>
              </a:lnSpc>
              <a:spcAft>
                <a:spcPts val="100"/>
              </a:spcAft>
            </a:pPr>
            <a:r>
              <a:rPr sz="850" b="1" i="0">
                <a:solidFill>
                  <a:srgbClr val="FFFFFF"/>
                </a:solidFill>
                <a:latin typeface="Calibri"/>
              </a:rPr>
              <a:t>7</a:t>
            </a:r>
          </a:p>
        </p:txBody>
      </p:sp>
      <p:sp>
        <p:nvSpPr>
          <p:cNvPr id="10" name="Chevron 9"/>
          <p:cNvSpPr/>
          <p:nvPr/>
        </p:nvSpPr>
        <p:spPr>
          <a:xfrm>
            <a:off x="201168" y="877824"/>
            <a:ext cx="2926080" cy="310896"/>
          </a:xfrm>
          <a:prstGeom prst="chevron">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92000"/>
              </a:lnSpc>
              <a:spcAft>
                <a:spcPts val="100"/>
              </a:spcAft>
            </a:pPr>
            <a:r>
              <a:rPr sz="800" b="1" i="0">
                <a:solidFill>
                  <a:srgbClr val="FFFFFF"/>
                </a:solidFill>
                <a:latin typeface="Calibri"/>
              </a:rPr>
              <a:t>STAGE 1  ·  COLLECT AND PREPARE</a:t>
            </a:r>
          </a:p>
        </p:txBody>
      </p:sp>
      <p:sp>
        <p:nvSpPr>
          <p:cNvPr id="11" name="TextBox 10"/>
          <p:cNvSpPr txBox="1"/>
          <p:nvPr/>
        </p:nvSpPr>
        <p:spPr>
          <a:xfrm>
            <a:off x="3255264" y="914400"/>
            <a:ext cx="4937760" cy="237744"/>
          </a:xfrm>
          <a:prstGeom prst="rect">
            <a:avLst/>
          </a:prstGeom>
          <a:noFill/>
        </p:spPr>
        <p:txBody>
          <a:bodyPr wrap="square" anchor="t" lIns="18288" rIns="18288" tIns="0" bIns="0">
            <a:spAutoFit/>
          </a:bodyPr>
          <a:lstStyle/>
          <a:p>
            <a:pPr algn="l">
              <a:lnSpc>
                <a:spcPct val="92000"/>
              </a:lnSpc>
              <a:spcAft>
                <a:spcPts val="100"/>
              </a:spcAft>
            </a:pPr>
            <a:r>
              <a:rPr sz="660" b="0" i="1">
                <a:solidFill>
                  <a:srgbClr val="6B7280"/>
                </a:solidFill>
                <a:latin typeface="Calibri"/>
              </a:rPr>
              <a:t>Runs once per dam, then never again — the results are cached on disk.</a:t>
            </a:r>
          </a:p>
        </p:txBody>
      </p:sp>
      <p:sp>
        <p:nvSpPr>
          <p:cNvPr id="12" name="Rounded Rectangle 11"/>
          <p:cNvSpPr/>
          <p:nvPr/>
        </p:nvSpPr>
        <p:spPr>
          <a:xfrm>
            <a:off x="201168" y="1298448"/>
            <a:ext cx="2194560" cy="841248"/>
          </a:xfrm>
          <a:prstGeom prst="roundRect">
            <a:avLst>
              <a:gd name="adj" fmla="val 8000"/>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Fetch the Terrain</a:t>
            </a:r>
          </a:p>
          <a:p>
            <a:pPr algn="ctr">
              <a:lnSpc>
                <a:spcPct val="90000"/>
              </a:lnSpc>
              <a:spcAft>
                <a:spcPts val="100"/>
              </a:spcAft>
            </a:pPr>
            <a:r>
              <a:rPr sz="580" b="0" i="0">
                <a:solidFill>
                  <a:srgbClr val="D5DAE1"/>
                </a:solidFill>
                <a:latin typeface="Calibri"/>
              </a:rPr>
              <a:t>Satellite ground-height tiles at
30-metre detail, free from the
European Space Agency.</a:t>
            </a:r>
          </a:p>
        </p:txBody>
      </p:sp>
      <p:sp>
        <p:nvSpPr>
          <p:cNvPr id="13" name="Rounded Rectangle 12"/>
          <p:cNvSpPr/>
          <p:nvPr/>
        </p:nvSpPr>
        <p:spPr>
          <a:xfrm>
            <a:off x="2542032" y="1298448"/>
            <a:ext cx="2340864" cy="841248"/>
          </a:xfrm>
          <a:prstGeom prst="roundRect">
            <a:avLst>
              <a:gd name="adj" fmla="val 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Stitch and Clean</a:t>
            </a:r>
          </a:p>
          <a:p>
            <a:pPr algn="ctr">
              <a:lnSpc>
                <a:spcPct val="90000"/>
              </a:lnSpc>
              <a:spcAft>
                <a:spcPts val="100"/>
              </a:spcAft>
            </a:pPr>
            <a:r>
              <a:rPr sz="580" b="0" i="0">
                <a:solidFill>
                  <a:srgbClr val="D3ECEA"/>
                </a:solidFill>
                <a:latin typeface="Calibri"/>
              </a:rPr>
              <a:t>Several tiles merged into one
seamless surface, with cliff and
water-body artefacts removed.</a:t>
            </a:r>
          </a:p>
        </p:txBody>
      </p:sp>
      <p:sp>
        <p:nvSpPr>
          <p:cNvPr id="14" name="Rounded Rectangle 13"/>
          <p:cNvSpPr/>
          <p:nvPr/>
        </p:nvSpPr>
        <p:spPr>
          <a:xfrm>
            <a:off x="5029200" y="1298448"/>
            <a:ext cx="2139696" cy="841248"/>
          </a:xfrm>
          <a:prstGeom prst="roundRect">
            <a:avLst>
              <a:gd name="adj" fmla="val 8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Label the Ground</a:t>
            </a:r>
          </a:p>
          <a:p>
            <a:pPr algn="ctr">
              <a:lnSpc>
                <a:spcPct val="90000"/>
              </a:lnSpc>
              <a:spcAft>
                <a:spcPts val="100"/>
              </a:spcAft>
            </a:pPr>
            <a:r>
              <a:rPr sz="580" b="0" i="0">
                <a:solidFill>
                  <a:srgbClr val="D2ECE4"/>
                </a:solidFill>
                <a:latin typeface="Calibri"/>
              </a:rPr>
              <a:t>Forest, town or farmland — this
is what sets how much the land
slows the water down.</a:t>
            </a:r>
          </a:p>
        </p:txBody>
      </p:sp>
      <p:sp>
        <p:nvSpPr>
          <p:cNvPr id="15" name="Rounded Rectangle 14"/>
          <p:cNvSpPr/>
          <p:nvPr/>
        </p:nvSpPr>
        <p:spPr>
          <a:xfrm>
            <a:off x="7315200" y="1298448"/>
            <a:ext cx="2212848" cy="841248"/>
          </a:xfrm>
          <a:prstGeom prst="roundRect">
            <a:avLst>
              <a:gd name="adj" fmla="val 8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Define the Study Area</a:t>
            </a:r>
          </a:p>
          <a:p>
            <a:pPr algn="ctr">
              <a:lnSpc>
                <a:spcPct val="90000"/>
              </a:lnSpc>
              <a:spcAft>
                <a:spcPts val="100"/>
              </a:spcAft>
            </a:pPr>
            <a:r>
              <a:rPr sz="580" b="0" i="0">
                <a:solidFill>
                  <a:srgbClr val="DEE0E4"/>
                </a:solidFill>
                <a:latin typeface="Calibri"/>
              </a:rPr>
              <a:t>Draw the box around the dam,
in metres rather than degrees,
on an even calculation grid.</a:t>
            </a:r>
          </a:p>
        </p:txBody>
      </p:sp>
      <p:sp>
        <p:nvSpPr>
          <p:cNvPr id="16" name="Rounded Rectangle 15"/>
          <p:cNvSpPr/>
          <p:nvPr/>
        </p:nvSpPr>
        <p:spPr>
          <a:xfrm>
            <a:off x="9674352" y="1298448"/>
            <a:ext cx="2313432" cy="841248"/>
          </a:xfrm>
          <a:prstGeom prst="roundRect">
            <a:avLst>
              <a:gd name="adj" fmla="val 8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Locate the Wall</a:t>
            </a:r>
          </a:p>
          <a:p>
            <a:pPr algn="ctr">
              <a:lnSpc>
                <a:spcPct val="90000"/>
              </a:lnSpc>
              <a:spcAft>
                <a:spcPts val="100"/>
              </a:spcAft>
            </a:pPr>
            <a:r>
              <a:rPr sz="580" b="0" i="0">
                <a:solidFill>
                  <a:srgbClr val="DEE0E4"/>
                </a:solidFill>
                <a:latin typeface="Calibri"/>
              </a:rPr>
              <a:t>Pin down exactly where the dam
sits and where the breach would
open. Everything keys off this.</a:t>
            </a:r>
          </a:p>
        </p:txBody>
      </p:sp>
      <p:cxnSp>
        <p:nvCxnSpPr>
          <p:cNvPr id="17" name="Connector 16"/>
          <p:cNvCxnSpPr/>
          <p:nvPr/>
        </p:nvCxnSpPr>
        <p:spPr>
          <a:xfrm>
            <a:off x="2395728" y="1719072"/>
            <a:ext cx="146304" cy="0"/>
          </a:xfrm>
          <a:prstGeom prst="line">
            <a:avLst/>
          </a:prstGeom>
          <a:ln w="20320">
            <a:solidFill>
              <a:srgbClr val="0284C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882896" y="1719072"/>
            <a:ext cx="146304" cy="0"/>
          </a:xfrm>
          <a:prstGeom prst="line">
            <a:avLst/>
          </a:prstGeom>
          <a:ln w="20320">
            <a:solidFill>
              <a:srgbClr val="0284C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168896" y="1719072"/>
            <a:ext cx="146304" cy="0"/>
          </a:xfrm>
          <a:prstGeom prst="line">
            <a:avLst/>
          </a:prstGeom>
          <a:ln w="20320">
            <a:solidFill>
              <a:srgbClr val="0284C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528048" y="1719072"/>
            <a:ext cx="146304" cy="0"/>
          </a:xfrm>
          <a:prstGeom prst="line">
            <a:avLst/>
          </a:prstGeom>
          <a:ln w="20320">
            <a:solidFill>
              <a:srgbClr val="0284C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63440" y="2139696"/>
            <a:ext cx="0" cy="347472"/>
          </a:xfrm>
          <a:prstGeom prst="line">
            <a:avLst/>
          </a:prstGeom>
          <a:ln w="27940">
            <a:solidFill>
              <a:srgbClr val="D9770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846320" y="2176272"/>
            <a:ext cx="6035040" cy="256032"/>
          </a:xfrm>
          <a:prstGeom prst="rect">
            <a:avLst/>
          </a:prstGeom>
          <a:noFill/>
        </p:spPr>
        <p:txBody>
          <a:bodyPr wrap="square" anchor="t" lIns="18288" rIns="18288" tIns="0" bIns="0">
            <a:spAutoFit/>
          </a:bodyPr>
          <a:lstStyle/>
          <a:p>
            <a:pPr algn="l">
              <a:lnSpc>
                <a:spcPct val="92000"/>
              </a:lnSpc>
              <a:spcAft>
                <a:spcPts val="100"/>
              </a:spcAft>
            </a:pPr>
            <a:r>
              <a:rPr sz="620" b="0" i="1">
                <a:solidFill>
                  <a:srgbClr val="8D4D04"/>
                </a:solidFill>
                <a:latin typeface="Calibri"/>
              </a:rPr>
              <a:t>terrain grid  +  breach position  +  ground-roughness map  →  handed to the simulation</a:t>
            </a:r>
          </a:p>
        </p:txBody>
      </p:sp>
      <p:sp>
        <p:nvSpPr>
          <p:cNvPr id="23" name="Chevron 22"/>
          <p:cNvSpPr/>
          <p:nvPr/>
        </p:nvSpPr>
        <p:spPr>
          <a:xfrm>
            <a:off x="201168" y="2560320"/>
            <a:ext cx="2926080" cy="310896"/>
          </a:xfrm>
          <a:prstGeom prst="chevron">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92000"/>
              </a:lnSpc>
              <a:spcAft>
                <a:spcPts val="100"/>
              </a:spcAft>
            </a:pPr>
            <a:r>
              <a:rPr sz="800" b="1" i="0">
                <a:solidFill>
                  <a:srgbClr val="FFFFFF"/>
                </a:solidFill>
                <a:latin typeface="Calibri"/>
              </a:rPr>
              <a:t>STAGE 2  ·  SIMULATE</a:t>
            </a:r>
          </a:p>
        </p:txBody>
      </p:sp>
      <p:sp>
        <p:nvSpPr>
          <p:cNvPr id="24" name="TextBox 23"/>
          <p:cNvSpPr txBox="1"/>
          <p:nvPr/>
        </p:nvSpPr>
        <p:spPr>
          <a:xfrm>
            <a:off x="3255264" y="2596896"/>
            <a:ext cx="5669280" cy="237744"/>
          </a:xfrm>
          <a:prstGeom prst="rect">
            <a:avLst/>
          </a:prstGeom>
          <a:noFill/>
        </p:spPr>
        <p:txBody>
          <a:bodyPr wrap="square" anchor="t" lIns="18288" rIns="18288" tIns="0" bIns="0">
            <a:spAutoFit/>
          </a:bodyPr>
          <a:lstStyle/>
          <a:p>
            <a:pPr algn="l">
              <a:lnSpc>
                <a:spcPct val="92000"/>
              </a:lnSpc>
              <a:spcAft>
                <a:spcPts val="100"/>
              </a:spcAft>
            </a:pPr>
            <a:r>
              <a:rPr sz="660" b="0" i="1">
                <a:solidFill>
                  <a:srgbClr val="6B7280"/>
                </a:solidFill>
                <a:latin typeface="Calibri"/>
              </a:rPr>
              <a:t>The whole of this stage completes in about 47 seconds for a full Tehri run.</a:t>
            </a:r>
          </a:p>
        </p:txBody>
      </p:sp>
      <p:sp>
        <p:nvSpPr>
          <p:cNvPr id="25" name="Rounded Rectangle 24"/>
          <p:cNvSpPr/>
          <p:nvPr/>
        </p:nvSpPr>
        <p:spPr>
          <a:xfrm>
            <a:off x="201168" y="2980944"/>
            <a:ext cx="2121408" cy="841248"/>
          </a:xfrm>
          <a:prstGeom prst="roundRect">
            <a:avLst>
              <a:gd name="adj" fmla="val 8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Model the Failure</a:t>
            </a:r>
          </a:p>
          <a:p>
            <a:pPr algn="ctr">
              <a:lnSpc>
                <a:spcPct val="90000"/>
              </a:lnSpc>
              <a:spcAft>
                <a:spcPts val="100"/>
              </a:spcAft>
            </a:pPr>
            <a:r>
              <a:rPr sz="580" b="0" i="0">
                <a:solidFill>
                  <a:srgbClr val="FBE1D3"/>
                </a:solidFill>
                <a:latin typeface="Calibri"/>
              </a:rPr>
              <a:t>Breach width, how fast it opens,
and the peak water released.
Thirty variations, not one.</a:t>
            </a:r>
          </a:p>
        </p:txBody>
      </p:sp>
      <p:sp>
        <p:nvSpPr>
          <p:cNvPr id="26" name="Rounded Rectangle 25"/>
          <p:cNvSpPr/>
          <p:nvPr/>
        </p:nvSpPr>
        <p:spPr>
          <a:xfrm>
            <a:off x="2468880" y="2980944"/>
            <a:ext cx="2395728" cy="841248"/>
          </a:xfrm>
          <a:prstGeom prst="roundRect">
            <a:avLst>
              <a:gd name="adj" fmla="val 8000"/>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Spread the Water</a:t>
            </a:r>
          </a:p>
          <a:p>
            <a:pPr algn="ctr">
              <a:lnSpc>
                <a:spcPct val="90000"/>
              </a:lnSpc>
              <a:spcAft>
                <a:spcPts val="100"/>
              </a:spcAft>
            </a:pPr>
            <a:r>
              <a:rPr sz="580" b="0" i="0">
                <a:solidFill>
                  <a:srgbClr val="D6DDF1"/>
                </a:solidFill>
                <a:latin typeface="Calibri"/>
              </a:rPr>
              <a:t>Every cell of the landscape,
second by second, downstream.
The core of the whole system.</a:t>
            </a:r>
          </a:p>
        </p:txBody>
      </p:sp>
      <p:sp>
        <p:nvSpPr>
          <p:cNvPr id="27" name="Rounded Rectangle 26"/>
          <p:cNvSpPr/>
          <p:nvPr/>
        </p:nvSpPr>
        <p:spPr>
          <a:xfrm>
            <a:off x="5010912" y="2980944"/>
            <a:ext cx="2103120" cy="841248"/>
          </a:xfrm>
          <a:prstGeom prst="roundRect">
            <a:avLst>
              <a:gd name="adj" fmla="val 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Sweep the Uncertainty</a:t>
            </a:r>
          </a:p>
          <a:p>
            <a:pPr algn="ctr">
              <a:lnSpc>
                <a:spcPct val="90000"/>
              </a:lnSpc>
              <a:spcAft>
                <a:spcPts val="100"/>
              </a:spcAft>
            </a:pPr>
            <a:r>
              <a:rPr sz="580" b="0" i="0">
                <a:solidFill>
                  <a:srgbClr val="D3ECEA"/>
                </a:solidFill>
                <a:latin typeface="Calibri"/>
              </a:rPr>
              <a:t>Different breach sizes give
different outcomes. The answer
is a band, not a point.</a:t>
            </a:r>
          </a:p>
        </p:txBody>
      </p:sp>
      <p:sp>
        <p:nvSpPr>
          <p:cNvPr id="28" name="Rounded Rectangle 27"/>
          <p:cNvSpPr/>
          <p:nvPr/>
        </p:nvSpPr>
        <p:spPr>
          <a:xfrm>
            <a:off x="7260336" y="2980944"/>
            <a:ext cx="2249424" cy="841248"/>
          </a:xfrm>
          <a:prstGeom prst="roundRect">
            <a:avLst>
              <a:gd name="adj" fmla="val 8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Time the Arrivals</a:t>
            </a:r>
          </a:p>
          <a:p>
            <a:pPr algn="ctr">
              <a:lnSpc>
                <a:spcPct val="90000"/>
              </a:lnSpc>
              <a:spcAft>
                <a:spcPts val="100"/>
              </a:spcAft>
            </a:pPr>
            <a:r>
              <a:rPr sz="580" b="0" i="0">
                <a:solidFill>
                  <a:srgbClr val="DFDEFA"/>
                </a:solidFill>
                <a:latin typeface="Calibri"/>
              </a:rPr>
              <a:t>When does the water reach each
town? This is the number an
evacuation order depends on.</a:t>
            </a:r>
          </a:p>
        </p:txBody>
      </p:sp>
      <p:sp>
        <p:nvSpPr>
          <p:cNvPr id="29" name="Rounded Rectangle 28"/>
          <p:cNvSpPr/>
          <p:nvPr/>
        </p:nvSpPr>
        <p:spPr>
          <a:xfrm>
            <a:off x="9656064" y="2980944"/>
            <a:ext cx="2331720" cy="841248"/>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Optional 3D Detail</a:t>
            </a:r>
          </a:p>
          <a:p>
            <a:pPr algn="ctr">
              <a:lnSpc>
                <a:spcPct val="90000"/>
              </a:lnSpc>
              <a:spcAft>
                <a:spcPts val="100"/>
              </a:spcAft>
            </a:pPr>
            <a:r>
              <a:rPr sz="580" b="0" i="0">
                <a:solidFill>
                  <a:srgbClr val="E7DCFC"/>
                </a:solidFill>
                <a:latin typeface="Calibri"/>
              </a:rPr>
              <a:t>Violent water at the wall itself.
About 600 metres, 15 seconds.
It can never reach a town.</a:t>
            </a:r>
          </a:p>
        </p:txBody>
      </p:sp>
      <p:cxnSp>
        <p:nvCxnSpPr>
          <p:cNvPr id="30" name="Connector 29"/>
          <p:cNvCxnSpPr/>
          <p:nvPr/>
        </p:nvCxnSpPr>
        <p:spPr>
          <a:xfrm>
            <a:off x="2322576" y="3401568"/>
            <a:ext cx="146304" cy="0"/>
          </a:xfrm>
          <a:prstGeom prst="line">
            <a:avLst/>
          </a:prstGeom>
          <a:ln w="20320">
            <a:solidFill>
              <a:srgbClr val="0284C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864608" y="3401568"/>
            <a:ext cx="146304" cy="0"/>
          </a:xfrm>
          <a:prstGeom prst="line">
            <a:avLst/>
          </a:prstGeom>
          <a:ln w="20320">
            <a:solidFill>
              <a:srgbClr val="0284C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114032" y="3401568"/>
            <a:ext cx="146304" cy="0"/>
          </a:xfrm>
          <a:prstGeom prst="line">
            <a:avLst/>
          </a:prstGeom>
          <a:ln w="20320">
            <a:solidFill>
              <a:srgbClr val="0284C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509760" y="3401568"/>
            <a:ext cx="146304" cy="0"/>
          </a:xfrm>
          <a:prstGeom prst="line">
            <a:avLst/>
          </a:prstGeom>
          <a:ln w="20320">
            <a:solidFill>
              <a:srgbClr val="0284C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663440" y="3822191"/>
            <a:ext cx="0" cy="347472"/>
          </a:xfrm>
          <a:prstGeom prst="line">
            <a:avLst/>
          </a:prstGeom>
          <a:ln w="27940">
            <a:solidFill>
              <a:srgbClr val="D9770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846320" y="3858768"/>
            <a:ext cx="6217920" cy="256032"/>
          </a:xfrm>
          <a:prstGeom prst="rect">
            <a:avLst/>
          </a:prstGeom>
          <a:noFill/>
        </p:spPr>
        <p:txBody>
          <a:bodyPr wrap="square" anchor="t" lIns="18288" rIns="18288" tIns="0" bIns="0">
            <a:spAutoFit/>
          </a:bodyPr>
          <a:lstStyle/>
          <a:p>
            <a:pPr algn="l">
              <a:lnSpc>
                <a:spcPct val="92000"/>
              </a:lnSpc>
              <a:spcAft>
                <a:spcPts val="100"/>
              </a:spcAft>
            </a:pPr>
            <a:r>
              <a:rPr sz="620" b="0" i="1">
                <a:solidFill>
                  <a:srgbClr val="8D4D04"/>
                </a:solidFill>
                <a:latin typeface="Calibri"/>
              </a:rPr>
              <a:t>maximum depth  +  arrival time  +  the percentile band  →  handed to the reporting stage</a:t>
            </a:r>
          </a:p>
        </p:txBody>
      </p:sp>
      <p:sp>
        <p:nvSpPr>
          <p:cNvPr id="36" name="Chevron 35"/>
          <p:cNvSpPr/>
          <p:nvPr/>
        </p:nvSpPr>
        <p:spPr>
          <a:xfrm>
            <a:off x="201168" y="4242816"/>
            <a:ext cx="2926080" cy="310896"/>
          </a:xfrm>
          <a:prstGeom prst="chevron">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92000"/>
              </a:lnSpc>
              <a:spcAft>
                <a:spcPts val="100"/>
              </a:spcAft>
            </a:pPr>
            <a:r>
              <a:rPr sz="800" b="1" i="0">
                <a:solidFill>
                  <a:srgbClr val="FFFFFF"/>
                </a:solidFill>
                <a:latin typeface="Calibri"/>
              </a:rPr>
              <a:t>STAGE 3  ·  PUBLISH</a:t>
            </a:r>
          </a:p>
        </p:txBody>
      </p:sp>
      <p:sp>
        <p:nvSpPr>
          <p:cNvPr id="37" name="TextBox 36"/>
          <p:cNvSpPr txBox="1"/>
          <p:nvPr/>
        </p:nvSpPr>
        <p:spPr>
          <a:xfrm>
            <a:off x="3255264" y="4279392"/>
            <a:ext cx="6035040" cy="237744"/>
          </a:xfrm>
          <a:prstGeom prst="rect">
            <a:avLst/>
          </a:prstGeom>
          <a:noFill/>
        </p:spPr>
        <p:txBody>
          <a:bodyPr wrap="square" anchor="t" lIns="18288" rIns="18288" tIns="0" bIns="0">
            <a:spAutoFit/>
          </a:bodyPr>
          <a:lstStyle/>
          <a:p>
            <a:pPr algn="l">
              <a:lnSpc>
                <a:spcPct val="92000"/>
              </a:lnSpc>
              <a:spcAft>
                <a:spcPts val="100"/>
              </a:spcAft>
            </a:pPr>
            <a:r>
              <a:rPr sz="660" b="0" i="1">
                <a:solidFill>
                  <a:srgbClr val="6B7280"/>
                </a:solidFill>
                <a:latin typeface="Calibri"/>
              </a:rPr>
              <a:t>Nothing reaches this stage until all four quality gates have passed.</a:t>
            </a:r>
          </a:p>
        </p:txBody>
      </p:sp>
      <p:sp>
        <p:nvSpPr>
          <p:cNvPr id="38" name="Rounded Rectangle 37"/>
          <p:cNvSpPr/>
          <p:nvPr/>
        </p:nvSpPr>
        <p:spPr>
          <a:xfrm>
            <a:off x="201168" y="4663440"/>
            <a:ext cx="2304288" cy="841248"/>
          </a:xfrm>
          <a:prstGeom prst="roundRect">
            <a:avLst>
              <a:gd name="adj" fmla="val 8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Score the Impact</a:t>
            </a:r>
          </a:p>
          <a:p>
            <a:pPr algn="ctr">
              <a:lnSpc>
                <a:spcPct val="90000"/>
              </a:lnSpc>
              <a:spcAft>
                <a:spcPts val="100"/>
              </a:spcAft>
            </a:pPr>
            <a:r>
              <a:rPr sz="580" b="0" i="0">
                <a:solidFill>
                  <a:srgbClr val="F9D8D8"/>
                </a:solidFill>
                <a:latin typeface="Calibri"/>
              </a:rPr>
              <a:t>How deep in each area, how many
people exposed, and the likely
damage — with the source stated.</a:t>
            </a:r>
          </a:p>
        </p:txBody>
      </p:sp>
      <p:sp>
        <p:nvSpPr>
          <p:cNvPr id="39" name="Rounded Rectangle 38"/>
          <p:cNvSpPr/>
          <p:nvPr/>
        </p:nvSpPr>
        <p:spPr>
          <a:xfrm>
            <a:off x="2651760" y="4663440"/>
            <a:ext cx="2176272" cy="841248"/>
          </a:xfrm>
          <a:prstGeom prst="roundRect">
            <a:avLst>
              <a:gd name="adj" fmla="val 8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Draw the Flood Maps</a:t>
            </a:r>
          </a:p>
          <a:p>
            <a:pPr algn="ctr">
              <a:lnSpc>
                <a:spcPct val="90000"/>
              </a:lnSpc>
              <a:spcAft>
                <a:spcPts val="100"/>
              </a:spcAft>
            </a:pPr>
            <a:r>
              <a:rPr sz="580" b="0" i="0">
                <a:solidFill>
                  <a:srgbClr val="DFDEFA"/>
                </a:solidFill>
                <a:latin typeface="Calibri"/>
              </a:rPr>
              <a:t>Colour-coded depth maps that open
in any standard mapping tool, plus
Google Earth overlays.</a:t>
            </a:r>
          </a:p>
        </p:txBody>
      </p:sp>
      <p:sp>
        <p:nvSpPr>
          <p:cNvPr id="40" name="Rounded Rectangle 39"/>
          <p:cNvSpPr/>
          <p:nvPr/>
        </p:nvSpPr>
        <p:spPr>
          <a:xfrm>
            <a:off x="4974336" y="4663440"/>
            <a:ext cx="2103120" cy="841248"/>
          </a:xfrm>
          <a:prstGeom prst="roundRect">
            <a:avLst>
              <a:gd name="adj" fmla="val 8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Render the Animation</a:t>
            </a:r>
          </a:p>
          <a:p>
            <a:pPr algn="ctr">
              <a:lnSpc>
                <a:spcPct val="90000"/>
              </a:lnSpc>
              <a:spcAft>
                <a:spcPts val="100"/>
              </a:spcAft>
            </a:pPr>
            <a:r>
              <a:rPr sz="580" b="0" i="0">
                <a:solidFill>
                  <a:srgbClr val="DEE0E4"/>
                </a:solidFill>
                <a:latin typeface="Calibri"/>
              </a:rPr>
              <a:t>Time-lapse of the flood spreading,
for briefings and for public
awareness material.</a:t>
            </a:r>
          </a:p>
        </p:txBody>
      </p:sp>
      <p:sp>
        <p:nvSpPr>
          <p:cNvPr id="41" name="Rounded Rectangle 40"/>
          <p:cNvSpPr/>
          <p:nvPr/>
        </p:nvSpPr>
        <p:spPr>
          <a:xfrm>
            <a:off x="7223760" y="4663440"/>
            <a:ext cx="2231136" cy="841248"/>
          </a:xfrm>
          <a:prstGeom prst="roundRect">
            <a:avLst>
              <a:gd name="adj" fmla="val 8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Fill the Dashboard</a:t>
            </a:r>
          </a:p>
          <a:p>
            <a:pPr algn="ctr">
              <a:lnSpc>
                <a:spcPct val="90000"/>
              </a:lnSpc>
              <a:spcAft>
                <a:spcPts val="100"/>
              </a:spcAft>
            </a:pPr>
            <a:r>
              <a:rPr sz="580" b="0" i="0">
                <a:solidFill>
                  <a:srgbClr val="D1E9F5"/>
                </a:solidFill>
                <a:latin typeface="Calibri"/>
              </a:rPr>
              <a:t>Maps, globe, charts, gauge traces
and every download, live in the
browser. Nothing to install.</a:t>
            </a:r>
          </a:p>
        </p:txBody>
      </p:sp>
      <p:sp>
        <p:nvSpPr>
          <p:cNvPr id="42" name="Rounded Rectangle 41"/>
          <p:cNvSpPr/>
          <p:nvPr/>
        </p:nvSpPr>
        <p:spPr>
          <a:xfrm>
            <a:off x="9601200" y="4663440"/>
            <a:ext cx="2386584" cy="841248"/>
          </a:xfrm>
          <a:prstGeom prst="roundRect">
            <a:avLst>
              <a:gd name="adj" fmla="val 8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Attach the Evidence</a:t>
            </a:r>
          </a:p>
          <a:p>
            <a:pPr algn="ctr">
              <a:lnSpc>
                <a:spcPct val="90000"/>
              </a:lnSpc>
              <a:spcAft>
                <a:spcPts val="100"/>
              </a:spcAft>
            </a:pPr>
            <a:r>
              <a:rPr sz="580" b="0" i="0">
                <a:solidFill>
                  <a:srgbClr val="D2ECE4"/>
                </a:solidFill>
                <a:latin typeface="Calibri"/>
              </a:rPr>
              <a:t>The four gate results and the
independent cross-check travel
with the report, every time.</a:t>
            </a:r>
          </a:p>
        </p:txBody>
      </p:sp>
      <p:sp>
        <p:nvSpPr>
          <p:cNvPr id="43" name="Rounded Rectangle 42"/>
          <p:cNvSpPr/>
          <p:nvPr/>
        </p:nvSpPr>
        <p:spPr>
          <a:xfrm rot="21582000">
            <a:off x="201168" y="5705856"/>
            <a:ext cx="5852160" cy="512064"/>
          </a:xfrm>
          <a:prstGeom prst="roundRect">
            <a:avLst>
              <a:gd name="adj" fmla="val 14000"/>
            </a:avLst>
          </a:prstGeom>
          <a:solidFill>
            <a:srgbClr val="F2EBFD"/>
          </a:solidFill>
          <a:ln w="1143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l">
              <a:lnSpc>
                <a:spcPct val="92000"/>
              </a:lnSpc>
              <a:spcAft>
                <a:spcPts val="100"/>
              </a:spcAft>
            </a:pPr>
            <a:r>
              <a:rPr sz="630" b="0" i="1">
                <a:solidFill>
                  <a:srgbClr val="4A238E"/>
                </a:solidFill>
                <a:latin typeface="Calibri"/>
              </a:rPr>
              <a:t>The one-way arrow matters. The near-dam 3D physics reads the flood solver's output and refines it. It never feeds back. Anyone claiming a two-way coupling here would be overstating what was built.</a:t>
            </a:r>
          </a:p>
        </p:txBody>
      </p:sp>
      <p:sp>
        <p:nvSpPr>
          <p:cNvPr id="44" name="Rounded Rectangle 43"/>
          <p:cNvSpPr/>
          <p:nvPr/>
        </p:nvSpPr>
        <p:spPr>
          <a:xfrm>
            <a:off x="6272784" y="5705856"/>
            <a:ext cx="5715000" cy="512064"/>
          </a:xfrm>
          <a:prstGeom prst="roundRect">
            <a:avLst>
              <a:gd name="adj" fmla="val 14000"/>
            </a:avLst>
          </a:prstGeom>
          <a:solidFill>
            <a:srgbClr val="E6F4F0"/>
          </a:solidFill>
          <a:ln w="1143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l">
              <a:lnSpc>
                <a:spcPct val="92000"/>
              </a:lnSpc>
              <a:spcAft>
                <a:spcPts val="100"/>
              </a:spcAft>
            </a:pPr>
            <a:r>
              <a:rPr sz="630" b="0" i="1">
                <a:solidFill>
                  <a:srgbClr val="035A3F"/>
                </a:solidFill>
                <a:latin typeface="Calibri"/>
              </a:rPr>
              <a:t>Stage one is the reason this works offline. Once a dam's terrain has been fetched, the entire pipeline runs with the network unplugged — which is the assumption demo day is built 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01168" y="128016"/>
            <a:ext cx="1188720" cy="310896"/>
          </a:xfrm>
          <a:prstGeom prst="roundRect">
            <a:avLst>
              <a:gd name="adj" fmla="val 40000"/>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2860" bIns="22860"/>
          <a:lstStyle/>
          <a:p>
            <a:pPr algn="ctr">
              <a:lnSpc>
                <a:spcPct val="92000"/>
              </a:lnSpc>
              <a:spcAft>
                <a:spcPts val="100"/>
              </a:spcAft>
            </a:pPr>
            <a:r>
              <a:rPr sz="1100" b="1" i="0">
                <a:solidFill>
                  <a:srgbClr val="FFFFFF"/>
                </a:solidFill>
                <a:latin typeface="Calibri"/>
              </a:rPr>
              <a:t>FloodView</a:t>
            </a:r>
          </a:p>
        </p:txBody>
      </p:sp>
      <p:sp>
        <p:nvSpPr>
          <p:cNvPr id="3" name="TextBox 2"/>
          <p:cNvSpPr txBox="1"/>
          <p:nvPr/>
        </p:nvSpPr>
        <p:spPr>
          <a:xfrm>
            <a:off x="201168" y="457200"/>
            <a:ext cx="1463040" cy="182880"/>
          </a:xfrm>
          <a:prstGeom prst="rect">
            <a:avLst/>
          </a:prstGeom>
          <a:noFill/>
        </p:spPr>
        <p:txBody>
          <a:bodyPr wrap="square" anchor="t" lIns="18288" rIns="18288" tIns="0" bIns="0">
            <a:spAutoFit/>
          </a:bodyPr>
          <a:lstStyle/>
          <a:p>
            <a:pPr algn="l">
              <a:lnSpc>
                <a:spcPct val="92000"/>
              </a:lnSpc>
              <a:spcAft>
                <a:spcPts val="100"/>
              </a:spcAft>
            </a:pPr>
            <a:r>
              <a:rPr sz="620" b="0" i="0">
                <a:solidFill>
                  <a:srgbClr val="6B7280"/>
                </a:solidFill>
                <a:latin typeface="Calibri"/>
              </a:rPr>
              <a:t>PS 26161 · NTRO</a:t>
            </a:r>
          </a:p>
        </p:txBody>
      </p:sp>
      <p:sp>
        <p:nvSpPr>
          <p:cNvPr id="4" name="TextBox 3"/>
          <p:cNvSpPr txBox="1"/>
          <p:nvPr/>
        </p:nvSpPr>
        <p:spPr>
          <a:xfrm>
            <a:off x="1554480" y="91440"/>
            <a:ext cx="8732520" cy="384048"/>
          </a:xfrm>
          <a:prstGeom prst="rect">
            <a:avLst/>
          </a:prstGeom>
          <a:noFill/>
        </p:spPr>
        <p:txBody>
          <a:bodyPr wrap="square" anchor="ctr" lIns="18288" rIns="18288" tIns="0" bIns="0">
            <a:spAutoFit/>
          </a:bodyPr>
          <a:lstStyle/>
          <a:p>
            <a:pPr algn="ctr">
              <a:lnSpc>
                <a:spcPct val="92000"/>
              </a:lnSpc>
              <a:spcAft>
                <a:spcPts val="100"/>
              </a:spcAft>
            </a:pPr>
            <a:r>
              <a:rPr sz="2300" b="1" i="0">
                <a:solidFill>
                  <a:srgbClr val="1F2937"/>
                </a:solidFill>
                <a:latin typeface="Calibri"/>
              </a:rPr>
              <a:t>WHY IT MATTERS</a:t>
            </a:r>
          </a:p>
        </p:txBody>
      </p:sp>
      <p:sp>
        <p:nvSpPr>
          <p:cNvPr id="5" name="TextBox 4"/>
          <p:cNvSpPr txBox="1"/>
          <p:nvPr/>
        </p:nvSpPr>
        <p:spPr>
          <a:xfrm>
            <a:off x="1554480" y="475488"/>
            <a:ext cx="8732520" cy="201168"/>
          </a:xfrm>
          <a:prstGeom prst="rect">
            <a:avLst/>
          </a:prstGeom>
          <a:noFill/>
        </p:spPr>
        <p:txBody>
          <a:bodyPr wrap="square" anchor="t" lIns="18288" rIns="18288" tIns="0" bIns="0">
            <a:spAutoFit/>
          </a:bodyPr>
          <a:lstStyle/>
          <a:p>
            <a:pPr algn="ctr">
              <a:lnSpc>
                <a:spcPct val="92000"/>
              </a:lnSpc>
              <a:spcAft>
                <a:spcPts val="100"/>
              </a:spcAft>
            </a:pPr>
            <a:r>
              <a:rPr sz="819" b="0" i="1">
                <a:solidFill>
                  <a:srgbClr val="6B7280"/>
                </a:solidFill>
                <a:latin typeface="Calibri"/>
              </a:rPr>
              <a:t>India has more than five thousand large dams, many of them ageing. Today only a handful ever get studied.</a:t>
            </a:r>
          </a:p>
        </p:txBody>
      </p:sp>
      <p:sp>
        <p:nvSpPr>
          <p:cNvPr id="6" name="TextBox 5"/>
          <p:cNvSpPr txBox="1"/>
          <p:nvPr/>
        </p:nvSpPr>
        <p:spPr>
          <a:xfrm>
            <a:off x="10378440" y="128016"/>
            <a:ext cx="1609344" cy="402336"/>
          </a:xfrm>
          <a:prstGeom prst="rect">
            <a:avLst/>
          </a:prstGeom>
          <a:noFill/>
        </p:spPr>
        <p:txBody>
          <a:bodyPr wrap="square" anchor="t" lIns="18288" rIns="18288" tIns="0" bIns="0">
            <a:spAutoFit/>
          </a:bodyPr>
          <a:lstStyle/>
          <a:p>
            <a:pPr algn="r">
              <a:lnSpc>
                <a:spcPct val="92000"/>
              </a:lnSpc>
              <a:spcAft>
                <a:spcPts val="0"/>
              </a:spcAft>
            </a:pPr>
            <a:r>
              <a:rPr sz="800" b="1" i="0">
                <a:solidFill>
                  <a:srgbClr val="0070C0"/>
                </a:solidFill>
                <a:latin typeface="Calibri"/>
              </a:rPr>
              <a:t>SMART INDIA</a:t>
            </a:r>
          </a:p>
          <a:p>
            <a:pPr algn="r">
              <a:lnSpc>
                <a:spcPct val="92000"/>
              </a:lnSpc>
              <a:spcAft>
                <a:spcPts val="0"/>
              </a:spcAft>
            </a:pPr>
            <a:r>
              <a:rPr sz="800" b="1" i="0">
                <a:solidFill>
                  <a:srgbClr val="0070C0"/>
                </a:solidFill>
                <a:latin typeface="Calibri"/>
              </a:rPr>
              <a:t>HACKATHON 2026</a:t>
            </a:r>
          </a:p>
        </p:txBody>
      </p:sp>
      <p:sp>
        <p:nvSpPr>
          <p:cNvPr id="7" name="Rectangle 6"/>
          <p:cNvSpPr/>
          <p:nvPr/>
        </p:nvSpPr>
        <p:spPr>
          <a:xfrm>
            <a:off x="0" y="6547104"/>
            <a:ext cx="12191695" cy="310896"/>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8" name="TextBox 7"/>
          <p:cNvSpPr txBox="1"/>
          <p:nvPr/>
        </p:nvSpPr>
        <p:spPr>
          <a:xfrm>
            <a:off x="256032" y="6601968"/>
            <a:ext cx="10607040" cy="201168"/>
          </a:xfrm>
          <a:prstGeom prst="rect">
            <a:avLst/>
          </a:prstGeom>
          <a:noFill/>
        </p:spPr>
        <p:txBody>
          <a:bodyPr wrap="square" anchor="t" lIns="18288" rIns="18288" tIns="0" bIns="0">
            <a:spAutoFit/>
          </a:bodyPr>
          <a:lstStyle/>
          <a:p>
            <a:pPr algn="l">
              <a:lnSpc>
                <a:spcPct val="92000"/>
              </a:lnSpc>
              <a:spcAft>
                <a:spcPts val="100"/>
              </a:spcAft>
            </a:pPr>
            <a:r>
              <a:rPr sz="800" b="1" i="0">
                <a:solidFill>
                  <a:srgbClr val="FFFFFF"/>
                </a:solidFill>
                <a:latin typeface="Calibri"/>
              </a:rPr>
              <a:t>The point is not a better flood model. The point is that every dam can be screened, not just the funded ones.</a:t>
            </a:r>
          </a:p>
        </p:txBody>
      </p:sp>
      <p:sp>
        <p:nvSpPr>
          <p:cNvPr id="9" name="TextBox 8"/>
          <p:cNvSpPr txBox="1"/>
          <p:nvPr/>
        </p:nvSpPr>
        <p:spPr>
          <a:xfrm>
            <a:off x="11521440" y="6601968"/>
            <a:ext cx="457200" cy="201168"/>
          </a:xfrm>
          <a:prstGeom prst="rect">
            <a:avLst/>
          </a:prstGeom>
          <a:noFill/>
        </p:spPr>
        <p:txBody>
          <a:bodyPr wrap="square" anchor="t" lIns="18288" rIns="18288" tIns="0" bIns="0">
            <a:spAutoFit/>
          </a:bodyPr>
          <a:lstStyle/>
          <a:p>
            <a:pPr algn="r">
              <a:lnSpc>
                <a:spcPct val="92000"/>
              </a:lnSpc>
              <a:spcAft>
                <a:spcPts val="100"/>
              </a:spcAft>
            </a:pPr>
            <a:r>
              <a:rPr sz="850" b="1" i="0">
                <a:solidFill>
                  <a:srgbClr val="FFFFFF"/>
                </a:solidFill>
                <a:latin typeface="Calibri"/>
              </a:rPr>
              <a:t>8</a:t>
            </a:r>
          </a:p>
        </p:txBody>
      </p:sp>
      <p:sp>
        <p:nvSpPr>
          <p:cNvPr id="10" name="Rounded Rectangle 9"/>
          <p:cNvSpPr/>
          <p:nvPr/>
        </p:nvSpPr>
        <p:spPr>
          <a:xfrm>
            <a:off x="201168" y="877824"/>
            <a:ext cx="11786616" cy="566928"/>
          </a:xfrm>
          <a:prstGeom prst="roundRect">
            <a:avLst>
              <a:gd name="adj" fmla="val 6000"/>
            </a:avLst>
          </a:prstGeom>
          <a:solidFill>
            <a:srgbClr val="E8ECF7"/>
          </a:solidFill>
          <a:ln w="1778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94000"/>
              </a:lnSpc>
              <a:spcAft>
                <a:spcPts val="60"/>
              </a:spcAft>
            </a:pPr>
            <a:r>
              <a:rPr sz="900" b="0" i="0">
                <a:solidFill>
                  <a:srgbClr val="1F2937"/>
                </a:solidFill>
                <a:latin typeface="Calibri"/>
              </a:rPr>
              <a:t>A conventional dam-break study takes </a:t>
            </a:r>
            <a:r>
              <a:rPr sz="900" b="1" i="0">
                <a:solidFill>
                  <a:srgbClr val="1F2937"/>
                </a:solidFill>
                <a:latin typeface="Calibri"/>
              </a:rPr>
              <a:t>weeks</a:t>
            </a:r>
            <a:r>
              <a:rPr sz="900" b="0" i="0">
                <a:solidFill>
                  <a:srgbClr val="1F2937"/>
                </a:solidFill>
                <a:latin typeface="Calibri"/>
              </a:rPr>
              <a:t> of specialist time and licensed software, so it is only commissioned for the dams somebody has already worried about.</a:t>
            </a:r>
          </a:p>
          <a:p>
            <a:pPr algn="ctr">
              <a:lnSpc>
                <a:spcPct val="94000"/>
              </a:lnSpc>
              <a:spcAft>
                <a:spcPts val="100"/>
              </a:spcAft>
            </a:pPr>
            <a:r>
              <a:rPr sz="900" b="0" i="0">
                <a:solidFill>
                  <a:srgbClr val="1F2937"/>
                </a:solidFill>
                <a:latin typeface="Calibri"/>
              </a:rPr>
              <a:t>FloodView completes the same screening in </a:t>
            </a:r>
            <a:r>
              <a:rPr sz="900" b="1" i="0">
                <a:solidFill>
                  <a:srgbClr val="1F2937"/>
                </a:solidFill>
                <a:latin typeface="Calibri"/>
              </a:rPr>
              <a:t>minutes</a:t>
            </a:r>
            <a:r>
              <a:rPr sz="900" b="0" i="0">
                <a:solidFill>
                  <a:srgbClr val="1F2937"/>
                </a:solidFill>
                <a:latin typeface="Calibri"/>
              </a:rPr>
              <a:t>, from free satellite data — which changes who gets screened, not just how fast.</a:t>
            </a:r>
          </a:p>
        </p:txBody>
      </p:sp>
      <p:sp>
        <p:nvSpPr>
          <p:cNvPr id="11" name="Rounded Rectangle 10"/>
          <p:cNvSpPr/>
          <p:nvPr/>
        </p:nvSpPr>
        <p:spPr>
          <a:xfrm>
            <a:off x="201168" y="1609344"/>
            <a:ext cx="2889504" cy="1517904"/>
          </a:xfrm>
          <a:prstGeom prst="roundRect">
            <a:avLst>
              <a:gd name="adj" fmla="val 6000"/>
            </a:avLst>
          </a:prstGeom>
          <a:solidFill>
            <a:srgbClr val="EEF8F4"/>
          </a:solidFill>
          <a:ln w="1524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12" name="TextBox 11"/>
          <p:cNvSpPr txBox="1"/>
          <p:nvPr/>
        </p:nvSpPr>
        <p:spPr>
          <a:xfrm>
            <a:off x="292608" y="1700784"/>
            <a:ext cx="2706624" cy="274320"/>
          </a:xfrm>
          <a:prstGeom prst="rect">
            <a:avLst/>
          </a:prstGeom>
          <a:noFill/>
        </p:spPr>
        <p:txBody>
          <a:bodyPr wrap="square" anchor="t" lIns="18288" rIns="18288" tIns="0" bIns="0">
            <a:spAutoFit/>
          </a:bodyPr>
          <a:lstStyle/>
          <a:p>
            <a:pPr algn="l">
              <a:lnSpc>
                <a:spcPct val="92000"/>
              </a:lnSpc>
              <a:spcAft>
                <a:spcPts val="100"/>
              </a:spcAft>
            </a:pPr>
            <a:r>
              <a:rPr sz="940" b="1" i="0">
                <a:solidFill>
                  <a:srgbClr val="04704F"/>
                </a:solidFill>
                <a:latin typeface="Calibri"/>
              </a:rPr>
              <a:t>SAVES LIVES</a:t>
            </a:r>
          </a:p>
        </p:txBody>
      </p:sp>
      <p:sp>
        <p:nvSpPr>
          <p:cNvPr id="13" name="TextBox 12"/>
          <p:cNvSpPr txBox="1"/>
          <p:nvPr/>
        </p:nvSpPr>
        <p:spPr>
          <a:xfrm>
            <a:off x="320040" y="2011680"/>
            <a:ext cx="2651760" cy="1024127"/>
          </a:xfrm>
          <a:prstGeom prst="rect">
            <a:avLst/>
          </a:prstGeom>
          <a:noFill/>
        </p:spPr>
        <p:txBody>
          <a:bodyPr wrap="square" anchor="t" lIns="18288" rIns="18288" tIns="0" bIns="0">
            <a:spAutoFit/>
          </a:bodyPr>
          <a:lstStyle/>
          <a:p>
            <a:pPr algn="l">
              <a:lnSpc>
                <a:spcPct val="90000"/>
              </a:lnSpc>
              <a:spcAft>
                <a:spcPts val="220"/>
              </a:spcAft>
            </a:pPr>
            <a:r>
              <a:rPr sz="640" b="0" i="0">
                <a:solidFill>
                  <a:srgbClr val="1F2937"/>
                </a:solidFill>
                <a:latin typeface="Calibri"/>
              </a:rPr>
              <a:t>▪ Arrival times per town — the number that sets an evacuation order</a:t>
            </a:r>
          </a:p>
          <a:p>
            <a:pPr algn="l">
              <a:lnSpc>
                <a:spcPct val="90000"/>
              </a:lnSpc>
              <a:spcAft>
                <a:spcPts val="220"/>
              </a:spcAft>
            </a:pPr>
            <a:r>
              <a:rPr sz="640" b="0" i="0">
                <a:solidFill>
                  <a:srgbClr val="1F2937"/>
                </a:solidFill>
                <a:latin typeface="Calibri"/>
              </a:rPr>
              <a:t>▪ Flood extent showing which areas to clear, and in what order</a:t>
            </a:r>
          </a:p>
          <a:p>
            <a:pPr algn="l">
              <a:lnSpc>
                <a:spcPct val="90000"/>
              </a:lnSpc>
              <a:spcAft>
                <a:spcPts val="220"/>
              </a:spcAft>
            </a:pPr>
            <a:r>
              <a:rPr sz="640" b="0" i="0">
                <a:solidFill>
                  <a:srgbClr val="1F2937"/>
                </a:solidFill>
                <a:latin typeface="Calibri"/>
              </a:rPr>
              <a:t>▪ Population exposed, estimated from satellite data</a:t>
            </a:r>
          </a:p>
          <a:p>
            <a:pPr algn="l">
              <a:lnSpc>
                <a:spcPct val="90000"/>
              </a:lnSpc>
              <a:spcAft>
                <a:spcPts val="220"/>
              </a:spcAft>
            </a:pPr>
            <a:r>
              <a:rPr sz="640" b="0" i="0">
                <a:solidFill>
                  <a:srgbClr val="1F2937"/>
                </a:solidFill>
                <a:latin typeface="Calibri"/>
              </a:rPr>
              <a:t>▪ Works with the network unplugged, when it matters most</a:t>
            </a:r>
          </a:p>
        </p:txBody>
      </p:sp>
      <p:sp>
        <p:nvSpPr>
          <p:cNvPr id="14" name="Rounded Rectangle 13"/>
          <p:cNvSpPr/>
          <p:nvPr/>
        </p:nvSpPr>
        <p:spPr>
          <a:xfrm>
            <a:off x="3218688" y="1609344"/>
            <a:ext cx="2761488" cy="1389888"/>
          </a:xfrm>
          <a:prstGeom prst="roundRect">
            <a:avLst>
              <a:gd name="adj" fmla="val 6000"/>
            </a:avLst>
          </a:prstGeom>
          <a:solidFill>
            <a:srgbClr val="FCF5EE"/>
          </a:solidFill>
          <a:ln w="1524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15" name="TextBox 14"/>
          <p:cNvSpPr txBox="1"/>
          <p:nvPr/>
        </p:nvSpPr>
        <p:spPr>
          <a:xfrm>
            <a:off x="3310128" y="1700784"/>
            <a:ext cx="2578608" cy="274320"/>
          </a:xfrm>
          <a:prstGeom prst="rect">
            <a:avLst/>
          </a:prstGeom>
          <a:noFill/>
        </p:spPr>
        <p:txBody>
          <a:bodyPr wrap="square" anchor="t" lIns="18288" rIns="18288" tIns="0" bIns="0">
            <a:spAutoFit/>
          </a:bodyPr>
          <a:lstStyle/>
          <a:p>
            <a:pPr algn="l">
              <a:lnSpc>
                <a:spcPct val="92000"/>
              </a:lnSpc>
              <a:spcAft>
                <a:spcPts val="100"/>
              </a:spcAft>
            </a:pPr>
            <a:r>
              <a:rPr sz="940" b="1" i="0">
                <a:solidFill>
                  <a:srgbClr val="A35904"/>
                </a:solidFill>
                <a:latin typeface="Calibri"/>
              </a:rPr>
              <a:t>SAVES MONEY</a:t>
            </a:r>
          </a:p>
        </p:txBody>
      </p:sp>
      <p:sp>
        <p:nvSpPr>
          <p:cNvPr id="16" name="TextBox 15"/>
          <p:cNvSpPr txBox="1"/>
          <p:nvPr/>
        </p:nvSpPr>
        <p:spPr>
          <a:xfrm>
            <a:off x="3337560" y="2011680"/>
            <a:ext cx="2523744" cy="896112"/>
          </a:xfrm>
          <a:prstGeom prst="rect">
            <a:avLst/>
          </a:prstGeom>
          <a:noFill/>
        </p:spPr>
        <p:txBody>
          <a:bodyPr wrap="square" anchor="t" lIns="18288" rIns="18288" tIns="0" bIns="0">
            <a:spAutoFit/>
          </a:bodyPr>
          <a:lstStyle/>
          <a:p>
            <a:pPr algn="l">
              <a:lnSpc>
                <a:spcPct val="90000"/>
              </a:lnSpc>
              <a:spcAft>
                <a:spcPts val="220"/>
              </a:spcAft>
            </a:pPr>
            <a:r>
              <a:rPr sz="640" b="0" i="0">
                <a:solidFill>
                  <a:srgbClr val="1F2937"/>
                </a:solidFill>
                <a:latin typeface="Calibri"/>
              </a:rPr>
              <a:t>▪ No software licence to buy — every component is open</a:t>
            </a:r>
          </a:p>
          <a:p>
            <a:pPr algn="l">
              <a:lnSpc>
                <a:spcPct val="90000"/>
              </a:lnSpc>
              <a:spcAft>
                <a:spcPts val="220"/>
              </a:spcAft>
            </a:pPr>
            <a:r>
              <a:rPr sz="640" b="0" i="0">
                <a:solidFill>
                  <a:srgbClr val="1F2937"/>
                </a:solidFill>
                <a:latin typeface="Calibri"/>
              </a:rPr>
              <a:t>▪ No field survey needed before the first map exists</a:t>
            </a:r>
          </a:p>
          <a:p>
            <a:pPr algn="l">
              <a:lnSpc>
                <a:spcPct val="90000"/>
              </a:lnSpc>
              <a:spcAft>
                <a:spcPts val="220"/>
              </a:spcAft>
            </a:pPr>
            <a:r>
              <a:rPr sz="640" b="0" i="0">
                <a:solidFill>
                  <a:srgbClr val="1F2937"/>
                </a:solidFill>
                <a:latin typeface="Calibri"/>
              </a:rPr>
              <a:t>▪ Minutes per dam instead of weeks</a:t>
            </a:r>
          </a:p>
          <a:p>
            <a:pPr algn="l">
              <a:lnSpc>
                <a:spcPct val="90000"/>
              </a:lnSpc>
              <a:spcAft>
                <a:spcPts val="220"/>
              </a:spcAft>
            </a:pPr>
            <a:r>
              <a:rPr sz="640" b="0" i="0">
                <a:solidFill>
                  <a:srgbClr val="1F2937"/>
                </a:solidFill>
                <a:latin typeface="Calibri"/>
              </a:rPr>
              <a:t>▪ Run by a trained officer, not a hired specialist</a:t>
            </a:r>
          </a:p>
        </p:txBody>
      </p:sp>
      <p:sp>
        <p:nvSpPr>
          <p:cNvPr id="17" name="Rounded Rectangle 16"/>
          <p:cNvSpPr/>
          <p:nvPr/>
        </p:nvSpPr>
        <p:spPr>
          <a:xfrm>
            <a:off x="6108192" y="1609344"/>
            <a:ext cx="3017520" cy="1572768"/>
          </a:xfrm>
          <a:prstGeom prst="roundRect">
            <a:avLst>
              <a:gd name="adj" fmla="val 6000"/>
            </a:avLst>
          </a:prstGeom>
          <a:solidFill>
            <a:srgbClr val="EEF8F7"/>
          </a:solidFill>
          <a:ln w="1524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18" name="TextBox 17"/>
          <p:cNvSpPr txBox="1"/>
          <p:nvPr/>
        </p:nvSpPr>
        <p:spPr>
          <a:xfrm>
            <a:off x="6199631" y="1700784"/>
            <a:ext cx="2834639" cy="274320"/>
          </a:xfrm>
          <a:prstGeom prst="rect">
            <a:avLst/>
          </a:prstGeom>
          <a:noFill/>
        </p:spPr>
        <p:txBody>
          <a:bodyPr wrap="square" anchor="t" lIns="18288" rIns="18288" tIns="0" bIns="0">
            <a:spAutoFit/>
          </a:bodyPr>
          <a:lstStyle/>
          <a:p>
            <a:pPr algn="l">
              <a:lnSpc>
                <a:spcPct val="92000"/>
              </a:lnSpc>
              <a:spcAft>
                <a:spcPts val="100"/>
              </a:spcAft>
            </a:pPr>
            <a:r>
              <a:rPr sz="940" b="1" i="0">
                <a:solidFill>
                  <a:srgbClr val="0A6F66"/>
                </a:solidFill>
                <a:latin typeface="Calibri"/>
              </a:rPr>
              <a:t>HONEST BY DESIGN</a:t>
            </a:r>
          </a:p>
        </p:txBody>
      </p:sp>
      <p:sp>
        <p:nvSpPr>
          <p:cNvPr id="19" name="TextBox 18"/>
          <p:cNvSpPr txBox="1"/>
          <p:nvPr/>
        </p:nvSpPr>
        <p:spPr>
          <a:xfrm>
            <a:off x="6227064" y="2011680"/>
            <a:ext cx="2779776" cy="1078992"/>
          </a:xfrm>
          <a:prstGeom prst="rect">
            <a:avLst/>
          </a:prstGeom>
          <a:noFill/>
        </p:spPr>
        <p:txBody>
          <a:bodyPr wrap="square" anchor="t" lIns="18288" rIns="18288" tIns="0" bIns="0">
            <a:spAutoFit/>
          </a:bodyPr>
          <a:lstStyle/>
          <a:p>
            <a:pPr algn="l">
              <a:lnSpc>
                <a:spcPct val="90000"/>
              </a:lnSpc>
              <a:spcAft>
                <a:spcPts val="220"/>
              </a:spcAft>
            </a:pPr>
            <a:r>
              <a:rPr sz="640" b="0" i="0">
                <a:solidFill>
                  <a:srgbClr val="1F2937"/>
                </a:solidFill>
                <a:latin typeface="Calibri"/>
              </a:rPr>
              <a:t>▪ Reports a range, never a single falsely precise number</a:t>
            </a:r>
          </a:p>
          <a:p>
            <a:pPr algn="l">
              <a:lnSpc>
                <a:spcPct val="90000"/>
              </a:lnSpc>
              <a:spcAft>
                <a:spcPts val="220"/>
              </a:spcAft>
            </a:pPr>
            <a:r>
              <a:rPr sz="640" b="0" i="0">
                <a:solidFill>
                  <a:srgbClr val="1F2937"/>
                </a:solidFill>
                <a:latin typeface="Calibri"/>
              </a:rPr>
              <a:t>▪ Poor satellite imagery is refused, not quietly used</a:t>
            </a:r>
          </a:p>
          <a:p>
            <a:pPr algn="l">
              <a:lnSpc>
                <a:spcPct val="90000"/>
              </a:lnSpc>
              <a:spcAft>
                <a:spcPts val="220"/>
              </a:spcAft>
            </a:pPr>
            <a:r>
              <a:rPr sz="640" b="0" i="0">
                <a:solidFill>
                  <a:srgbClr val="1F2937"/>
                </a:solidFill>
                <a:latin typeface="Calibri"/>
              </a:rPr>
              <a:t>▪ Four quality gates block a bad result rather than flagging it</a:t>
            </a:r>
          </a:p>
          <a:p>
            <a:pPr algn="l">
              <a:lnSpc>
                <a:spcPct val="90000"/>
              </a:lnSpc>
              <a:spcAft>
                <a:spcPts val="220"/>
              </a:spcAft>
            </a:pPr>
            <a:r>
              <a:rPr sz="640" b="0" i="0">
                <a:solidFill>
                  <a:srgbClr val="1F2937"/>
                </a:solidFill>
                <a:latin typeface="Calibri"/>
              </a:rPr>
              <a:t>▪ Every limitation is stated on the report itself</a:t>
            </a:r>
          </a:p>
        </p:txBody>
      </p:sp>
      <p:sp>
        <p:nvSpPr>
          <p:cNvPr id="20" name="Rounded Rectangle 19"/>
          <p:cNvSpPr/>
          <p:nvPr/>
        </p:nvSpPr>
        <p:spPr>
          <a:xfrm>
            <a:off x="9253728" y="1609344"/>
            <a:ext cx="2734056" cy="1444752"/>
          </a:xfrm>
          <a:prstGeom prst="roundRect">
            <a:avLst>
              <a:gd name="adj" fmla="val 6000"/>
            </a:avLst>
          </a:prstGeom>
          <a:solidFill>
            <a:srgbClr val="F6F1FE"/>
          </a:solidFill>
          <a:ln w="1524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21" name="TextBox 20"/>
          <p:cNvSpPr txBox="1"/>
          <p:nvPr/>
        </p:nvSpPr>
        <p:spPr>
          <a:xfrm>
            <a:off x="9345167" y="1700784"/>
            <a:ext cx="2551176" cy="274320"/>
          </a:xfrm>
          <a:prstGeom prst="rect">
            <a:avLst/>
          </a:prstGeom>
          <a:noFill/>
        </p:spPr>
        <p:txBody>
          <a:bodyPr wrap="square" anchor="t" lIns="18288" rIns="18288" tIns="0" bIns="0">
            <a:spAutoFit/>
          </a:bodyPr>
          <a:lstStyle/>
          <a:p>
            <a:pPr algn="l">
              <a:lnSpc>
                <a:spcPct val="92000"/>
              </a:lnSpc>
              <a:spcAft>
                <a:spcPts val="100"/>
              </a:spcAft>
            </a:pPr>
            <a:r>
              <a:rPr sz="940" b="1" i="0">
                <a:solidFill>
                  <a:srgbClr val="5D2CB2"/>
                </a:solidFill>
                <a:latin typeface="Calibri"/>
              </a:rPr>
              <a:t>INDEPENDENTLY CHECKED</a:t>
            </a:r>
          </a:p>
        </p:txBody>
      </p:sp>
      <p:sp>
        <p:nvSpPr>
          <p:cNvPr id="22" name="TextBox 21"/>
          <p:cNvSpPr txBox="1"/>
          <p:nvPr/>
        </p:nvSpPr>
        <p:spPr>
          <a:xfrm>
            <a:off x="9372600" y="2011680"/>
            <a:ext cx="2496312" cy="950976"/>
          </a:xfrm>
          <a:prstGeom prst="rect">
            <a:avLst/>
          </a:prstGeom>
          <a:noFill/>
        </p:spPr>
        <p:txBody>
          <a:bodyPr wrap="square" anchor="t" lIns="18288" rIns="18288" tIns="0" bIns="0">
            <a:spAutoFit/>
          </a:bodyPr>
          <a:lstStyle/>
          <a:p>
            <a:pPr algn="l">
              <a:lnSpc>
                <a:spcPct val="90000"/>
              </a:lnSpc>
              <a:spcAft>
                <a:spcPts val="220"/>
              </a:spcAft>
            </a:pPr>
            <a:r>
              <a:rPr sz="640" b="0" i="0">
                <a:solidFill>
                  <a:srgbClr val="1F2937"/>
                </a:solidFill>
                <a:latin typeface="Calibri"/>
              </a:rPr>
              <a:t>▪ Matched against Delft3D FM on the same textbook case</a:t>
            </a:r>
          </a:p>
          <a:p>
            <a:pPr algn="l">
              <a:lnSpc>
                <a:spcPct val="90000"/>
              </a:lnSpc>
              <a:spcAft>
                <a:spcPts val="220"/>
              </a:spcAft>
            </a:pPr>
            <a:r>
              <a:rPr sz="640" b="0" i="0">
                <a:solidFill>
                  <a:srgbClr val="1F2937"/>
                </a:solidFill>
                <a:latin typeface="Calibri"/>
              </a:rPr>
              <a:t>▪ Our error 0.0317 m, theirs 0.0349 m</a:t>
            </a:r>
          </a:p>
          <a:p>
            <a:pPr algn="l">
              <a:lnSpc>
                <a:spcPct val="90000"/>
              </a:lnSpc>
              <a:spcAft>
                <a:spcPts val="220"/>
              </a:spcAft>
            </a:pPr>
            <a:r>
              <a:rPr sz="640" b="0" i="0">
                <a:solidFill>
                  <a:srgbClr val="1F2937"/>
                </a:solidFill>
                <a:latin typeface="Calibri"/>
              </a:rPr>
              <a:t>▪ Both engines agree to within 0.0294 m</a:t>
            </a:r>
          </a:p>
          <a:p>
            <a:pPr algn="l">
              <a:lnSpc>
                <a:spcPct val="90000"/>
              </a:lnSpc>
              <a:spcAft>
                <a:spcPts val="220"/>
              </a:spcAft>
            </a:pPr>
            <a:r>
              <a:rPr sz="640" b="0" i="0">
                <a:solidFill>
                  <a:srgbClr val="1F2937"/>
                </a:solidFill>
                <a:latin typeface="Calibri"/>
              </a:rPr>
              <a:t>▪ Built on two decades of published dam-safety research</a:t>
            </a:r>
          </a:p>
        </p:txBody>
      </p:sp>
      <p:sp>
        <p:nvSpPr>
          <p:cNvPr id="23" name="TextBox 22"/>
          <p:cNvSpPr txBox="1"/>
          <p:nvPr/>
        </p:nvSpPr>
        <p:spPr>
          <a:xfrm>
            <a:off x="201168" y="3310128"/>
            <a:ext cx="5486400" cy="237744"/>
          </a:xfrm>
          <a:prstGeom prst="rect">
            <a:avLst/>
          </a:prstGeom>
          <a:noFill/>
        </p:spPr>
        <p:txBody>
          <a:bodyPr wrap="square" anchor="t" lIns="18288" rIns="18288" tIns="0" bIns="0">
            <a:spAutoFit/>
          </a:bodyPr>
          <a:lstStyle/>
          <a:p>
            <a:pPr algn="l">
              <a:lnSpc>
                <a:spcPct val="92000"/>
              </a:lnSpc>
              <a:spcAft>
                <a:spcPts val="100"/>
              </a:spcAft>
            </a:pPr>
            <a:r>
              <a:rPr sz="1000" b="1" i="0">
                <a:solidFill>
                  <a:srgbClr val="1F2937"/>
                </a:solidFill>
                <a:latin typeface="Calibri"/>
              </a:rPr>
              <a:t>How that compares with current practice</a:t>
            </a:r>
          </a:p>
        </p:txBody>
      </p:sp>
      <p:sp>
        <p:nvSpPr>
          <p:cNvPr id="24" name="Rounded Rectangle 23"/>
          <p:cNvSpPr/>
          <p:nvPr/>
        </p:nvSpPr>
        <p:spPr>
          <a:xfrm>
            <a:off x="201168" y="3621024"/>
            <a:ext cx="2578608" cy="310896"/>
          </a:xfrm>
          <a:prstGeom prst="roundRect">
            <a:avLst>
              <a:gd name="adj" fmla="val 5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720" b="1" i="0">
                <a:solidFill>
                  <a:srgbClr val="FFFFFF"/>
                </a:solidFill>
                <a:latin typeface="Calibri"/>
              </a:rPr>
              <a:t>What you need</a:t>
            </a:r>
          </a:p>
        </p:txBody>
      </p:sp>
      <p:sp>
        <p:nvSpPr>
          <p:cNvPr id="25" name="Rounded Rectangle 24"/>
          <p:cNvSpPr/>
          <p:nvPr/>
        </p:nvSpPr>
        <p:spPr>
          <a:xfrm>
            <a:off x="2816352" y="3621024"/>
            <a:ext cx="4261104" cy="310896"/>
          </a:xfrm>
          <a:prstGeom prst="roundRect">
            <a:avLst>
              <a:gd name="adj" fmla="val 5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720" b="1" i="0">
                <a:solidFill>
                  <a:srgbClr val="FFFFFF"/>
                </a:solidFill>
                <a:latin typeface="Calibri"/>
              </a:rPr>
              <a:t>How it is done today</a:t>
            </a:r>
          </a:p>
        </p:txBody>
      </p:sp>
      <p:sp>
        <p:nvSpPr>
          <p:cNvPr id="26" name="Rounded Rectangle 25"/>
          <p:cNvSpPr/>
          <p:nvPr/>
        </p:nvSpPr>
        <p:spPr>
          <a:xfrm>
            <a:off x="7114032" y="3621024"/>
            <a:ext cx="4892040" cy="310896"/>
          </a:xfrm>
          <a:prstGeom prst="roundRect">
            <a:avLst>
              <a:gd name="adj" fmla="val 5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720" b="1" i="0">
                <a:solidFill>
                  <a:srgbClr val="FFFFFF"/>
                </a:solidFill>
                <a:latin typeface="Calibri"/>
              </a:rPr>
              <a:t>How FloodView does it</a:t>
            </a:r>
          </a:p>
        </p:txBody>
      </p:sp>
      <p:sp>
        <p:nvSpPr>
          <p:cNvPr id="27" name="Rounded Rectangle 26"/>
          <p:cNvSpPr/>
          <p:nvPr/>
        </p:nvSpPr>
        <p:spPr>
          <a:xfrm>
            <a:off x="201168" y="3963924"/>
            <a:ext cx="2578608" cy="310896"/>
          </a:xfrm>
          <a:prstGeom prst="roundRect">
            <a:avLst>
              <a:gd name="adj" fmla="val 5000"/>
            </a:avLst>
          </a:prstGeom>
          <a:solidFill>
            <a:srgbClr val="DCEEF7"/>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1" i="0">
                <a:solidFill>
                  <a:srgbClr val="1F2937"/>
                </a:solidFill>
                <a:latin typeface="Calibri"/>
              </a:rPr>
              <a:t>Time to a first answer</a:t>
            </a:r>
          </a:p>
        </p:txBody>
      </p:sp>
      <p:sp>
        <p:nvSpPr>
          <p:cNvPr id="28" name="Rounded Rectangle 27"/>
          <p:cNvSpPr/>
          <p:nvPr/>
        </p:nvSpPr>
        <p:spPr>
          <a:xfrm>
            <a:off x="2816352" y="3963924"/>
            <a:ext cx="4261104" cy="310896"/>
          </a:xfrm>
          <a:prstGeom prst="roundRect">
            <a:avLst>
              <a:gd name="adj" fmla="val 5000"/>
            </a:avLst>
          </a:prstGeom>
          <a:solidFill>
            <a:srgbClr val="F5FAFD"/>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Weeks of specialist setup</a:t>
            </a:r>
          </a:p>
        </p:txBody>
      </p:sp>
      <p:sp>
        <p:nvSpPr>
          <p:cNvPr id="29" name="Rounded Rectangle 28"/>
          <p:cNvSpPr/>
          <p:nvPr/>
        </p:nvSpPr>
        <p:spPr>
          <a:xfrm>
            <a:off x="7114032" y="3963924"/>
            <a:ext cx="4892040" cy="310896"/>
          </a:xfrm>
          <a:prstGeom prst="roundRect">
            <a:avLst>
              <a:gd name="adj" fmla="val 5000"/>
            </a:avLst>
          </a:prstGeom>
          <a:solidFill>
            <a:srgbClr val="F5FAFD"/>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Minutes — pick a dam and press run</a:t>
            </a:r>
          </a:p>
        </p:txBody>
      </p:sp>
      <p:sp>
        <p:nvSpPr>
          <p:cNvPr id="30" name="Rounded Rectangle 29"/>
          <p:cNvSpPr/>
          <p:nvPr/>
        </p:nvSpPr>
        <p:spPr>
          <a:xfrm>
            <a:off x="201168" y="4306824"/>
            <a:ext cx="2578608" cy="310896"/>
          </a:xfrm>
          <a:prstGeom prst="roundRect">
            <a:avLst>
              <a:gd name="adj" fmla="val 5000"/>
            </a:avLst>
          </a:prstGeom>
          <a:solidFill>
            <a:srgbClr val="DCEEF7"/>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1" i="0">
                <a:solidFill>
                  <a:srgbClr val="1F2937"/>
                </a:solidFill>
                <a:latin typeface="Calibri"/>
              </a:rPr>
              <a:t>Data you must buy</a:t>
            </a:r>
          </a:p>
        </p:txBody>
      </p:sp>
      <p:sp>
        <p:nvSpPr>
          <p:cNvPr id="31" name="Rounded Rectangle 30"/>
          <p:cNvSpPr/>
          <p:nvPr/>
        </p:nvSpPr>
        <p:spPr>
          <a:xfrm>
            <a:off x="2816352" y="4306824"/>
            <a:ext cx="4261104" cy="310896"/>
          </a:xfrm>
          <a:prstGeom prst="roundRect">
            <a:avLst>
              <a:gd name="adj" fmla="val 5000"/>
            </a:avLst>
          </a:prstGeom>
          <a:solidFill>
            <a:srgbClr val="E6F3F9"/>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Licensed elevation data plus a field survey</a:t>
            </a:r>
          </a:p>
        </p:txBody>
      </p:sp>
      <p:sp>
        <p:nvSpPr>
          <p:cNvPr id="32" name="Rounded Rectangle 31"/>
          <p:cNvSpPr/>
          <p:nvPr/>
        </p:nvSpPr>
        <p:spPr>
          <a:xfrm>
            <a:off x="7114032" y="4306824"/>
            <a:ext cx="4892040" cy="310896"/>
          </a:xfrm>
          <a:prstGeom prst="roundRect">
            <a:avLst>
              <a:gd name="adj" fmla="val 5000"/>
            </a:avLst>
          </a:prstGeom>
          <a:solidFill>
            <a:srgbClr val="E6F3F9"/>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None. Free satellite data, cached locally</a:t>
            </a:r>
          </a:p>
        </p:txBody>
      </p:sp>
      <p:sp>
        <p:nvSpPr>
          <p:cNvPr id="33" name="Rounded Rectangle 32"/>
          <p:cNvSpPr/>
          <p:nvPr/>
        </p:nvSpPr>
        <p:spPr>
          <a:xfrm>
            <a:off x="201168" y="4649724"/>
            <a:ext cx="2578608" cy="310896"/>
          </a:xfrm>
          <a:prstGeom prst="roundRect">
            <a:avLst>
              <a:gd name="adj" fmla="val 5000"/>
            </a:avLst>
          </a:prstGeom>
          <a:solidFill>
            <a:srgbClr val="DCEEF7"/>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1" i="0">
                <a:solidFill>
                  <a:srgbClr val="1F2937"/>
                </a:solidFill>
                <a:latin typeface="Calibri"/>
              </a:rPr>
              <a:t>Independent verification</a:t>
            </a:r>
          </a:p>
        </p:txBody>
      </p:sp>
      <p:sp>
        <p:nvSpPr>
          <p:cNvPr id="34" name="Rounded Rectangle 33"/>
          <p:cNvSpPr/>
          <p:nvPr/>
        </p:nvSpPr>
        <p:spPr>
          <a:xfrm>
            <a:off x="2816352" y="4649724"/>
            <a:ext cx="4261104" cy="310896"/>
          </a:xfrm>
          <a:prstGeom prst="roundRect">
            <a:avLst>
              <a:gd name="adj" fmla="val 5000"/>
            </a:avLst>
          </a:prstGeom>
          <a:solidFill>
            <a:srgbClr val="F5FAFD"/>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Rarely available, rarely published</a:t>
            </a:r>
          </a:p>
        </p:txBody>
      </p:sp>
      <p:sp>
        <p:nvSpPr>
          <p:cNvPr id="35" name="Rounded Rectangle 34"/>
          <p:cNvSpPr/>
          <p:nvPr/>
        </p:nvSpPr>
        <p:spPr>
          <a:xfrm>
            <a:off x="7114032" y="4649724"/>
            <a:ext cx="4892040" cy="310896"/>
          </a:xfrm>
          <a:prstGeom prst="roundRect">
            <a:avLst>
              <a:gd name="adj" fmla="val 5000"/>
            </a:avLst>
          </a:prstGeom>
          <a:solidFill>
            <a:srgbClr val="F5FAFD"/>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Cross-checked against Delft3D FM, published here</a:t>
            </a:r>
          </a:p>
        </p:txBody>
      </p:sp>
      <p:sp>
        <p:nvSpPr>
          <p:cNvPr id="36" name="Rounded Rectangle 35"/>
          <p:cNvSpPr/>
          <p:nvPr/>
        </p:nvSpPr>
        <p:spPr>
          <a:xfrm>
            <a:off x="201168" y="4992624"/>
            <a:ext cx="2578608" cy="310896"/>
          </a:xfrm>
          <a:prstGeom prst="roundRect">
            <a:avLst>
              <a:gd name="adj" fmla="val 5000"/>
            </a:avLst>
          </a:prstGeom>
          <a:solidFill>
            <a:srgbClr val="DCEEF7"/>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1" i="0">
                <a:solidFill>
                  <a:srgbClr val="1F2937"/>
                </a:solidFill>
                <a:latin typeface="Calibri"/>
              </a:rPr>
              <a:t>How uncertainty is shown</a:t>
            </a:r>
          </a:p>
        </p:txBody>
      </p:sp>
      <p:sp>
        <p:nvSpPr>
          <p:cNvPr id="37" name="Rounded Rectangle 36"/>
          <p:cNvSpPr/>
          <p:nvPr/>
        </p:nvSpPr>
        <p:spPr>
          <a:xfrm>
            <a:off x="2816352" y="4992624"/>
            <a:ext cx="4261104" cy="310896"/>
          </a:xfrm>
          <a:prstGeom prst="roundRect">
            <a:avLst>
              <a:gd name="adj" fmla="val 5000"/>
            </a:avLst>
          </a:prstGeom>
          <a:solidFill>
            <a:srgbClr val="E6F3F9"/>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A single number, with no band around it</a:t>
            </a:r>
          </a:p>
        </p:txBody>
      </p:sp>
      <p:sp>
        <p:nvSpPr>
          <p:cNvPr id="38" name="Rounded Rectangle 37"/>
          <p:cNvSpPr/>
          <p:nvPr/>
        </p:nvSpPr>
        <p:spPr>
          <a:xfrm>
            <a:off x="7114032" y="4992624"/>
            <a:ext cx="4892040" cy="310896"/>
          </a:xfrm>
          <a:prstGeom prst="roundRect">
            <a:avLst>
              <a:gd name="adj" fmla="val 5000"/>
            </a:avLst>
          </a:prstGeom>
          <a:solidFill>
            <a:srgbClr val="E6F3F9"/>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Thirty runs — best, worst and most likely</a:t>
            </a:r>
          </a:p>
        </p:txBody>
      </p:sp>
      <p:sp>
        <p:nvSpPr>
          <p:cNvPr id="39" name="Rounded Rectangle 38"/>
          <p:cNvSpPr/>
          <p:nvPr/>
        </p:nvSpPr>
        <p:spPr>
          <a:xfrm>
            <a:off x="201168" y="5335524"/>
            <a:ext cx="2578608" cy="310896"/>
          </a:xfrm>
          <a:prstGeom prst="roundRect">
            <a:avLst>
              <a:gd name="adj" fmla="val 5000"/>
            </a:avLst>
          </a:prstGeom>
          <a:solidFill>
            <a:srgbClr val="DCEEF7"/>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1" i="0">
                <a:solidFill>
                  <a:srgbClr val="1F2937"/>
                </a:solidFill>
                <a:latin typeface="Calibri"/>
              </a:rPr>
              <a:t>Poor satellite imagery</a:t>
            </a:r>
          </a:p>
        </p:txBody>
      </p:sp>
      <p:sp>
        <p:nvSpPr>
          <p:cNvPr id="40" name="Rounded Rectangle 39"/>
          <p:cNvSpPr/>
          <p:nvPr/>
        </p:nvSpPr>
        <p:spPr>
          <a:xfrm>
            <a:off x="2816352" y="5335524"/>
            <a:ext cx="4261104" cy="310896"/>
          </a:xfrm>
          <a:prstGeom prst="roundRect">
            <a:avLst>
              <a:gd name="adj" fmla="val 5000"/>
            </a:avLst>
          </a:prstGeom>
          <a:solidFill>
            <a:srgbClr val="F5FAFD"/>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Used anyway, because there is nothing else</a:t>
            </a:r>
          </a:p>
        </p:txBody>
      </p:sp>
      <p:sp>
        <p:nvSpPr>
          <p:cNvPr id="41" name="Rounded Rectangle 40"/>
          <p:cNvSpPr/>
          <p:nvPr/>
        </p:nvSpPr>
        <p:spPr>
          <a:xfrm>
            <a:off x="7114032" y="5335524"/>
            <a:ext cx="4892040" cy="310896"/>
          </a:xfrm>
          <a:prstGeom prst="roundRect">
            <a:avLst>
              <a:gd name="adj" fmla="val 5000"/>
            </a:avLst>
          </a:prstGeom>
          <a:solidFill>
            <a:srgbClr val="F5FAFD"/>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Refused automatically below the quality threshold</a:t>
            </a:r>
          </a:p>
        </p:txBody>
      </p:sp>
      <p:sp>
        <p:nvSpPr>
          <p:cNvPr id="42" name="Rounded Rectangle 41"/>
          <p:cNvSpPr/>
          <p:nvPr/>
        </p:nvSpPr>
        <p:spPr>
          <a:xfrm>
            <a:off x="201168" y="5678424"/>
            <a:ext cx="2578608" cy="310896"/>
          </a:xfrm>
          <a:prstGeom prst="roundRect">
            <a:avLst>
              <a:gd name="adj" fmla="val 5000"/>
            </a:avLst>
          </a:prstGeom>
          <a:solidFill>
            <a:srgbClr val="DCEEF7"/>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1" i="0">
                <a:solidFill>
                  <a:srgbClr val="1F2937"/>
                </a:solidFill>
                <a:latin typeface="Calibri"/>
              </a:rPr>
              <a:t>Network on the day</a:t>
            </a:r>
          </a:p>
        </p:txBody>
      </p:sp>
      <p:sp>
        <p:nvSpPr>
          <p:cNvPr id="43" name="Rounded Rectangle 42"/>
          <p:cNvSpPr/>
          <p:nvPr/>
        </p:nvSpPr>
        <p:spPr>
          <a:xfrm>
            <a:off x="2816352" y="5678424"/>
            <a:ext cx="4261104" cy="310896"/>
          </a:xfrm>
          <a:prstGeom prst="roundRect">
            <a:avLst>
              <a:gd name="adj" fmla="val 5000"/>
            </a:avLst>
          </a:prstGeom>
          <a:solidFill>
            <a:srgbClr val="E6F3F9"/>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Required — the tools are cloud-hosted</a:t>
            </a:r>
          </a:p>
        </p:txBody>
      </p:sp>
      <p:sp>
        <p:nvSpPr>
          <p:cNvPr id="44" name="Rounded Rectangle 43"/>
          <p:cNvSpPr/>
          <p:nvPr/>
        </p:nvSpPr>
        <p:spPr>
          <a:xfrm>
            <a:off x="7114032" y="5678424"/>
            <a:ext cx="4892040" cy="310896"/>
          </a:xfrm>
          <a:prstGeom prst="roundRect">
            <a:avLst>
              <a:gd name="adj" fmla="val 5000"/>
            </a:avLst>
          </a:prstGeom>
          <a:solidFill>
            <a:srgbClr val="E6F3F9"/>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Not required. Everything runs from cache</a:t>
            </a:r>
          </a:p>
        </p:txBody>
      </p:sp>
      <p:sp>
        <p:nvSpPr>
          <p:cNvPr id="45" name="Rounded Rectangle 44"/>
          <p:cNvSpPr/>
          <p:nvPr/>
        </p:nvSpPr>
        <p:spPr>
          <a:xfrm rot="21582000">
            <a:off x="201168" y="6016752"/>
            <a:ext cx="5760720" cy="402336"/>
          </a:xfrm>
          <a:prstGeom prst="roundRect">
            <a:avLst>
              <a:gd name="adj" fmla="val 14000"/>
            </a:avLst>
          </a:prstGeom>
          <a:solidFill>
            <a:srgbClr val="FCE9E9"/>
          </a:solidFill>
          <a:ln w="1143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l">
              <a:lnSpc>
                <a:spcPct val="92000"/>
              </a:lnSpc>
              <a:spcAft>
                <a:spcPts val="100"/>
              </a:spcAft>
            </a:pPr>
            <a:r>
              <a:rPr sz="640" b="0" i="1">
                <a:solidFill>
                  <a:srgbClr val="841717"/>
                </a:solidFill>
                <a:latin typeface="Calibri"/>
              </a:rPr>
              <a:t>Refusing a bad input is a feature, not a gap. At Khadakwasla the radar scene scored 0.486 against a 0.5 threshold and was rejected outright — no substitute overlay was drawn in its place.</a:t>
            </a:r>
          </a:p>
        </p:txBody>
      </p:sp>
      <p:sp>
        <p:nvSpPr>
          <p:cNvPr id="46" name="Rounded Rectangle 45"/>
          <p:cNvSpPr/>
          <p:nvPr/>
        </p:nvSpPr>
        <p:spPr>
          <a:xfrm rot="18000">
            <a:off x="6181344" y="6016752"/>
            <a:ext cx="5806440" cy="402336"/>
          </a:xfrm>
          <a:prstGeom prst="roundRect">
            <a:avLst>
              <a:gd name="adj" fmla="val 14000"/>
            </a:avLst>
          </a:prstGeom>
          <a:solidFill>
            <a:srgbClr val="E6F4F0"/>
          </a:solidFill>
          <a:ln w="1143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l">
              <a:lnSpc>
                <a:spcPct val="92000"/>
              </a:lnSpc>
              <a:spcAft>
                <a:spcPts val="100"/>
              </a:spcAft>
            </a:pPr>
            <a:r>
              <a:rPr sz="640" b="0" i="1">
                <a:solidFill>
                  <a:srgbClr val="035A3F"/>
                </a:solidFill>
                <a:latin typeface="Calibri"/>
              </a:rPr>
              <a:t>None of the right-hand column is aspiration. Every row in it is running today, on the machine this deck was built on, and the numbers quoted came off that machine.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01168" y="128016"/>
            <a:ext cx="1188720" cy="310896"/>
          </a:xfrm>
          <a:prstGeom prst="roundRect">
            <a:avLst>
              <a:gd name="adj" fmla="val 40000"/>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2860" bIns="22860"/>
          <a:lstStyle/>
          <a:p>
            <a:pPr algn="ctr">
              <a:lnSpc>
                <a:spcPct val="92000"/>
              </a:lnSpc>
              <a:spcAft>
                <a:spcPts val="100"/>
              </a:spcAft>
            </a:pPr>
            <a:r>
              <a:rPr sz="1100" b="1" i="0">
                <a:solidFill>
                  <a:srgbClr val="FFFFFF"/>
                </a:solidFill>
                <a:latin typeface="Calibri"/>
              </a:rPr>
              <a:t>FloodView</a:t>
            </a:r>
          </a:p>
        </p:txBody>
      </p:sp>
      <p:sp>
        <p:nvSpPr>
          <p:cNvPr id="3" name="TextBox 2"/>
          <p:cNvSpPr txBox="1"/>
          <p:nvPr/>
        </p:nvSpPr>
        <p:spPr>
          <a:xfrm>
            <a:off x="201168" y="457200"/>
            <a:ext cx="1463040" cy="182880"/>
          </a:xfrm>
          <a:prstGeom prst="rect">
            <a:avLst/>
          </a:prstGeom>
          <a:noFill/>
        </p:spPr>
        <p:txBody>
          <a:bodyPr wrap="square" anchor="t" lIns="18288" rIns="18288" tIns="0" bIns="0">
            <a:spAutoFit/>
          </a:bodyPr>
          <a:lstStyle/>
          <a:p>
            <a:pPr algn="l">
              <a:lnSpc>
                <a:spcPct val="92000"/>
              </a:lnSpc>
              <a:spcAft>
                <a:spcPts val="100"/>
              </a:spcAft>
            </a:pPr>
            <a:r>
              <a:rPr sz="620" b="0" i="0">
                <a:solidFill>
                  <a:srgbClr val="6B7280"/>
                </a:solidFill>
                <a:latin typeface="Calibri"/>
              </a:rPr>
              <a:t>PS 26161 · NTRO</a:t>
            </a:r>
          </a:p>
        </p:txBody>
      </p:sp>
      <p:sp>
        <p:nvSpPr>
          <p:cNvPr id="4" name="TextBox 3"/>
          <p:cNvSpPr txBox="1"/>
          <p:nvPr/>
        </p:nvSpPr>
        <p:spPr>
          <a:xfrm>
            <a:off x="1554480" y="91440"/>
            <a:ext cx="8732520" cy="384048"/>
          </a:xfrm>
          <a:prstGeom prst="rect">
            <a:avLst/>
          </a:prstGeom>
          <a:noFill/>
        </p:spPr>
        <p:txBody>
          <a:bodyPr wrap="square" anchor="ctr" lIns="18288" rIns="18288" tIns="0" bIns="0">
            <a:spAutoFit/>
          </a:bodyPr>
          <a:lstStyle/>
          <a:p>
            <a:pPr algn="ctr">
              <a:lnSpc>
                <a:spcPct val="92000"/>
              </a:lnSpc>
              <a:spcAft>
                <a:spcPts val="100"/>
              </a:spcAft>
            </a:pPr>
            <a:r>
              <a:rPr sz="2300" b="1" i="0">
                <a:solidFill>
                  <a:srgbClr val="1F2937"/>
                </a:solidFill>
                <a:latin typeface="Calibri"/>
              </a:rPr>
              <a:t>HOW WE KNOW THE ANSWERS ARE RIGHT</a:t>
            </a:r>
          </a:p>
        </p:txBody>
      </p:sp>
      <p:sp>
        <p:nvSpPr>
          <p:cNvPr id="5" name="TextBox 4"/>
          <p:cNvSpPr txBox="1"/>
          <p:nvPr/>
        </p:nvSpPr>
        <p:spPr>
          <a:xfrm>
            <a:off x="1554480" y="475488"/>
            <a:ext cx="8732520" cy="201168"/>
          </a:xfrm>
          <a:prstGeom prst="rect">
            <a:avLst/>
          </a:prstGeom>
          <a:noFill/>
        </p:spPr>
        <p:txBody>
          <a:bodyPr wrap="square" anchor="t" lIns="18288" rIns="18288" tIns="0" bIns="0">
            <a:spAutoFit/>
          </a:bodyPr>
          <a:lstStyle/>
          <a:p>
            <a:pPr algn="ctr">
              <a:lnSpc>
                <a:spcPct val="92000"/>
              </a:lnSpc>
              <a:spcAft>
                <a:spcPts val="100"/>
              </a:spcAft>
            </a:pPr>
            <a:r>
              <a:rPr sz="819" b="0" i="1">
                <a:solidFill>
                  <a:srgbClr val="6B7280"/>
                </a:solidFill>
                <a:latin typeface="Calibri"/>
              </a:rPr>
              <a:t>Four checks that must pass, plus a comparison against an engine we did not write.</a:t>
            </a:r>
          </a:p>
        </p:txBody>
      </p:sp>
      <p:sp>
        <p:nvSpPr>
          <p:cNvPr id="6" name="TextBox 5"/>
          <p:cNvSpPr txBox="1"/>
          <p:nvPr/>
        </p:nvSpPr>
        <p:spPr>
          <a:xfrm>
            <a:off x="10378440" y="128016"/>
            <a:ext cx="1609344" cy="402336"/>
          </a:xfrm>
          <a:prstGeom prst="rect">
            <a:avLst/>
          </a:prstGeom>
          <a:noFill/>
        </p:spPr>
        <p:txBody>
          <a:bodyPr wrap="square" anchor="t" lIns="18288" rIns="18288" tIns="0" bIns="0">
            <a:spAutoFit/>
          </a:bodyPr>
          <a:lstStyle/>
          <a:p>
            <a:pPr algn="r">
              <a:lnSpc>
                <a:spcPct val="92000"/>
              </a:lnSpc>
              <a:spcAft>
                <a:spcPts val="0"/>
              </a:spcAft>
            </a:pPr>
            <a:r>
              <a:rPr sz="800" b="1" i="0">
                <a:solidFill>
                  <a:srgbClr val="0070C0"/>
                </a:solidFill>
                <a:latin typeface="Calibri"/>
              </a:rPr>
              <a:t>SMART INDIA</a:t>
            </a:r>
          </a:p>
          <a:p>
            <a:pPr algn="r">
              <a:lnSpc>
                <a:spcPct val="92000"/>
              </a:lnSpc>
              <a:spcAft>
                <a:spcPts val="0"/>
              </a:spcAft>
            </a:pPr>
            <a:r>
              <a:rPr sz="800" b="1" i="0">
                <a:solidFill>
                  <a:srgbClr val="0070C0"/>
                </a:solidFill>
                <a:latin typeface="Calibri"/>
              </a:rPr>
              <a:t>HACKATHON 2026</a:t>
            </a:r>
          </a:p>
        </p:txBody>
      </p:sp>
      <p:sp>
        <p:nvSpPr>
          <p:cNvPr id="7" name="Rectangle 6"/>
          <p:cNvSpPr/>
          <p:nvPr/>
        </p:nvSpPr>
        <p:spPr>
          <a:xfrm>
            <a:off x="0" y="6547104"/>
            <a:ext cx="12191695" cy="310896"/>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8" name="TextBox 7"/>
          <p:cNvSpPr txBox="1"/>
          <p:nvPr/>
        </p:nvSpPr>
        <p:spPr>
          <a:xfrm>
            <a:off x="256032" y="6601968"/>
            <a:ext cx="10607040" cy="201168"/>
          </a:xfrm>
          <a:prstGeom prst="rect">
            <a:avLst/>
          </a:prstGeom>
          <a:noFill/>
        </p:spPr>
        <p:txBody>
          <a:bodyPr wrap="square" anchor="t" lIns="18288" rIns="18288" tIns="0" bIns="0">
            <a:spAutoFit/>
          </a:bodyPr>
          <a:lstStyle/>
          <a:p>
            <a:pPr algn="l">
              <a:lnSpc>
                <a:spcPct val="92000"/>
              </a:lnSpc>
              <a:spcAft>
                <a:spcPts val="100"/>
              </a:spcAft>
            </a:pPr>
            <a:r>
              <a:rPr sz="800" b="1" i="0">
                <a:solidFill>
                  <a:srgbClr val="FFFFFF"/>
                </a:solidFill>
                <a:latin typeface="Calibri"/>
              </a:rPr>
              <a:t>If a check fails, the result is blocked — not flagged, not footnoted. Blocked.</a:t>
            </a:r>
          </a:p>
        </p:txBody>
      </p:sp>
      <p:sp>
        <p:nvSpPr>
          <p:cNvPr id="9" name="TextBox 8"/>
          <p:cNvSpPr txBox="1"/>
          <p:nvPr/>
        </p:nvSpPr>
        <p:spPr>
          <a:xfrm>
            <a:off x="11521440" y="6601968"/>
            <a:ext cx="457200" cy="201168"/>
          </a:xfrm>
          <a:prstGeom prst="rect">
            <a:avLst/>
          </a:prstGeom>
          <a:noFill/>
        </p:spPr>
        <p:txBody>
          <a:bodyPr wrap="square" anchor="t" lIns="18288" rIns="18288" tIns="0" bIns="0">
            <a:spAutoFit/>
          </a:bodyPr>
          <a:lstStyle/>
          <a:p>
            <a:pPr algn="r">
              <a:lnSpc>
                <a:spcPct val="92000"/>
              </a:lnSpc>
              <a:spcAft>
                <a:spcPts val="100"/>
              </a:spcAft>
            </a:pPr>
            <a:r>
              <a:rPr sz="850" b="1" i="0">
                <a:solidFill>
                  <a:srgbClr val="FFFFFF"/>
                </a:solidFill>
                <a:latin typeface="Calibri"/>
              </a:rPr>
              <a:t>9</a:t>
            </a:r>
          </a:p>
        </p:txBody>
      </p:sp>
      <p:sp>
        <p:nvSpPr>
          <p:cNvPr id="10" name="Rounded Rectangle 9"/>
          <p:cNvSpPr/>
          <p:nvPr/>
        </p:nvSpPr>
        <p:spPr>
          <a:xfrm>
            <a:off x="201168" y="877824"/>
            <a:ext cx="11786616" cy="420624"/>
          </a:xfrm>
          <a:prstGeom prst="roundRect">
            <a:avLst>
              <a:gd name="adj" fmla="val 8000"/>
            </a:avLst>
          </a:prstGeom>
          <a:solidFill>
            <a:srgbClr val="FAE1E1"/>
          </a:solidFill>
          <a:ln w="1778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92000"/>
              </a:lnSpc>
              <a:spcAft>
                <a:spcPts val="100"/>
              </a:spcAft>
            </a:pPr>
            <a:r>
              <a:rPr sz="860" b="1" i="0">
                <a:solidFill>
                  <a:srgbClr val="9A1B1B"/>
                </a:solidFill>
                <a:latin typeface="Calibri"/>
              </a:rPr>
              <a:t>No result is ever shown until all four checks pass. A warning label on a wrong flood map is worse than no map at all, so a failed check stops the run.</a:t>
            </a:r>
          </a:p>
        </p:txBody>
      </p:sp>
      <p:sp>
        <p:nvSpPr>
          <p:cNvPr id="11" name="Rounded Rectangle 10"/>
          <p:cNvSpPr/>
          <p:nvPr/>
        </p:nvSpPr>
        <p:spPr>
          <a:xfrm>
            <a:off x="201168" y="1536192"/>
            <a:ext cx="2889504" cy="1097280"/>
          </a:xfrm>
          <a:prstGeom prst="roundRect">
            <a:avLst>
              <a:gd name="adj" fmla="val 6000"/>
            </a:avLst>
          </a:prstGeom>
          <a:solidFill>
            <a:srgbClr val="EEF8F4"/>
          </a:solidFill>
          <a:ln w="1524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12" name="TextBox 11"/>
          <p:cNvSpPr txBox="1"/>
          <p:nvPr/>
        </p:nvSpPr>
        <p:spPr>
          <a:xfrm>
            <a:off x="292608" y="1627632"/>
            <a:ext cx="2706624" cy="274320"/>
          </a:xfrm>
          <a:prstGeom prst="rect">
            <a:avLst/>
          </a:prstGeom>
          <a:noFill/>
        </p:spPr>
        <p:txBody>
          <a:bodyPr wrap="square" anchor="t" lIns="18288" rIns="18288" tIns="0" bIns="0">
            <a:spAutoFit/>
          </a:bodyPr>
          <a:lstStyle/>
          <a:p>
            <a:pPr algn="l">
              <a:lnSpc>
                <a:spcPct val="92000"/>
              </a:lnSpc>
              <a:spcAft>
                <a:spcPts val="100"/>
              </a:spcAft>
            </a:pPr>
            <a:r>
              <a:rPr sz="780" b="1" i="0">
                <a:solidFill>
                  <a:srgbClr val="04704F"/>
                </a:solidFill>
                <a:latin typeface="Calibri"/>
              </a:rPr>
              <a:t>CHECK 1  ·  STILL WATER STAYS STILL</a:t>
            </a:r>
          </a:p>
        </p:txBody>
      </p:sp>
      <p:sp>
        <p:nvSpPr>
          <p:cNvPr id="13" name="TextBox 12"/>
          <p:cNvSpPr txBox="1"/>
          <p:nvPr/>
        </p:nvSpPr>
        <p:spPr>
          <a:xfrm>
            <a:off x="320040" y="1938528"/>
            <a:ext cx="2651760" cy="603503"/>
          </a:xfrm>
          <a:prstGeom prst="rect">
            <a:avLst/>
          </a:prstGeom>
          <a:noFill/>
        </p:spPr>
        <p:txBody>
          <a:bodyPr wrap="square" anchor="t" lIns="18288" rIns="18288" tIns="0" bIns="0">
            <a:spAutoFit/>
          </a:bodyPr>
          <a:lstStyle/>
          <a:p>
            <a:pPr algn="l">
              <a:lnSpc>
                <a:spcPct val="90000"/>
              </a:lnSpc>
              <a:spcAft>
                <a:spcPts val="220"/>
              </a:spcAft>
            </a:pPr>
            <a:r>
              <a:rPr sz="620" b="0" i="0">
                <a:solidFill>
                  <a:srgbClr val="1F2937"/>
                </a:solidFill>
                <a:latin typeface="Calibri"/>
              </a:rPr>
              <a:t>Water in a bowl with nothing pushing it must not drift.</a:t>
            </a:r>
          </a:p>
          <a:p>
            <a:pPr algn="l">
              <a:lnSpc>
                <a:spcPct val="90000"/>
              </a:lnSpc>
              <a:spcAft>
                <a:spcPts val="220"/>
              </a:spcAft>
            </a:pPr>
            <a:r>
              <a:rPr sz="620" b="0" i="0">
                <a:solidFill>
                  <a:srgbClr val="1F2937"/>
                </a:solidFill>
                <a:latin typeface="Calibri"/>
              </a:rPr>
              <a:t>Measured drift: 0.0000000000000598 metres per second.</a:t>
            </a:r>
          </a:p>
          <a:p>
            <a:pPr algn="l">
              <a:lnSpc>
                <a:spcPct val="90000"/>
              </a:lnSpc>
              <a:spcAft>
                <a:spcPts val="220"/>
              </a:spcAft>
            </a:pPr>
            <a:r>
              <a:rPr sz="620" b="0" i="0">
                <a:solidFill>
                  <a:srgbClr val="1F2937"/>
                </a:solidFill>
                <a:latin typeface="Calibri"/>
              </a:rPr>
              <a:t>The threshold allows a thousand times more than that.</a:t>
            </a:r>
          </a:p>
          <a:p>
            <a:pPr algn="l">
              <a:lnSpc>
                <a:spcPct val="90000"/>
              </a:lnSpc>
              <a:spcAft>
                <a:spcPts val="220"/>
              </a:spcAft>
            </a:pPr>
            <a:r>
              <a:rPr sz="620" b="1" i="0">
                <a:solidFill>
                  <a:srgbClr val="1F2937"/>
                </a:solidFill>
                <a:latin typeface="Calibri"/>
              </a:rPr>
              <a:t>Result: passes, with room to spare.</a:t>
            </a:r>
          </a:p>
        </p:txBody>
      </p:sp>
      <p:sp>
        <p:nvSpPr>
          <p:cNvPr id="14" name="Rounded Rectangle 13"/>
          <p:cNvSpPr/>
          <p:nvPr/>
        </p:nvSpPr>
        <p:spPr>
          <a:xfrm>
            <a:off x="3236976" y="1536192"/>
            <a:ext cx="2798064" cy="1097280"/>
          </a:xfrm>
          <a:prstGeom prst="roundRect">
            <a:avLst>
              <a:gd name="adj" fmla="val 6000"/>
            </a:avLst>
          </a:prstGeom>
          <a:solidFill>
            <a:srgbClr val="EEF8F4"/>
          </a:solidFill>
          <a:ln w="1524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15" name="TextBox 14"/>
          <p:cNvSpPr txBox="1"/>
          <p:nvPr/>
        </p:nvSpPr>
        <p:spPr>
          <a:xfrm>
            <a:off x="3328416" y="1627632"/>
            <a:ext cx="2615184" cy="274320"/>
          </a:xfrm>
          <a:prstGeom prst="rect">
            <a:avLst/>
          </a:prstGeom>
          <a:noFill/>
        </p:spPr>
        <p:txBody>
          <a:bodyPr wrap="square" anchor="t" lIns="18288" rIns="18288" tIns="0" bIns="0">
            <a:spAutoFit/>
          </a:bodyPr>
          <a:lstStyle/>
          <a:p>
            <a:pPr algn="l">
              <a:lnSpc>
                <a:spcPct val="92000"/>
              </a:lnSpc>
              <a:spcAft>
                <a:spcPts val="100"/>
              </a:spcAft>
            </a:pPr>
            <a:r>
              <a:rPr sz="780" b="1" i="0">
                <a:solidFill>
                  <a:srgbClr val="04704F"/>
                </a:solidFill>
                <a:latin typeface="Calibri"/>
              </a:rPr>
              <a:t>CHECK 2  ·  NO WATER APPEARS OR VANISHES</a:t>
            </a:r>
          </a:p>
        </p:txBody>
      </p:sp>
      <p:sp>
        <p:nvSpPr>
          <p:cNvPr id="16" name="TextBox 15"/>
          <p:cNvSpPr txBox="1"/>
          <p:nvPr/>
        </p:nvSpPr>
        <p:spPr>
          <a:xfrm>
            <a:off x="3355848" y="1938528"/>
            <a:ext cx="2560320" cy="603503"/>
          </a:xfrm>
          <a:prstGeom prst="rect">
            <a:avLst/>
          </a:prstGeom>
          <a:noFill/>
        </p:spPr>
        <p:txBody>
          <a:bodyPr wrap="square" anchor="t" lIns="18288" rIns="18288" tIns="0" bIns="0">
            <a:spAutoFit/>
          </a:bodyPr>
          <a:lstStyle/>
          <a:p>
            <a:pPr algn="l">
              <a:lnSpc>
                <a:spcPct val="90000"/>
              </a:lnSpc>
              <a:spcAft>
                <a:spcPts val="220"/>
              </a:spcAft>
            </a:pPr>
            <a:r>
              <a:rPr sz="620" b="0" i="0">
                <a:solidFill>
                  <a:srgbClr val="1F2937"/>
                </a:solidFill>
                <a:latin typeface="Calibri"/>
              </a:rPr>
              <a:t>Total water in the simulation must stay constant.</a:t>
            </a:r>
          </a:p>
          <a:p>
            <a:pPr algn="l">
              <a:lnSpc>
                <a:spcPct val="90000"/>
              </a:lnSpc>
              <a:spcAft>
                <a:spcPts val="220"/>
              </a:spcAft>
            </a:pPr>
            <a:r>
              <a:rPr sz="620" b="0" i="0">
                <a:solidFill>
                  <a:srgbClr val="1F2937"/>
                </a:solidFill>
                <a:latin typeface="Calibri"/>
              </a:rPr>
              <a:t>Measured loss across a thousand steps: 0.000000 per cent.</a:t>
            </a:r>
          </a:p>
          <a:p>
            <a:pPr algn="l">
              <a:lnSpc>
                <a:spcPct val="90000"/>
              </a:lnSpc>
              <a:spcAft>
                <a:spcPts val="220"/>
              </a:spcAft>
            </a:pPr>
            <a:r>
              <a:rPr sz="620" b="0" i="0">
                <a:solidFill>
                  <a:srgbClr val="1F2937"/>
                </a:solidFill>
                <a:latin typeface="Calibri"/>
              </a:rPr>
              <a:t>Exact to the limit of what the machine can represent.</a:t>
            </a:r>
          </a:p>
          <a:p>
            <a:pPr algn="l">
              <a:lnSpc>
                <a:spcPct val="90000"/>
              </a:lnSpc>
              <a:spcAft>
                <a:spcPts val="220"/>
              </a:spcAft>
            </a:pPr>
            <a:r>
              <a:rPr sz="620" b="1" i="0">
                <a:solidFill>
                  <a:srgbClr val="1F2937"/>
                </a:solidFill>
                <a:latin typeface="Calibri"/>
              </a:rPr>
              <a:t>Result: passes.</a:t>
            </a:r>
          </a:p>
        </p:txBody>
      </p:sp>
      <p:sp>
        <p:nvSpPr>
          <p:cNvPr id="17" name="Rounded Rectangle 16"/>
          <p:cNvSpPr/>
          <p:nvPr/>
        </p:nvSpPr>
        <p:spPr>
          <a:xfrm>
            <a:off x="6236208" y="1536192"/>
            <a:ext cx="2834640" cy="1097280"/>
          </a:xfrm>
          <a:prstGeom prst="roundRect">
            <a:avLst>
              <a:gd name="adj" fmla="val 6000"/>
            </a:avLst>
          </a:prstGeom>
          <a:solidFill>
            <a:srgbClr val="EEF8F4"/>
          </a:solidFill>
          <a:ln w="1524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18" name="TextBox 17"/>
          <p:cNvSpPr txBox="1"/>
          <p:nvPr/>
        </p:nvSpPr>
        <p:spPr>
          <a:xfrm>
            <a:off x="6327648" y="1627632"/>
            <a:ext cx="2651760" cy="274320"/>
          </a:xfrm>
          <a:prstGeom prst="rect">
            <a:avLst/>
          </a:prstGeom>
          <a:noFill/>
        </p:spPr>
        <p:txBody>
          <a:bodyPr wrap="square" anchor="t" lIns="18288" rIns="18288" tIns="0" bIns="0">
            <a:spAutoFit/>
          </a:bodyPr>
          <a:lstStyle/>
          <a:p>
            <a:pPr algn="l">
              <a:lnSpc>
                <a:spcPct val="92000"/>
              </a:lnSpc>
              <a:spcAft>
                <a:spcPts val="100"/>
              </a:spcAft>
            </a:pPr>
            <a:r>
              <a:rPr sz="780" b="1" i="0">
                <a:solidFill>
                  <a:srgbClr val="04704F"/>
                </a:solidFill>
                <a:latin typeface="Calibri"/>
              </a:rPr>
              <a:t>CHECK 3  ·  NO IMPOSSIBLE NUMBERS</a:t>
            </a:r>
          </a:p>
        </p:txBody>
      </p:sp>
      <p:sp>
        <p:nvSpPr>
          <p:cNvPr id="19" name="TextBox 18"/>
          <p:cNvSpPr txBox="1"/>
          <p:nvPr/>
        </p:nvSpPr>
        <p:spPr>
          <a:xfrm>
            <a:off x="6355080" y="1938528"/>
            <a:ext cx="2596896" cy="603503"/>
          </a:xfrm>
          <a:prstGeom prst="rect">
            <a:avLst/>
          </a:prstGeom>
          <a:noFill/>
        </p:spPr>
        <p:txBody>
          <a:bodyPr wrap="square" anchor="t" lIns="18288" rIns="18288" tIns="0" bIns="0">
            <a:spAutoFit/>
          </a:bodyPr>
          <a:lstStyle/>
          <a:p>
            <a:pPr algn="l">
              <a:lnSpc>
                <a:spcPct val="90000"/>
              </a:lnSpc>
              <a:spcAft>
                <a:spcPts val="220"/>
              </a:spcAft>
            </a:pPr>
            <a:r>
              <a:rPr sz="620" b="0" i="0">
                <a:solidFill>
                  <a:srgbClr val="1F2937"/>
                </a:solidFill>
                <a:latin typeface="Calibri"/>
              </a:rPr>
              <a:t>Depth can never be negative, and nothing may go undefined.</a:t>
            </a:r>
          </a:p>
          <a:p>
            <a:pPr algn="l">
              <a:lnSpc>
                <a:spcPct val="90000"/>
              </a:lnSpc>
              <a:spcAft>
                <a:spcPts val="220"/>
              </a:spcAft>
            </a:pPr>
            <a:r>
              <a:rPr sz="620" b="0" i="0">
                <a:solidFill>
                  <a:srgbClr val="1F2937"/>
                </a:solidFill>
                <a:latin typeface="Calibri"/>
              </a:rPr>
              <a:t>The flood edge, where water meets dry ground, is the hard part.</a:t>
            </a:r>
          </a:p>
          <a:p>
            <a:pPr algn="l">
              <a:lnSpc>
                <a:spcPct val="90000"/>
              </a:lnSpc>
              <a:spcAft>
                <a:spcPts val="220"/>
              </a:spcAft>
            </a:pPr>
            <a:r>
              <a:rPr sz="620" b="0" i="0">
                <a:solidFill>
                  <a:srgbClr val="1F2937"/>
                </a:solidFill>
                <a:latin typeface="Calibri"/>
              </a:rPr>
              <a:t>Every cell across every test case stayed physical.</a:t>
            </a:r>
          </a:p>
          <a:p>
            <a:pPr algn="l">
              <a:lnSpc>
                <a:spcPct val="90000"/>
              </a:lnSpc>
              <a:spcAft>
                <a:spcPts val="220"/>
              </a:spcAft>
            </a:pPr>
            <a:r>
              <a:rPr sz="620" b="1" i="0">
                <a:solidFill>
                  <a:srgbClr val="1F2937"/>
                </a:solidFill>
                <a:latin typeface="Calibri"/>
              </a:rPr>
              <a:t>Result: passes on all cases.</a:t>
            </a:r>
          </a:p>
        </p:txBody>
      </p:sp>
      <p:sp>
        <p:nvSpPr>
          <p:cNvPr id="20" name="Rounded Rectangle 19"/>
          <p:cNvSpPr/>
          <p:nvPr/>
        </p:nvSpPr>
        <p:spPr>
          <a:xfrm>
            <a:off x="9272016" y="1536192"/>
            <a:ext cx="2715768" cy="1097280"/>
          </a:xfrm>
          <a:prstGeom prst="roundRect">
            <a:avLst>
              <a:gd name="adj" fmla="val 6000"/>
            </a:avLst>
          </a:prstGeom>
          <a:solidFill>
            <a:srgbClr val="EEF8F4"/>
          </a:solidFill>
          <a:ln w="1524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21" name="TextBox 20"/>
          <p:cNvSpPr txBox="1"/>
          <p:nvPr/>
        </p:nvSpPr>
        <p:spPr>
          <a:xfrm>
            <a:off x="9363456" y="1627632"/>
            <a:ext cx="2532888" cy="274320"/>
          </a:xfrm>
          <a:prstGeom prst="rect">
            <a:avLst/>
          </a:prstGeom>
          <a:noFill/>
        </p:spPr>
        <p:txBody>
          <a:bodyPr wrap="square" anchor="t" lIns="18288" rIns="18288" tIns="0" bIns="0">
            <a:spAutoFit/>
          </a:bodyPr>
          <a:lstStyle/>
          <a:p>
            <a:pPr algn="l">
              <a:lnSpc>
                <a:spcPct val="92000"/>
              </a:lnSpc>
              <a:spcAft>
                <a:spcPts val="100"/>
              </a:spcAft>
            </a:pPr>
            <a:r>
              <a:rPr sz="780" b="1" i="0">
                <a:solidFill>
                  <a:srgbClr val="04704F"/>
                </a:solidFill>
                <a:latin typeface="Calibri"/>
              </a:rPr>
              <a:t>CHECK 4  ·  MATCHES THE KNOWN ANSWER</a:t>
            </a:r>
          </a:p>
        </p:txBody>
      </p:sp>
      <p:sp>
        <p:nvSpPr>
          <p:cNvPr id="22" name="TextBox 21"/>
          <p:cNvSpPr txBox="1"/>
          <p:nvPr/>
        </p:nvSpPr>
        <p:spPr>
          <a:xfrm>
            <a:off x="9390888" y="1938528"/>
            <a:ext cx="2478024" cy="603503"/>
          </a:xfrm>
          <a:prstGeom prst="rect">
            <a:avLst/>
          </a:prstGeom>
          <a:noFill/>
        </p:spPr>
        <p:txBody>
          <a:bodyPr wrap="square" anchor="t" lIns="18288" rIns="18288" tIns="0" bIns="0">
            <a:spAutoFit/>
          </a:bodyPr>
          <a:lstStyle/>
          <a:p>
            <a:pPr algn="l">
              <a:lnSpc>
                <a:spcPct val="90000"/>
              </a:lnSpc>
              <a:spcAft>
                <a:spcPts val="220"/>
              </a:spcAft>
            </a:pPr>
            <a:r>
              <a:rPr sz="620" b="0" i="0">
                <a:solidFill>
                  <a:srgbClr val="1F2937"/>
                </a:solidFill>
                <a:latin typeface="Calibri"/>
              </a:rPr>
              <a:t>A textbook dam-break has an exact answer written in 1892.</a:t>
            </a:r>
          </a:p>
          <a:p>
            <a:pPr algn="l">
              <a:lnSpc>
                <a:spcPct val="90000"/>
              </a:lnSpc>
              <a:spcAft>
                <a:spcPts val="220"/>
              </a:spcAft>
            </a:pPr>
            <a:r>
              <a:rPr sz="620" b="0" i="0">
                <a:solidFill>
                  <a:srgbClr val="1F2937"/>
                </a:solidFill>
                <a:latin typeface="Calibri"/>
              </a:rPr>
              <a:t>Exact depth at the wall: 4.444 metres.</a:t>
            </a:r>
          </a:p>
          <a:p>
            <a:pPr algn="l">
              <a:lnSpc>
                <a:spcPct val="90000"/>
              </a:lnSpc>
              <a:spcAft>
                <a:spcPts val="220"/>
              </a:spcAft>
            </a:pPr>
            <a:r>
              <a:rPr sz="620" b="0" i="0">
                <a:solidFill>
                  <a:srgbClr val="1F2937"/>
                </a:solidFill>
                <a:latin typeface="Calibri"/>
              </a:rPr>
              <a:t>Our answer: 4.532 metres — an error of about 3 centimetres.</a:t>
            </a:r>
          </a:p>
          <a:p>
            <a:pPr algn="l">
              <a:lnSpc>
                <a:spcPct val="90000"/>
              </a:lnSpc>
              <a:spcAft>
                <a:spcPts val="220"/>
              </a:spcAft>
            </a:pPr>
            <a:r>
              <a:rPr sz="620" b="1" i="0">
                <a:solidFill>
                  <a:srgbClr val="1F2937"/>
                </a:solidFill>
                <a:latin typeface="Calibri"/>
              </a:rPr>
              <a:t>Result: passes, well inside tolerance.</a:t>
            </a:r>
          </a:p>
        </p:txBody>
      </p:sp>
      <p:sp>
        <p:nvSpPr>
          <p:cNvPr id="23" name="TextBox 22"/>
          <p:cNvSpPr txBox="1"/>
          <p:nvPr/>
        </p:nvSpPr>
        <p:spPr>
          <a:xfrm>
            <a:off x="201168" y="2798064"/>
            <a:ext cx="7315200" cy="256032"/>
          </a:xfrm>
          <a:prstGeom prst="rect">
            <a:avLst/>
          </a:prstGeom>
          <a:noFill/>
        </p:spPr>
        <p:txBody>
          <a:bodyPr wrap="square" anchor="t" lIns="18288" rIns="18288" tIns="0" bIns="0">
            <a:spAutoFit/>
          </a:bodyPr>
          <a:lstStyle/>
          <a:p>
            <a:pPr algn="l">
              <a:lnSpc>
                <a:spcPct val="92000"/>
              </a:lnSpc>
              <a:spcAft>
                <a:spcPts val="100"/>
              </a:spcAft>
            </a:pPr>
            <a:r>
              <a:rPr sz="1100" b="1" i="0">
                <a:solidFill>
                  <a:srgbClr val="632EBE"/>
                </a:solidFill>
                <a:latin typeface="Calibri"/>
              </a:rPr>
              <a:t>And then checked against an engine we did not write</a:t>
            </a:r>
          </a:p>
        </p:txBody>
      </p:sp>
      <p:sp>
        <p:nvSpPr>
          <p:cNvPr id="24" name="Rounded Rectangle 23"/>
          <p:cNvSpPr/>
          <p:nvPr/>
        </p:nvSpPr>
        <p:spPr>
          <a:xfrm>
            <a:off x="201168" y="3127248"/>
            <a:ext cx="4224528" cy="1810512"/>
          </a:xfrm>
          <a:prstGeom prst="roundRect">
            <a:avLst>
              <a:gd name="adj" fmla="val 6000"/>
            </a:avLst>
          </a:prstGeom>
          <a:solidFill>
            <a:srgbClr val="F6F1FE"/>
          </a:solidFill>
          <a:ln w="1524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25" name="TextBox 24"/>
          <p:cNvSpPr txBox="1"/>
          <p:nvPr/>
        </p:nvSpPr>
        <p:spPr>
          <a:xfrm>
            <a:off x="292608" y="3218688"/>
            <a:ext cx="4041648" cy="274320"/>
          </a:xfrm>
          <a:prstGeom prst="rect">
            <a:avLst/>
          </a:prstGeom>
          <a:noFill/>
        </p:spPr>
        <p:txBody>
          <a:bodyPr wrap="square" anchor="t" lIns="18288" rIns="18288" tIns="0" bIns="0">
            <a:spAutoFit/>
          </a:bodyPr>
          <a:lstStyle/>
          <a:p>
            <a:pPr algn="l">
              <a:lnSpc>
                <a:spcPct val="92000"/>
              </a:lnSpc>
              <a:spcAft>
                <a:spcPts val="100"/>
              </a:spcAft>
            </a:pPr>
            <a:r>
              <a:rPr sz="880" b="1" i="0">
                <a:solidFill>
                  <a:srgbClr val="5D2CB2"/>
                </a:solidFill>
                <a:latin typeface="Calibri"/>
              </a:rPr>
              <a:t>What was actually done</a:t>
            </a:r>
          </a:p>
        </p:txBody>
      </p:sp>
      <p:sp>
        <p:nvSpPr>
          <p:cNvPr id="26" name="TextBox 25"/>
          <p:cNvSpPr txBox="1"/>
          <p:nvPr/>
        </p:nvSpPr>
        <p:spPr>
          <a:xfrm>
            <a:off x="320040" y="3529584"/>
            <a:ext cx="3986784" cy="1316736"/>
          </a:xfrm>
          <a:prstGeom prst="rect">
            <a:avLst/>
          </a:prstGeom>
          <a:noFill/>
        </p:spPr>
        <p:txBody>
          <a:bodyPr wrap="square" anchor="t" lIns="18288" rIns="18288" tIns="0" bIns="0">
            <a:spAutoFit/>
          </a:bodyPr>
          <a:lstStyle/>
          <a:p>
            <a:pPr algn="l">
              <a:lnSpc>
                <a:spcPct val="90000"/>
              </a:lnSpc>
              <a:spcAft>
                <a:spcPts val="220"/>
              </a:spcAft>
            </a:pPr>
            <a:r>
              <a:rPr sz="640" b="0" i="0">
                <a:solidFill>
                  <a:srgbClr val="1F2937"/>
                </a:solidFill>
                <a:latin typeface="Calibri"/>
              </a:rPr>
              <a:t>▪ The same textbook case was run twice — once through our engine, once through Delft3D FM.</a:t>
            </a:r>
          </a:p>
          <a:p>
            <a:pPr algn="l">
              <a:lnSpc>
                <a:spcPct val="90000"/>
              </a:lnSpc>
              <a:spcAft>
                <a:spcPts val="220"/>
              </a:spcAft>
            </a:pPr>
            <a:r>
              <a:rPr sz="640" b="0" i="0">
                <a:solidFill>
                  <a:srgbClr val="1F2937"/>
                </a:solidFill>
                <a:latin typeface="Calibri"/>
              </a:rPr>
              <a:t>▪ Delft3D FM is made by Deltares, an independent Dutch institute. Governments use it for real flood studies.</a:t>
            </a:r>
          </a:p>
          <a:p>
            <a:pPr algn="l">
              <a:lnSpc>
                <a:spcPct val="90000"/>
              </a:lnSpc>
              <a:spcAft>
                <a:spcPts val="220"/>
              </a:spcAft>
            </a:pPr>
            <a:r>
              <a:rPr sz="640" b="0" i="0">
                <a:solidFill>
                  <a:srgbClr val="1F2937"/>
                </a:solidFill>
                <a:latin typeface="Calibri"/>
              </a:rPr>
              <a:t>▪ It is a genuine Deltares kernel running here, 2026.01 build — not a re-implementation of ours.</a:t>
            </a:r>
          </a:p>
          <a:p>
            <a:pPr algn="l">
              <a:lnSpc>
                <a:spcPct val="90000"/>
              </a:lnSpc>
              <a:spcAft>
                <a:spcPts val="220"/>
              </a:spcAft>
            </a:pPr>
            <a:r>
              <a:rPr sz="640" b="0" i="0">
                <a:solidFill>
                  <a:srgbClr val="1F2937"/>
                </a:solidFill>
                <a:latin typeface="Calibri"/>
              </a:rPr>
              <a:t>▪ Both runs were scored against the exact mathematical answer, over the interior of the domain.</a:t>
            </a:r>
          </a:p>
          <a:p>
            <a:pPr algn="l">
              <a:lnSpc>
                <a:spcPct val="90000"/>
              </a:lnSpc>
              <a:spcAft>
                <a:spcPts val="220"/>
              </a:spcAft>
            </a:pPr>
            <a:r>
              <a:rPr sz="640" b="0" i="0">
                <a:solidFill>
                  <a:srgbClr val="1F2937"/>
                </a:solidFill>
                <a:latin typeface="Calibri"/>
              </a:rPr>
              <a:t>▪ Neither engine was tuned to match the other.</a:t>
            </a:r>
          </a:p>
        </p:txBody>
      </p:sp>
      <p:sp>
        <p:nvSpPr>
          <p:cNvPr id="27" name="Rounded Rectangle 26"/>
          <p:cNvSpPr/>
          <p:nvPr/>
        </p:nvSpPr>
        <p:spPr>
          <a:xfrm rot="21576000">
            <a:off x="201168" y="5047488"/>
            <a:ext cx="4224528" cy="658368"/>
          </a:xfrm>
          <a:prstGeom prst="roundRect">
            <a:avLst>
              <a:gd name="adj" fmla="val 14000"/>
            </a:avLst>
          </a:prstGeom>
          <a:solidFill>
            <a:srgbClr val="F2EBFD"/>
          </a:solidFill>
          <a:ln w="1143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l">
              <a:lnSpc>
                <a:spcPct val="92000"/>
              </a:lnSpc>
              <a:spcAft>
                <a:spcPts val="100"/>
              </a:spcAft>
            </a:pPr>
            <a:r>
              <a:rPr sz="650" b="0" i="1">
                <a:solidFill>
                  <a:srgbClr val="4A238E"/>
                </a:solidFill>
                <a:latin typeface="Calibri"/>
              </a:rPr>
              <a:t>Ten metres of water, a flat frictionless bed, ten-metre cells, forty seconds of flow, and the three outermost cells at each end trimmed before scoring. Anyone can repeat it.</a:t>
            </a:r>
          </a:p>
        </p:txBody>
      </p:sp>
      <p:sp>
        <p:nvSpPr>
          <p:cNvPr id="28" name="TextBox 27"/>
          <p:cNvSpPr txBox="1"/>
          <p:nvPr/>
        </p:nvSpPr>
        <p:spPr>
          <a:xfrm>
            <a:off x="4626864" y="3145536"/>
            <a:ext cx="3657600" cy="237744"/>
          </a:xfrm>
          <a:prstGeom prst="rect">
            <a:avLst/>
          </a:prstGeom>
          <a:noFill/>
        </p:spPr>
        <p:txBody>
          <a:bodyPr wrap="square" anchor="t" lIns="18288" rIns="18288" tIns="0" bIns="0">
            <a:spAutoFit/>
          </a:bodyPr>
          <a:lstStyle/>
          <a:p>
            <a:pPr algn="l">
              <a:lnSpc>
                <a:spcPct val="92000"/>
              </a:lnSpc>
              <a:spcAft>
                <a:spcPts val="100"/>
              </a:spcAft>
            </a:pPr>
            <a:r>
              <a:rPr sz="880" b="1" i="0">
                <a:solidFill>
                  <a:srgbClr val="5D2CB2"/>
                </a:solidFill>
                <a:latin typeface="Calibri"/>
              </a:rPr>
              <a:t>The result</a:t>
            </a:r>
          </a:p>
        </p:txBody>
      </p:sp>
      <p:sp>
        <p:nvSpPr>
          <p:cNvPr id="29" name="Rounded Rectangle 28"/>
          <p:cNvSpPr/>
          <p:nvPr/>
        </p:nvSpPr>
        <p:spPr>
          <a:xfrm>
            <a:off x="4626864" y="3456432"/>
            <a:ext cx="2514600" cy="329184"/>
          </a:xfrm>
          <a:prstGeom prst="roundRect">
            <a:avLst>
              <a:gd name="adj" fmla="val 5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660" b="1" i="0">
                <a:solidFill>
                  <a:srgbClr val="FFFFFF"/>
                </a:solidFill>
                <a:latin typeface="Calibri"/>
              </a:rPr>
              <a:t>Engine</a:t>
            </a:r>
          </a:p>
        </p:txBody>
      </p:sp>
      <p:sp>
        <p:nvSpPr>
          <p:cNvPr id="30" name="Rounded Rectangle 29"/>
          <p:cNvSpPr/>
          <p:nvPr/>
        </p:nvSpPr>
        <p:spPr>
          <a:xfrm>
            <a:off x="7178040" y="3456432"/>
            <a:ext cx="1691640" cy="329184"/>
          </a:xfrm>
          <a:prstGeom prst="roundRect">
            <a:avLst>
              <a:gd name="adj" fmla="val 5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660" b="1" i="0">
                <a:solidFill>
                  <a:srgbClr val="FFFFFF"/>
                </a:solidFill>
                <a:latin typeface="Calibri"/>
              </a:rPr>
              <a:t>Error against
the exact answer</a:t>
            </a:r>
          </a:p>
        </p:txBody>
      </p:sp>
      <p:sp>
        <p:nvSpPr>
          <p:cNvPr id="31" name="Rounded Rectangle 30"/>
          <p:cNvSpPr/>
          <p:nvPr/>
        </p:nvSpPr>
        <p:spPr>
          <a:xfrm>
            <a:off x="8906256" y="3456432"/>
            <a:ext cx="1417320" cy="329184"/>
          </a:xfrm>
          <a:prstGeom prst="roundRect">
            <a:avLst>
              <a:gd name="adj" fmla="val 5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660" b="1" i="0">
                <a:solidFill>
                  <a:srgbClr val="FFFFFF"/>
                </a:solidFill>
                <a:latin typeface="Calibri"/>
              </a:rPr>
              <a:t>Depth at
the wall</a:t>
            </a:r>
          </a:p>
        </p:txBody>
      </p:sp>
      <p:sp>
        <p:nvSpPr>
          <p:cNvPr id="32" name="Rounded Rectangle 31"/>
          <p:cNvSpPr/>
          <p:nvPr/>
        </p:nvSpPr>
        <p:spPr>
          <a:xfrm>
            <a:off x="10360152" y="3456432"/>
            <a:ext cx="1627632" cy="329184"/>
          </a:xfrm>
          <a:prstGeom prst="roundRect">
            <a:avLst>
              <a:gd name="adj" fmla="val 5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660" b="1" i="0">
                <a:solidFill>
                  <a:srgbClr val="FFFFFF"/>
                </a:solidFill>
                <a:latin typeface="Calibri"/>
              </a:rPr>
              <a:t>Verdict</a:t>
            </a:r>
          </a:p>
        </p:txBody>
      </p:sp>
      <p:sp>
        <p:nvSpPr>
          <p:cNvPr id="33" name="Rounded Rectangle 32"/>
          <p:cNvSpPr/>
          <p:nvPr/>
        </p:nvSpPr>
        <p:spPr>
          <a:xfrm>
            <a:off x="4626864" y="3817620"/>
            <a:ext cx="2514600" cy="329184"/>
          </a:xfrm>
          <a:prstGeom prst="roundRect">
            <a:avLst>
              <a:gd name="adj" fmla="val 5000"/>
            </a:avLst>
          </a:prstGeom>
          <a:solidFill>
            <a:srgbClr val="EDE3FC"/>
          </a:solidFill>
          <a:ln w="762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1" i="0">
                <a:solidFill>
                  <a:srgbClr val="1F2937"/>
                </a:solidFill>
                <a:latin typeface="Calibri"/>
              </a:rPr>
              <a:t>FloodView</a:t>
            </a:r>
          </a:p>
        </p:txBody>
      </p:sp>
      <p:sp>
        <p:nvSpPr>
          <p:cNvPr id="34" name="Rounded Rectangle 33"/>
          <p:cNvSpPr/>
          <p:nvPr/>
        </p:nvSpPr>
        <p:spPr>
          <a:xfrm>
            <a:off x="7178040" y="3817620"/>
            <a:ext cx="1691640" cy="329184"/>
          </a:xfrm>
          <a:prstGeom prst="roundRect">
            <a:avLst>
              <a:gd name="adj" fmla="val 5000"/>
            </a:avLst>
          </a:prstGeom>
          <a:solidFill>
            <a:srgbClr val="FAF7FE"/>
          </a:solidFill>
          <a:ln w="762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0.0317 m</a:t>
            </a:r>
          </a:p>
        </p:txBody>
      </p:sp>
      <p:sp>
        <p:nvSpPr>
          <p:cNvPr id="35" name="Rounded Rectangle 34"/>
          <p:cNvSpPr/>
          <p:nvPr/>
        </p:nvSpPr>
        <p:spPr>
          <a:xfrm>
            <a:off x="8906256" y="3817620"/>
            <a:ext cx="1417320" cy="329184"/>
          </a:xfrm>
          <a:prstGeom prst="roundRect">
            <a:avLst>
              <a:gd name="adj" fmla="val 5000"/>
            </a:avLst>
          </a:prstGeom>
          <a:solidFill>
            <a:srgbClr val="FAF7FE"/>
          </a:solidFill>
          <a:ln w="762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4.532 m</a:t>
            </a:r>
          </a:p>
        </p:txBody>
      </p:sp>
      <p:sp>
        <p:nvSpPr>
          <p:cNvPr id="36" name="Rounded Rectangle 35"/>
          <p:cNvSpPr/>
          <p:nvPr/>
        </p:nvSpPr>
        <p:spPr>
          <a:xfrm>
            <a:off x="10360152" y="3817620"/>
            <a:ext cx="1627632" cy="329184"/>
          </a:xfrm>
          <a:prstGeom prst="roundRect">
            <a:avLst>
              <a:gd name="adj" fmla="val 5000"/>
            </a:avLst>
          </a:prstGeom>
          <a:solidFill>
            <a:srgbClr val="FAF7FE"/>
          </a:solidFill>
          <a:ln w="762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passes</a:t>
            </a:r>
          </a:p>
        </p:txBody>
      </p:sp>
      <p:sp>
        <p:nvSpPr>
          <p:cNvPr id="37" name="Rounded Rectangle 36"/>
          <p:cNvSpPr/>
          <p:nvPr/>
        </p:nvSpPr>
        <p:spPr>
          <a:xfrm>
            <a:off x="4626864" y="4178808"/>
            <a:ext cx="2514600" cy="329184"/>
          </a:xfrm>
          <a:prstGeom prst="roundRect">
            <a:avLst>
              <a:gd name="adj" fmla="val 5000"/>
            </a:avLst>
          </a:prstGeom>
          <a:solidFill>
            <a:srgbClr val="EDE3FC"/>
          </a:solidFill>
          <a:ln w="762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1" i="0">
                <a:solidFill>
                  <a:srgbClr val="1F2937"/>
                </a:solidFill>
                <a:latin typeface="Calibri"/>
              </a:rPr>
              <a:t>Delft3D FM (Deltares)</a:t>
            </a:r>
          </a:p>
        </p:txBody>
      </p:sp>
      <p:sp>
        <p:nvSpPr>
          <p:cNvPr id="38" name="Rounded Rectangle 37"/>
          <p:cNvSpPr/>
          <p:nvPr/>
        </p:nvSpPr>
        <p:spPr>
          <a:xfrm>
            <a:off x="7178040" y="4178808"/>
            <a:ext cx="1691640" cy="329184"/>
          </a:xfrm>
          <a:prstGeom prst="roundRect">
            <a:avLst>
              <a:gd name="adj" fmla="val 5000"/>
            </a:avLst>
          </a:prstGeom>
          <a:solidFill>
            <a:srgbClr val="F2EBFD"/>
          </a:solidFill>
          <a:ln w="762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0.0349 m</a:t>
            </a:r>
          </a:p>
        </p:txBody>
      </p:sp>
      <p:sp>
        <p:nvSpPr>
          <p:cNvPr id="39" name="Rounded Rectangle 38"/>
          <p:cNvSpPr/>
          <p:nvPr/>
        </p:nvSpPr>
        <p:spPr>
          <a:xfrm>
            <a:off x="8906256" y="4178808"/>
            <a:ext cx="1417320" cy="329184"/>
          </a:xfrm>
          <a:prstGeom prst="roundRect">
            <a:avLst>
              <a:gd name="adj" fmla="val 5000"/>
            </a:avLst>
          </a:prstGeom>
          <a:solidFill>
            <a:srgbClr val="F2EBFD"/>
          </a:solidFill>
          <a:ln w="762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4.515 m</a:t>
            </a:r>
          </a:p>
        </p:txBody>
      </p:sp>
      <p:sp>
        <p:nvSpPr>
          <p:cNvPr id="40" name="Rounded Rectangle 39"/>
          <p:cNvSpPr/>
          <p:nvPr/>
        </p:nvSpPr>
        <p:spPr>
          <a:xfrm>
            <a:off x="10360152" y="4178808"/>
            <a:ext cx="1627632" cy="329184"/>
          </a:xfrm>
          <a:prstGeom prst="roundRect">
            <a:avLst>
              <a:gd name="adj" fmla="val 5000"/>
            </a:avLst>
          </a:prstGeom>
          <a:solidFill>
            <a:srgbClr val="F2EBFD"/>
          </a:solidFill>
          <a:ln w="762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passes</a:t>
            </a:r>
          </a:p>
        </p:txBody>
      </p:sp>
      <p:sp>
        <p:nvSpPr>
          <p:cNvPr id="41" name="Rounded Rectangle 40"/>
          <p:cNvSpPr/>
          <p:nvPr/>
        </p:nvSpPr>
        <p:spPr>
          <a:xfrm>
            <a:off x="4626864" y="4539996"/>
            <a:ext cx="2514600" cy="329184"/>
          </a:xfrm>
          <a:prstGeom prst="roundRect">
            <a:avLst>
              <a:gd name="adj" fmla="val 5000"/>
            </a:avLst>
          </a:prstGeom>
          <a:solidFill>
            <a:srgbClr val="EDE3FC"/>
          </a:solidFill>
          <a:ln w="762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1" i="0">
                <a:solidFill>
                  <a:srgbClr val="1F2937"/>
                </a:solidFill>
                <a:latin typeface="Calibri"/>
              </a:rPr>
              <a:t>The exact answer (1892)</a:t>
            </a:r>
          </a:p>
        </p:txBody>
      </p:sp>
      <p:sp>
        <p:nvSpPr>
          <p:cNvPr id="42" name="Rounded Rectangle 41"/>
          <p:cNvSpPr/>
          <p:nvPr/>
        </p:nvSpPr>
        <p:spPr>
          <a:xfrm>
            <a:off x="7178040" y="4539996"/>
            <a:ext cx="1691640" cy="329184"/>
          </a:xfrm>
          <a:prstGeom prst="roundRect">
            <a:avLst>
              <a:gd name="adj" fmla="val 5000"/>
            </a:avLst>
          </a:prstGeom>
          <a:solidFill>
            <a:srgbClr val="FAF7FE"/>
          </a:solidFill>
          <a:ln w="762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reference</a:t>
            </a:r>
          </a:p>
        </p:txBody>
      </p:sp>
      <p:sp>
        <p:nvSpPr>
          <p:cNvPr id="43" name="Rounded Rectangle 42"/>
          <p:cNvSpPr/>
          <p:nvPr/>
        </p:nvSpPr>
        <p:spPr>
          <a:xfrm>
            <a:off x="8906256" y="4539996"/>
            <a:ext cx="1417320" cy="329184"/>
          </a:xfrm>
          <a:prstGeom prst="roundRect">
            <a:avLst>
              <a:gd name="adj" fmla="val 5000"/>
            </a:avLst>
          </a:prstGeom>
          <a:solidFill>
            <a:srgbClr val="FAF7FE"/>
          </a:solidFill>
          <a:ln w="762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4.444 m</a:t>
            </a:r>
          </a:p>
        </p:txBody>
      </p:sp>
      <p:sp>
        <p:nvSpPr>
          <p:cNvPr id="44" name="Rounded Rectangle 43"/>
          <p:cNvSpPr/>
          <p:nvPr/>
        </p:nvSpPr>
        <p:spPr>
          <a:xfrm>
            <a:off x="10360152" y="4539996"/>
            <a:ext cx="1627632" cy="329184"/>
          </a:xfrm>
          <a:prstGeom prst="roundRect">
            <a:avLst>
              <a:gd name="adj" fmla="val 5000"/>
            </a:avLst>
          </a:prstGeom>
          <a:solidFill>
            <a:srgbClr val="FAF7FE"/>
          </a:solidFill>
          <a:ln w="762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reference</a:t>
            </a:r>
          </a:p>
        </p:txBody>
      </p:sp>
      <p:sp>
        <p:nvSpPr>
          <p:cNvPr id="45" name="Rounded Rectangle 44"/>
          <p:cNvSpPr/>
          <p:nvPr/>
        </p:nvSpPr>
        <p:spPr>
          <a:xfrm rot="24000">
            <a:off x="4626864" y="4901184"/>
            <a:ext cx="4846320" cy="804672"/>
          </a:xfrm>
          <a:prstGeom prst="roundRect">
            <a:avLst>
              <a:gd name="adj" fmla="val 14000"/>
            </a:avLst>
          </a:prstGeom>
          <a:solidFill>
            <a:srgbClr val="E6F4F0"/>
          </a:solidFill>
          <a:ln w="1143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l">
              <a:lnSpc>
                <a:spcPct val="92000"/>
              </a:lnSpc>
              <a:spcAft>
                <a:spcPts val="100"/>
              </a:spcAft>
            </a:pPr>
            <a:r>
              <a:rPr sz="660" b="0" i="1">
                <a:solidFill>
                  <a:srgbClr val="035A3F"/>
                </a:solidFill>
                <a:latin typeface="Calibri"/>
              </a:rPr>
              <a:t>The two engines agree with each other to 0.0294 metres. Ten metres of water standing behind the wall, forty seconds of flow, and the whole disagreement between them is under three centimetres.</a:t>
            </a:r>
          </a:p>
        </p:txBody>
      </p:sp>
      <p:sp>
        <p:nvSpPr>
          <p:cNvPr id="46" name="Oval 45"/>
          <p:cNvSpPr/>
          <p:nvPr/>
        </p:nvSpPr>
        <p:spPr>
          <a:xfrm rot="21300000">
            <a:off x="9710928" y="4864608"/>
            <a:ext cx="2276856" cy="877824"/>
          </a:xfrm>
          <a:prstGeom prst="ellipse">
            <a:avLst/>
          </a:prstGeom>
          <a:solidFill>
            <a:srgbClr val="DCF0EA"/>
          </a:solidFill>
          <a:ln w="254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8000"/>
              </a:lnSpc>
              <a:spcAft>
                <a:spcPts val="100"/>
              </a:spcAft>
            </a:pPr>
            <a:r>
              <a:rPr sz="1000" b="1" i="0">
                <a:solidFill>
                  <a:srgbClr val="04694A"/>
                </a:solidFill>
                <a:latin typeface="Calibri"/>
              </a:rPr>
              <a:t>4 / 4 GATES PASSED</a:t>
            </a:r>
          </a:p>
          <a:p>
            <a:pPr algn="ctr">
              <a:lnSpc>
                <a:spcPct val="90000"/>
              </a:lnSpc>
              <a:spcAft>
                <a:spcPts val="100"/>
              </a:spcAft>
            </a:pPr>
            <a:r>
              <a:rPr sz="640" b="0" i="1">
                <a:solidFill>
                  <a:srgbClr val="047854"/>
                </a:solidFill>
                <a:latin typeface="Calibri"/>
              </a:rPr>
              <a:t>and within 3 cm of Delft3D FM</a:t>
            </a:r>
          </a:p>
        </p:txBody>
      </p:sp>
      <p:sp>
        <p:nvSpPr>
          <p:cNvPr id="47" name="Rounded Rectangle 46"/>
          <p:cNvSpPr/>
          <p:nvPr/>
        </p:nvSpPr>
        <p:spPr>
          <a:xfrm>
            <a:off x="201168" y="5888736"/>
            <a:ext cx="11786616" cy="512064"/>
          </a:xfrm>
          <a:prstGeom prst="roundRect">
            <a:avLst>
              <a:gd name="adj" fmla="val 6000"/>
            </a:avLst>
          </a:prstGeom>
          <a:solidFill>
            <a:srgbClr val="FBF1E6"/>
          </a:solidFill>
          <a:ln w="1778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96000"/>
              </a:lnSpc>
              <a:spcAft>
                <a:spcPts val="100"/>
              </a:spcAft>
            </a:pPr>
            <a:r>
              <a:rPr sz="840" b="1" i="0">
                <a:solidFill>
                  <a:srgbClr val="1F2937"/>
                </a:solidFill>
                <a:latin typeface="Calibri"/>
              </a:rPr>
              <a:t>In plain words:</a:t>
            </a:r>
            <a:r>
              <a:rPr sz="840" b="0" i="0">
                <a:solidFill>
                  <a:srgbClr val="1F2937"/>
                </a:solidFill>
                <a:latin typeface="Calibri"/>
              </a:rPr>
              <a:t> the flood predictions here are as accurate as the software governments already trust, and we can show the working. What we do not claim is equally clear — at 30-metre terrain detail, trust the arrival times and the flood boundary; treat any single depth reading as indicative.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01168" y="128016"/>
            <a:ext cx="1188720" cy="310896"/>
          </a:xfrm>
          <a:prstGeom prst="roundRect">
            <a:avLst>
              <a:gd name="adj" fmla="val 40000"/>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2860" bIns="22860"/>
          <a:lstStyle/>
          <a:p>
            <a:pPr algn="ctr">
              <a:lnSpc>
                <a:spcPct val="92000"/>
              </a:lnSpc>
              <a:spcAft>
                <a:spcPts val="100"/>
              </a:spcAft>
            </a:pPr>
            <a:r>
              <a:rPr sz="1100" b="1" i="0">
                <a:solidFill>
                  <a:srgbClr val="FFFFFF"/>
                </a:solidFill>
                <a:latin typeface="Calibri"/>
              </a:rPr>
              <a:t>FloodView</a:t>
            </a:r>
          </a:p>
        </p:txBody>
      </p:sp>
      <p:sp>
        <p:nvSpPr>
          <p:cNvPr id="3" name="TextBox 2"/>
          <p:cNvSpPr txBox="1"/>
          <p:nvPr/>
        </p:nvSpPr>
        <p:spPr>
          <a:xfrm>
            <a:off x="201168" y="457200"/>
            <a:ext cx="1463040" cy="182880"/>
          </a:xfrm>
          <a:prstGeom prst="rect">
            <a:avLst/>
          </a:prstGeom>
          <a:noFill/>
        </p:spPr>
        <p:txBody>
          <a:bodyPr wrap="square" anchor="t" lIns="18288" rIns="18288" tIns="0" bIns="0">
            <a:spAutoFit/>
          </a:bodyPr>
          <a:lstStyle/>
          <a:p>
            <a:pPr algn="l">
              <a:lnSpc>
                <a:spcPct val="92000"/>
              </a:lnSpc>
              <a:spcAft>
                <a:spcPts val="100"/>
              </a:spcAft>
            </a:pPr>
            <a:r>
              <a:rPr sz="620" b="0" i="0">
                <a:solidFill>
                  <a:srgbClr val="6B7280"/>
                </a:solidFill>
                <a:latin typeface="Calibri"/>
              </a:rPr>
              <a:t>PS 26161 · NTRO</a:t>
            </a:r>
          </a:p>
        </p:txBody>
      </p:sp>
      <p:sp>
        <p:nvSpPr>
          <p:cNvPr id="4" name="TextBox 3"/>
          <p:cNvSpPr txBox="1"/>
          <p:nvPr/>
        </p:nvSpPr>
        <p:spPr>
          <a:xfrm>
            <a:off x="1554480" y="91440"/>
            <a:ext cx="8732520" cy="384048"/>
          </a:xfrm>
          <a:prstGeom prst="rect">
            <a:avLst/>
          </a:prstGeom>
          <a:noFill/>
        </p:spPr>
        <p:txBody>
          <a:bodyPr wrap="square" anchor="ctr" lIns="18288" rIns="18288" tIns="0" bIns="0">
            <a:spAutoFit/>
          </a:bodyPr>
          <a:lstStyle/>
          <a:p>
            <a:pPr algn="ctr">
              <a:lnSpc>
                <a:spcPct val="92000"/>
              </a:lnSpc>
              <a:spcAft>
                <a:spcPts val="100"/>
              </a:spcAft>
            </a:pPr>
            <a:r>
              <a:rPr sz="2300" b="1" i="0">
                <a:solidFill>
                  <a:srgbClr val="1F2937"/>
                </a:solidFill>
                <a:latin typeface="Calibri"/>
              </a:rPr>
              <a:t>HOW IT RUNS, WHAT IS NEW, WHAT COMES NEXT</a:t>
            </a:r>
          </a:p>
        </p:txBody>
      </p:sp>
      <p:sp>
        <p:nvSpPr>
          <p:cNvPr id="5" name="TextBox 4"/>
          <p:cNvSpPr txBox="1"/>
          <p:nvPr/>
        </p:nvSpPr>
        <p:spPr>
          <a:xfrm>
            <a:off x="1554480" y="475488"/>
            <a:ext cx="8732520" cy="201168"/>
          </a:xfrm>
          <a:prstGeom prst="rect">
            <a:avLst/>
          </a:prstGeom>
          <a:noFill/>
        </p:spPr>
        <p:txBody>
          <a:bodyPr wrap="square" anchor="t" lIns="18288" rIns="18288" tIns="0" bIns="0">
            <a:spAutoFit/>
          </a:bodyPr>
          <a:lstStyle/>
          <a:p>
            <a:pPr algn="ctr">
              <a:lnSpc>
                <a:spcPct val="92000"/>
              </a:lnSpc>
              <a:spcAft>
                <a:spcPts val="100"/>
              </a:spcAft>
            </a:pPr>
            <a:r>
              <a:rPr sz="819" b="0" i="1">
                <a:solidFill>
                  <a:srgbClr val="6B7280"/>
                </a:solidFill>
                <a:latin typeface="Calibri"/>
              </a:rPr>
              <a:t>Packaged to run on one laptop or one server, with no network and no licence.</a:t>
            </a:r>
          </a:p>
        </p:txBody>
      </p:sp>
      <p:sp>
        <p:nvSpPr>
          <p:cNvPr id="6" name="TextBox 5"/>
          <p:cNvSpPr txBox="1"/>
          <p:nvPr/>
        </p:nvSpPr>
        <p:spPr>
          <a:xfrm>
            <a:off x="10378440" y="128016"/>
            <a:ext cx="1609344" cy="402336"/>
          </a:xfrm>
          <a:prstGeom prst="rect">
            <a:avLst/>
          </a:prstGeom>
          <a:noFill/>
        </p:spPr>
        <p:txBody>
          <a:bodyPr wrap="square" anchor="t" lIns="18288" rIns="18288" tIns="0" bIns="0">
            <a:spAutoFit/>
          </a:bodyPr>
          <a:lstStyle/>
          <a:p>
            <a:pPr algn="r">
              <a:lnSpc>
                <a:spcPct val="92000"/>
              </a:lnSpc>
              <a:spcAft>
                <a:spcPts val="0"/>
              </a:spcAft>
            </a:pPr>
            <a:r>
              <a:rPr sz="800" b="1" i="0">
                <a:solidFill>
                  <a:srgbClr val="0070C0"/>
                </a:solidFill>
                <a:latin typeface="Calibri"/>
              </a:rPr>
              <a:t>SMART INDIA</a:t>
            </a:r>
          </a:p>
          <a:p>
            <a:pPr algn="r">
              <a:lnSpc>
                <a:spcPct val="92000"/>
              </a:lnSpc>
              <a:spcAft>
                <a:spcPts val="0"/>
              </a:spcAft>
            </a:pPr>
            <a:r>
              <a:rPr sz="800" b="1" i="0">
                <a:solidFill>
                  <a:srgbClr val="0070C0"/>
                </a:solidFill>
                <a:latin typeface="Calibri"/>
              </a:rPr>
              <a:t>HACKATHON 2026</a:t>
            </a:r>
          </a:p>
        </p:txBody>
      </p:sp>
      <p:sp>
        <p:nvSpPr>
          <p:cNvPr id="7" name="Rectangle 6"/>
          <p:cNvSpPr/>
          <p:nvPr/>
        </p:nvSpPr>
        <p:spPr>
          <a:xfrm>
            <a:off x="0" y="6547104"/>
            <a:ext cx="12191695" cy="310896"/>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8" name="TextBox 7"/>
          <p:cNvSpPr txBox="1"/>
          <p:nvPr/>
        </p:nvSpPr>
        <p:spPr>
          <a:xfrm>
            <a:off x="256032" y="6601968"/>
            <a:ext cx="10607040" cy="201168"/>
          </a:xfrm>
          <a:prstGeom prst="rect">
            <a:avLst/>
          </a:prstGeom>
          <a:noFill/>
        </p:spPr>
        <p:txBody>
          <a:bodyPr wrap="square" anchor="t" lIns="18288" rIns="18288" tIns="0" bIns="0">
            <a:spAutoFit/>
          </a:bodyPr>
          <a:lstStyle/>
          <a:p>
            <a:pPr algn="l">
              <a:lnSpc>
                <a:spcPct val="92000"/>
              </a:lnSpc>
              <a:spcAft>
                <a:spcPts val="100"/>
              </a:spcAft>
            </a:pPr>
            <a:r>
              <a:rPr sz="800" b="1" i="0">
                <a:solidFill>
                  <a:srgbClr val="FFFFFF"/>
                </a:solidFill>
                <a:latin typeface="Calibri"/>
              </a:rPr>
              <a:t>Everything on the left of this slide already works. The right-hand column is what we build after the hackathon.</a:t>
            </a:r>
          </a:p>
        </p:txBody>
      </p:sp>
      <p:sp>
        <p:nvSpPr>
          <p:cNvPr id="9" name="TextBox 8"/>
          <p:cNvSpPr txBox="1"/>
          <p:nvPr/>
        </p:nvSpPr>
        <p:spPr>
          <a:xfrm>
            <a:off x="11521440" y="6601968"/>
            <a:ext cx="457200" cy="201168"/>
          </a:xfrm>
          <a:prstGeom prst="rect">
            <a:avLst/>
          </a:prstGeom>
          <a:noFill/>
        </p:spPr>
        <p:txBody>
          <a:bodyPr wrap="square" anchor="t" lIns="18288" rIns="18288" tIns="0" bIns="0">
            <a:spAutoFit/>
          </a:bodyPr>
          <a:lstStyle/>
          <a:p>
            <a:pPr algn="r">
              <a:lnSpc>
                <a:spcPct val="92000"/>
              </a:lnSpc>
              <a:spcAft>
                <a:spcPts val="100"/>
              </a:spcAft>
            </a:pPr>
            <a:r>
              <a:rPr sz="850" b="1" i="0">
                <a:solidFill>
                  <a:srgbClr val="FFFFFF"/>
                </a:solidFill>
                <a:latin typeface="Calibri"/>
              </a:rPr>
              <a:t>10</a:t>
            </a:r>
          </a:p>
        </p:txBody>
      </p:sp>
      <p:sp>
        <p:nvSpPr>
          <p:cNvPr id="10" name="TextBox 9"/>
          <p:cNvSpPr txBox="1"/>
          <p:nvPr/>
        </p:nvSpPr>
        <p:spPr>
          <a:xfrm>
            <a:off x="201168" y="859536"/>
            <a:ext cx="3291840" cy="237744"/>
          </a:xfrm>
          <a:prstGeom prst="rect">
            <a:avLst/>
          </a:prstGeom>
          <a:noFill/>
        </p:spPr>
        <p:txBody>
          <a:bodyPr wrap="square" anchor="t" lIns="18288" rIns="18288" tIns="0" bIns="0">
            <a:spAutoFit/>
          </a:bodyPr>
          <a:lstStyle/>
          <a:p>
            <a:pPr algn="l">
              <a:lnSpc>
                <a:spcPct val="92000"/>
              </a:lnSpc>
              <a:spcAft>
                <a:spcPts val="100"/>
              </a:spcAft>
            </a:pPr>
            <a:r>
              <a:rPr sz="1100" b="1" i="0">
                <a:solidFill>
                  <a:srgbClr val="1F2937"/>
                </a:solidFill>
                <a:latin typeface="Calibri"/>
              </a:rPr>
              <a:t>How it runs</a:t>
            </a:r>
          </a:p>
        </p:txBody>
      </p:sp>
      <p:sp>
        <p:nvSpPr>
          <p:cNvPr id="11" name="Rounded Rectangle 10"/>
          <p:cNvSpPr/>
          <p:nvPr/>
        </p:nvSpPr>
        <p:spPr>
          <a:xfrm>
            <a:off x="201168" y="1152144"/>
            <a:ext cx="3291840" cy="804672"/>
          </a:xfrm>
          <a:prstGeom prst="roundRect">
            <a:avLst>
              <a:gd name="adj" fmla="val 8000"/>
            </a:avLst>
          </a:prstGeom>
          <a:solidFill>
            <a:srgbClr val="E6F3F9"/>
          </a:solidFill>
          <a:ln w="1397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l">
              <a:lnSpc>
                <a:spcPct val="88000"/>
              </a:lnSpc>
              <a:spcAft>
                <a:spcPts val="120"/>
              </a:spcAft>
            </a:pPr>
            <a:r>
              <a:rPr sz="840" b="1" i="0">
                <a:solidFill>
                  <a:srgbClr val="015681"/>
                </a:solidFill>
                <a:latin typeface="Calibri"/>
              </a:rPr>
              <a:t>A Browser</a:t>
            </a:r>
          </a:p>
          <a:p>
            <a:pPr algn="l">
              <a:lnSpc>
                <a:spcPct val="92000"/>
              </a:lnSpc>
              <a:spcAft>
                <a:spcPts val="100"/>
              </a:spcAft>
            </a:pPr>
            <a:r>
              <a:rPr sz="620" b="0" i="0">
                <a:solidFill>
                  <a:srgbClr val="6B7280"/>
                </a:solidFill>
                <a:latin typeface="Calibri"/>
              </a:rPr>
              <a:t>Chrome, Firefox or Edge. Nothing to install,
nothing to configure.</a:t>
            </a:r>
          </a:p>
        </p:txBody>
      </p:sp>
      <p:sp>
        <p:nvSpPr>
          <p:cNvPr id="12" name="Rounded Rectangle 11"/>
          <p:cNvSpPr/>
          <p:nvPr/>
        </p:nvSpPr>
        <p:spPr>
          <a:xfrm>
            <a:off x="201168" y="2084831"/>
            <a:ext cx="3291840" cy="804672"/>
          </a:xfrm>
          <a:prstGeom prst="roundRect">
            <a:avLst>
              <a:gd name="adj" fmla="val 8000"/>
            </a:avLst>
          </a:prstGeom>
          <a:solidFill>
            <a:srgbClr val="E7F4F3"/>
          </a:solidFill>
          <a:ln w="1397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l">
              <a:lnSpc>
                <a:spcPct val="88000"/>
              </a:lnSpc>
              <a:spcAft>
                <a:spcPts val="120"/>
              </a:spcAft>
            </a:pPr>
            <a:r>
              <a:rPr sz="840" b="1" i="0">
                <a:solidFill>
                  <a:srgbClr val="086058"/>
                </a:solidFill>
                <a:latin typeface="Calibri"/>
              </a:rPr>
              <a:t>The Web Service</a:t>
            </a:r>
          </a:p>
          <a:p>
            <a:pPr algn="l">
              <a:lnSpc>
                <a:spcPct val="92000"/>
              </a:lnSpc>
              <a:spcAft>
                <a:spcPts val="100"/>
              </a:spcAft>
            </a:pPr>
            <a:r>
              <a:rPr sz="620" b="0" i="0">
                <a:solidFill>
                  <a:srgbClr val="6B7280"/>
                </a:solidFill>
                <a:latin typeface="Calibri"/>
              </a:rPr>
              <a:t>Answers in about a fifth of a second, even
while a simulation is running.</a:t>
            </a:r>
          </a:p>
        </p:txBody>
      </p:sp>
      <p:sp>
        <p:nvSpPr>
          <p:cNvPr id="13" name="Rounded Rectangle 12"/>
          <p:cNvSpPr/>
          <p:nvPr/>
        </p:nvSpPr>
        <p:spPr>
          <a:xfrm>
            <a:off x="201168" y="3017520"/>
            <a:ext cx="3291840" cy="804672"/>
          </a:xfrm>
          <a:prstGeom prst="roundRect">
            <a:avLst>
              <a:gd name="adj" fmla="val 8000"/>
            </a:avLst>
          </a:prstGeom>
          <a:solidFill>
            <a:srgbClr val="FDEEE7"/>
          </a:solidFill>
          <a:ln w="1397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l">
              <a:lnSpc>
                <a:spcPct val="88000"/>
              </a:lnSpc>
              <a:spcAft>
                <a:spcPts val="120"/>
              </a:spcAft>
            </a:pPr>
            <a:r>
              <a:rPr sz="840" b="1" i="0">
                <a:solidFill>
                  <a:srgbClr val="983908"/>
                </a:solidFill>
                <a:latin typeface="Calibri"/>
              </a:rPr>
              <a:t>The Simulation Worker</a:t>
            </a:r>
          </a:p>
          <a:p>
            <a:pPr algn="l">
              <a:lnSpc>
                <a:spcPct val="92000"/>
              </a:lnSpc>
              <a:spcAft>
                <a:spcPts val="100"/>
              </a:spcAft>
            </a:pPr>
            <a:r>
              <a:rPr sz="620" b="0" i="0">
                <a:solidFill>
                  <a:srgbClr val="6B7280"/>
                </a:solidFill>
                <a:latin typeface="Calibri"/>
              </a:rPr>
              <a:t>A separate process, so a heavy calculation
can never freeze the page.</a:t>
            </a:r>
          </a:p>
        </p:txBody>
      </p:sp>
      <p:sp>
        <p:nvSpPr>
          <p:cNvPr id="14" name="Rounded Rectangle 13"/>
          <p:cNvSpPr/>
          <p:nvPr/>
        </p:nvSpPr>
        <p:spPr>
          <a:xfrm>
            <a:off x="201168" y="3950208"/>
            <a:ext cx="3291840" cy="804672"/>
          </a:xfrm>
          <a:prstGeom prst="roundRect">
            <a:avLst>
              <a:gd name="adj" fmla="val 8000"/>
            </a:avLst>
          </a:prstGeom>
          <a:solidFill>
            <a:srgbClr val="EDEEF0"/>
          </a:solidFill>
          <a:ln w="1397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l">
              <a:lnSpc>
                <a:spcPct val="88000"/>
              </a:lnSpc>
              <a:spcAft>
                <a:spcPts val="120"/>
              </a:spcAft>
            </a:pPr>
            <a:r>
              <a:rPr sz="840" b="1" i="0">
                <a:solidFill>
                  <a:srgbClr val="2E3744"/>
                </a:solidFill>
                <a:latin typeface="Calibri"/>
              </a:rPr>
              <a:t>Local Storage</a:t>
            </a:r>
          </a:p>
          <a:p>
            <a:pPr algn="l">
              <a:lnSpc>
                <a:spcPct val="92000"/>
              </a:lnSpc>
              <a:spcAft>
                <a:spcPts val="100"/>
              </a:spcAft>
            </a:pPr>
            <a:r>
              <a:rPr sz="620" b="0" i="0">
                <a:solidFill>
                  <a:srgbClr val="6B7280"/>
                </a:solidFill>
                <a:latin typeface="Calibri"/>
              </a:rPr>
              <a:t>Results and cached terrain, held on the
machine's own disk.</a:t>
            </a:r>
          </a:p>
        </p:txBody>
      </p:sp>
      <p:sp>
        <p:nvSpPr>
          <p:cNvPr id="15" name="Rounded Rectangle 14"/>
          <p:cNvSpPr/>
          <p:nvPr/>
        </p:nvSpPr>
        <p:spPr>
          <a:xfrm>
            <a:off x="201168" y="4882896"/>
            <a:ext cx="3291840" cy="804672"/>
          </a:xfrm>
          <a:prstGeom prst="roundRect">
            <a:avLst>
              <a:gd name="adj" fmla="val 8000"/>
            </a:avLst>
          </a:prstGeom>
          <a:solidFill>
            <a:srgbClr val="EDECFC"/>
          </a:solidFill>
          <a:ln w="1397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l">
              <a:lnSpc>
                <a:spcPct val="88000"/>
              </a:lnSpc>
              <a:spcAft>
                <a:spcPts val="120"/>
              </a:spcAft>
            </a:pPr>
            <a:r>
              <a:rPr sz="840" b="1" i="0">
                <a:solidFill>
                  <a:srgbClr val="332E95"/>
                </a:solidFill>
                <a:latin typeface="Calibri"/>
              </a:rPr>
              <a:t>One Container</a:t>
            </a:r>
          </a:p>
          <a:p>
            <a:pPr algn="l">
              <a:lnSpc>
                <a:spcPct val="92000"/>
              </a:lnSpc>
              <a:spcAft>
                <a:spcPts val="100"/>
              </a:spcAft>
            </a:pPr>
            <a:r>
              <a:rPr sz="620" b="0" i="0">
                <a:solidFill>
                  <a:srgbClr val="6B7280"/>
                </a:solidFill>
                <a:latin typeface="Calibri"/>
              </a:rPr>
              <a:t>The whole system packaged so it starts
anywhere with a single command.</a:t>
            </a:r>
          </a:p>
        </p:txBody>
      </p:sp>
      <p:cxnSp>
        <p:nvCxnSpPr>
          <p:cNvPr id="16" name="Connector 15"/>
          <p:cNvCxnSpPr/>
          <p:nvPr/>
        </p:nvCxnSpPr>
        <p:spPr>
          <a:xfrm>
            <a:off x="1847088" y="1956816"/>
            <a:ext cx="0" cy="128015"/>
          </a:xfrm>
          <a:prstGeom prst="line">
            <a:avLst/>
          </a:prstGeom>
          <a:ln w="1143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847088" y="2889503"/>
            <a:ext cx="0" cy="128017"/>
          </a:xfrm>
          <a:prstGeom prst="line">
            <a:avLst/>
          </a:prstGeom>
          <a:ln w="1143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847088" y="3822191"/>
            <a:ext cx="0" cy="128017"/>
          </a:xfrm>
          <a:prstGeom prst="line">
            <a:avLst/>
          </a:prstGeom>
          <a:ln w="1143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847088" y="4754880"/>
            <a:ext cx="0" cy="128016"/>
          </a:xfrm>
          <a:prstGeom prst="line">
            <a:avLst/>
          </a:prstGeom>
          <a:ln w="1143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712463" y="859536"/>
            <a:ext cx="4754880" cy="237744"/>
          </a:xfrm>
          <a:prstGeom prst="rect">
            <a:avLst/>
          </a:prstGeom>
          <a:noFill/>
        </p:spPr>
        <p:txBody>
          <a:bodyPr wrap="square" anchor="t" lIns="18288" rIns="18288" tIns="0" bIns="0">
            <a:spAutoFit/>
          </a:bodyPr>
          <a:lstStyle/>
          <a:p>
            <a:pPr algn="l">
              <a:lnSpc>
                <a:spcPct val="92000"/>
              </a:lnSpc>
              <a:spcAft>
                <a:spcPts val="100"/>
              </a:spcAft>
            </a:pPr>
            <a:r>
              <a:rPr sz="1100" b="1" i="0">
                <a:solidFill>
                  <a:srgbClr val="1F2937"/>
                </a:solidFill>
                <a:latin typeface="Calibri"/>
              </a:rPr>
              <a:t>What is genuinely new here</a:t>
            </a:r>
          </a:p>
        </p:txBody>
      </p:sp>
      <p:sp>
        <p:nvSpPr>
          <p:cNvPr id="21" name="Rounded Rectangle 20"/>
          <p:cNvSpPr/>
          <p:nvPr/>
        </p:nvSpPr>
        <p:spPr>
          <a:xfrm>
            <a:off x="3712463" y="1152144"/>
            <a:ext cx="2304288" cy="914400"/>
          </a:xfrm>
          <a:prstGeom prst="roundRect">
            <a:avLst>
              <a:gd name="adj" fmla="val 8000"/>
            </a:avLst>
          </a:prstGeom>
          <a:solidFill>
            <a:srgbClr val="F5EFFE"/>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ctr">
              <a:lnSpc>
                <a:spcPct val="88000"/>
              </a:lnSpc>
              <a:spcAft>
                <a:spcPts val="120"/>
              </a:spcAft>
            </a:pPr>
            <a:r>
              <a:rPr sz="800" b="1" i="0">
                <a:solidFill>
                  <a:srgbClr val="51269A"/>
                </a:solidFill>
                <a:latin typeface="Calibri"/>
              </a:rPr>
              <a:t>Verified, not asserted</a:t>
            </a:r>
          </a:p>
          <a:p>
            <a:pPr algn="ctr">
              <a:lnSpc>
                <a:spcPct val="92000"/>
              </a:lnSpc>
              <a:spcAft>
                <a:spcPts val="100"/>
              </a:spcAft>
            </a:pPr>
            <a:r>
              <a:rPr sz="590" b="0" i="0">
                <a:solidFill>
                  <a:srgbClr val="1F2937"/>
                </a:solidFill>
                <a:latin typeface="Calibri"/>
              </a:rPr>
              <a:t>Cross-checked against a real Deltares kernel
running on this machine — demonstrated, not claimed.</a:t>
            </a:r>
          </a:p>
        </p:txBody>
      </p:sp>
      <p:sp>
        <p:nvSpPr>
          <p:cNvPr id="22" name="Rounded Rectangle 21"/>
          <p:cNvSpPr/>
          <p:nvPr/>
        </p:nvSpPr>
        <p:spPr>
          <a:xfrm>
            <a:off x="6144768" y="1152144"/>
            <a:ext cx="2322576" cy="914400"/>
          </a:xfrm>
          <a:prstGeom prst="roundRect">
            <a:avLst>
              <a:gd name="adj" fmla="val 8000"/>
            </a:avLst>
          </a:prstGeom>
          <a:solidFill>
            <a:srgbClr val="ECF6F5"/>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ctr">
              <a:lnSpc>
                <a:spcPct val="88000"/>
              </a:lnSpc>
              <a:spcAft>
                <a:spcPts val="120"/>
              </a:spcAft>
            </a:pPr>
            <a:r>
              <a:rPr sz="800" b="1" i="0">
                <a:solidFill>
                  <a:srgbClr val="086058"/>
                </a:solidFill>
                <a:latin typeface="Calibri"/>
              </a:rPr>
              <a:t>A range, not a number</a:t>
            </a:r>
          </a:p>
          <a:p>
            <a:pPr algn="ctr">
              <a:lnSpc>
                <a:spcPct val="92000"/>
              </a:lnSpc>
              <a:spcAft>
                <a:spcPts val="100"/>
              </a:spcAft>
            </a:pPr>
            <a:r>
              <a:rPr sz="590" b="0" i="0">
                <a:solidFill>
                  <a:srgbClr val="1F2937"/>
                </a:solidFill>
                <a:latin typeface="Calibri"/>
              </a:rPr>
              <a:t>Thirty variations every run, reported as a
percentile band around the arrival time.</a:t>
            </a:r>
          </a:p>
        </p:txBody>
      </p:sp>
      <p:sp>
        <p:nvSpPr>
          <p:cNvPr id="23" name="Rounded Rectangle 22"/>
          <p:cNvSpPr/>
          <p:nvPr/>
        </p:nvSpPr>
        <p:spPr>
          <a:xfrm>
            <a:off x="3712463" y="2157984"/>
            <a:ext cx="2304288" cy="914400"/>
          </a:xfrm>
          <a:prstGeom prst="roundRect">
            <a:avLst>
              <a:gd name="adj" fmla="val 8000"/>
            </a:avLst>
          </a:prstGeom>
          <a:solidFill>
            <a:srgbClr val="FCEEEE"/>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ctr">
              <a:lnSpc>
                <a:spcPct val="88000"/>
              </a:lnSpc>
              <a:spcAft>
                <a:spcPts val="120"/>
              </a:spcAft>
            </a:pPr>
            <a:r>
              <a:rPr sz="800" b="1" i="0">
                <a:solidFill>
                  <a:srgbClr val="8F1919"/>
                </a:solidFill>
                <a:latin typeface="Calibri"/>
              </a:rPr>
              <a:t>Bad data is refused</a:t>
            </a:r>
          </a:p>
          <a:p>
            <a:pPr algn="ctr">
              <a:lnSpc>
                <a:spcPct val="92000"/>
              </a:lnSpc>
              <a:spcAft>
                <a:spcPts val="100"/>
              </a:spcAft>
            </a:pPr>
            <a:r>
              <a:rPr sz="590" b="0" i="0">
                <a:solidFill>
                  <a:srgbClr val="1F2937"/>
                </a:solidFill>
                <a:latin typeface="Calibri"/>
              </a:rPr>
              <a:t>A radar scene below the quality threshold is
rejected outright. No synthetic stand-in is ever drawn.</a:t>
            </a:r>
          </a:p>
        </p:txBody>
      </p:sp>
      <p:sp>
        <p:nvSpPr>
          <p:cNvPr id="24" name="Rounded Rectangle 23"/>
          <p:cNvSpPr/>
          <p:nvPr/>
        </p:nvSpPr>
        <p:spPr>
          <a:xfrm>
            <a:off x="6144768" y="2157984"/>
            <a:ext cx="2322576" cy="914400"/>
          </a:xfrm>
          <a:prstGeom prst="roundRect">
            <a:avLst>
              <a:gd name="adj" fmla="val 8000"/>
            </a:avLst>
          </a:prstGeom>
          <a:solidFill>
            <a:srgbClr val="EBF5FB"/>
          </a:solidFill>
          <a:ln w="1270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ctr">
              <a:lnSpc>
                <a:spcPct val="88000"/>
              </a:lnSpc>
              <a:spcAft>
                <a:spcPts val="120"/>
              </a:spcAft>
            </a:pPr>
            <a:r>
              <a:rPr sz="800" b="1" i="0">
                <a:solidFill>
                  <a:srgbClr val="015681"/>
                </a:solidFill>
                <a:latin typeface="Calibri"/>
              </a:rPr>
              <a:t>Honest progress</a:t>
            </a:r>
          </a:p>
          <a:p>
            <a:pPr algn="ctr">
              <a:lnSpc>
                <a:spcPct val="92000"/>
              </a:lnSpc>
              <a:spcAft>
                <a:spcPts val="100"/>
              </a:spcAft>
            </a:pPr>
            <a:r>
              <a:rPr sz="590" b="0" i="0">
                <a:solidFill>
                  <a:srgbClr val="1F2937"/>
                </a:solidFill>
                <a:latin typeface="Calibri"/>
              </a:rPr>
              <a:t>The dashboard reports which member of thirty is
solving, rather than a bar that sits still.</a:t>
            </a:r>
          </a:p>
        </p:txBody>
      </p:sp>
      <p:sp>
        <p:nvSpPr>
          <p:cNvPr id="25" name="Rounded Rectangle 24"/>
          <p:cNvSpPr/>
          <p:nvPr/>
        </p:nvSpPr>
        <p:spPr>
          <a:xfrm>
            <a:off x="3712463" y="3163824"/>
            <a:ext cx="2304288" cy="914400"/>
          </a:xfrm>
          <a:prstGeom prst="roundRect">
            <a:avLst>
              <a:gd name="adj" fmla="val 8000"/>
            </a:avLst>
          </a:prstGeom>
          <a:solidFill>
            <a:srgbClr val="FDF2EC"/>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ctr">
              <a:lnSpc>
                <a:spcPct val="88000"/>
              </a:lnSpc>
              <a:spcAft>
                <a:spcPts val="120"/>
              </a:spcAft>
            </a:pPr>
            <a:r>
              <a:rPr sz="800" b="1" i="0">
                <a:solidFill>
                  <a:srgbClr val="983908"/>
                </a:solidFill>
                <a:latin typeface="Calibri"/>
              </a:rPr>
              <a:t>Runs with no network</a:t>
            </a:r>
          </a:p>
          <a:p>
            <a:pPr algn="ctr">
              <a:lnSpc>
                <a:spcPct val="92000"/>
              </a:lnSpc>
              <a:spcAft>
                <a:spcPts val="100"/>
              </a:spcAft>
            </a:pPr>
            <a:r>
              <a:rPr sz="590" b="0" i="0">
                <a:solidFill>
                  <a:srgbClr val="1F2937"/>
                </a:solidFill>
                <a:latin typeface="Calibri"/>
              </a:rPr>
              <a:t>Everything cached after the first fetch, because
demo-day connectivity cannot be assumed.</a:t>
            </a:r>
          </a:p>
        </p:txBody>
      </p:sp>
      <p:sp>
        <p:nvSpPr>
          <p:cNvPr id="26" name="Rounded Rectangle 25"/>
          <p:cNvSpPr/>
          <p:nvPr/>
        </p:nvSpPr>
        <p:spPr>
          <a:xfrm>
            <a:off x="6144768" y="3163824"/>
            <a:ext cx="2322576" cy="914400"/>
          </a:xfrm>
          <a:prstGeom prst="roundRect">
            <a:avLst>
              <a:gd name="adj" fmla="val 8000"/>
            </a:avLst>
          </a:prstGeom>
          <a:solidFill>
            <a:srgbClr val="F5EFFE"/>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ctr">
              <a:lnSpc>
                <a:spcPct val="88000"/>
              </a:lnSpc>
              <a:spcAft>
                <a:spcPts val="120"/>
              </a:spcAft>
            </a:pPr>
            <a:r>
              <a:rPr sz="800" b="1" i="0">
                <a:solidFill>
                  <a:srgbClr val="51269A"/>
                </a:solidFill>
                <a:latin typeface="Calibri"/>
              </a:rPr>
              <a:t>Near-dam 3D detail</a:t>
            </a:r>
          </a:p>
          <a:p>
            <a:pPr algn="ctr">
              <a:lnSpc>
                <a:spcPct val="92000"/>
              </a:lnSpc>
              <a:spcAft>
                <a:spcPts val="100"/>
              </a:spcAft>
            </a:pPr>
            <a:r>
              <a:rPr sz="590" b="0" i="0">
                <a:solidFill>
                  <a:srgbClr val="1F2937"/>
                </a:solidFill>
                <a:latin typeface="Calibri"/>
              </a:rPr>
              <a:t>Particle physics at the wall, handed off in one
direction only — about 600 metres, 15 seconds.</a:t>
            </a:r>
          </a:p>
        </p:txBody>
      </p:sp>
      <p:sp>
        <p:nvSpPr>
          <p:cNvPr id="27" name="Rounded Rectangle 26"/>
          <p:cNvSpPr/>
          <p:nvPr/>
        </p:nvSpPr>
        <p:spPr>
          <a:xfrm>
            <a:off x="3712463" y="4169663"/>
            <a:ext cx="2304288" cy="914400"/>
          </a:xfrm>
          <a:prstGeom prst="roundRect">
            <a:avLst>
              <a:gd name="adj" fmla="val 8000"/>
            </a:avLst>
          </a:prstGeom>
          <a:solidFill>
            <a:srgbClr val="F1F0FD"/>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ctr">
              <a:lnSpc>
                <a:spcPct val="88000"/>
              </a:lnSpc>
              <a:spcAft>
                <a:spcPts val="120"/>
              </a:spcAft>
            </a:pPr>
            <a:r>
              <a:rPr sz="800" b="1" i="0">
                <a:solidFill>
                  <a:srgbClr val="332E95"/>
                </a:solidFill>
                <a:latin typeface="Calibri"/>
              </a:rPr>
              <a:t>Replaceable parts</a:t>
            </a:r>
          </a:p>
          <a:p>
            <a:pPr algn="ctr">
              <a:lnSpc>
                <a:spcPct val="92000"/>
              </a:lnSpc>
              <a:spcAft>
                <a:spcPts val="100"/>
              </a:spcAft>
            </a:pPr>
            <a:r>
              <a:rPr sz="590" b="0" i="0">
                <a:solidFill>
                  <a:srgbClr val="1F2937"/>
                </a:solidFill>
                <a:latin typeface="Calibri"/>
              </a:rPr>
              <a:t>Any component can be swapped without touching
the others, because dependencies run one way.</a:t>
            </a:r>
          </a:p>
        </p:txBody>
      </p:sp>
      <p:sp>
        <p:nvSpPr>
          <p:cNvPr id="28" name="Rounded Rectangle 27"/>
          <p:cNvSpPr/>
          <p:nvPr/>
        </p:nvSpPr>
        <p:spPr>
          <a:xfrm>
            <a:off x="6144768" y="4169663"/>
            <a:ext cx="2322576" cy="914400"/>
          </a:xfrm>
          <a:prstGeom prst="roundRect">
            <a:avLst>
              <a:gd name="adj" fmla="val 8000"/>
            </a:avLst>
          </a:prstGeom>
          <a:solidFill>
            <a:srgbClr val="EBF7F3"/>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ctr">
              <a:lnSpc>
                <a:spcPct val="88000"/>
              </a:lnSpc>
              <a:spcAft>
                <a:spcPts val="120"/>
              </a:spcAft>
            </a:pPr>
            <a:r>
              <a:rPr sz="800" b="1" i="0">
                <a:solidFill>
                  <a:srgbClr val="036244"/>
                </a:solidFill>
                <a:latin typeface="Calibri"/>
              </a:rPr>
              <a:t>Zero licence cost</a:t>
            </a:r>
          </a:p>
          <a:p>
            <a:pPr algn="ctr">
              <a:lnSpc>
                <a:spcPct val="92000"/>
              </a:lnSpc>
              <a:spcAft>
                <a:spcPts val="100"/>
              </a:spcAft>
            </a:pPr>
            <a:r>
              <a:rPr sz="590" b="0" i="0">
                <a:solidFill>
                  <a:srgbClr val="1F2937"/>
                </a:solidFill>
                <a:latin typeface="Calibri"/>
              </a:rPr>
              <a:t>Every component is open-source. There is nothing
to buy before a state can use it.</a:t>
            </a:r>
          </a:p>
        </p:txBody>
      </p:sp>
      <p:sp>
        <p:nvSpPr>
          <p:cNvPr id="29" name="TextBox 28"/>
          <p:cNvSpPr txBox="1"/>
          <p:nvPr/>
        </p:nvSpPr>
        <p:spPr>
          <a:xfrm>
            <a:off x="8705088" y="859536"/>
            <a:ext cx="3291840" cy="237744"/>
          </a:xfrm>
          <a:prstGeom prst="rect">
            <a:avLst/>
          </a:prstGeom>
          <a:noFill/>
        </p:spPr>
        <p:txBody>
          <a:bodyPr wrap="square" anchor="t" lIns="18288" rIns="18288" tIns="0" bIns="0">
            <a:spAutoFit/>
          </a:bodyPr>
          <a:lstStyle/>
          <a:p>
            <a:pPr algn="l">
              <a:lnSpc>
                <a:spcPct val="92000"/>
              </a:lnSpc>
              <a:spcAft>
                <a:spcPts val="100"/>
              </a:spcAft>
            </a:pPr>
            <a:r>
              <a:rPr sz="1100" b="1" i="0">
                <a:solidFill>
                  <a:srgbClr val="1F2937"/>
                </a:solidFill>
                <a:latin typeface="Calibri"/>
              </a:rPr>
              <a:t>Where it goes next</a:t>
            </a:r>
          </a:p>
        </p:txBody>
      </p:sp>
      <p:sp>
        <p:nvSpPr>
          <p:cNvPr id="30" name="Rounded Rectangle 29"/>
          <p:cNvSpPr/>
          <p:nvPr/>
        </p:nvSpPr>
        <p:spPr>
          <a:xfrm>
            <a:off x="8705088" y="1152144"/>
            <a:ext cx="3282696" cy="2011680"/>
          </a:xfrm>
          <a:prstGeom prst="roundRect">
            <a:avLst>
              <a:gd name="adj" fmla="val 6000"/>
            </a:avLst>
          </a:prstGeom>
          <a:solidFill>
            <a:srgbClr val="F0F9F6"/>
          </a:solidFill>
          <a:ln w="1524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31" name="Rounded Rectangle 30"/>
          <p:cNvSpPr/>
          <p:nvPr/>
        </p:nvSpPr>
        <p:spPr>
          <a:xfrm>
            <a:off x="8814816" y="1051560"/>
            <a:ext cx="731520" cy="219456"/>
          </a:xfrm>
          <a:prstGeom prst="roundRect">
            <a:avLst>
              <a:gd name="adj" fmla="val 3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92000"/>
              </a:lnSpc>
              <a:spcAft>
                <a:spcPts val="100"/>
              </a:spcAft>
            </a:pPr>
            <a:r>
              <a:rPr sz="760" b="1" i="0">
                <a:solidFill>
                  <a:srgbClr val="FFFFFF"/>
                </a:solidFill>
                <a:latin typeface="Calibri"/>
              </a:rPr>
              <a:t>DONE</a:t>
            </a:r>
          </a:p>
        </p:txBody>
      </p:sp>
      <p:sp>
        <p:nvSpPr>
          <p:cNvPr id="32" name="TextBox 31"/>
          <p:cNvSpPr txBox="1"/>
          <p:nvPr/>
        </p:nvSpPr>
        <p:spPr>
          <a:xfrm>
            <a:off x="8833104" y="1335024"/>
            <a:ext cx="3035808" cy="1755648"/>
          </a:xfrm>
          <a:prstGeom prst="rect">
            <a:avLst/>
          </a:prstGeom>
          <a:noFill/>
        </p:spPr>
        <p:txBody>
          <a:bodyPr wrap="square" anchor="t" lIns="18288" rIns="18288" tIns="0" bIns="0">
            <a:spAutoFit/>
          </a:bodyPr>
          <a:lstStyle/>
          <a:p>
            <a:pPr algn="l">
              <a:lnSpc>
                <a:spcPct val="92000"/>
              </a:lnSpc>
              <a:spcAft>
                <a:spcPts val="240"/>
              </a:spcAft>
            </a:pPr>
            <a:r>
              <a:rPr sz="650" b="0" i="0">
                <a:solidFill>
                  <a:srgbClr val="1F2937"/>
                </a:solidFill>
                <a:latin typeface="Calibri"/>
              </a:rPr>
              <a:t>–  The flood simulation engine</a:t>
            </a:r>
          </a:p>
          <a:p>
            <a:pPr algn="l">
              <a:lnSpc>
                <a:spcPct val="92000"/>
              </a:lnSpc>
              <a:spcAft>
                <a:spcPts val="240"/>
              </a:spcAft>
            </a:pPr>
            <a:r>
              <a:rPr sz="650" b="0" i="0">
                <a:solidFill>
                  <a:srgbClr val="1F2937"/>
                </a:solidFill>
                <a:latin typeface="Calibri"/>
              </a:rPr>
              <a:t>–  The dashboard, eight working tabs</a:t>
            </a:r>
          </a:p>
          <a:p>
            <a:pPr algn="l">
              <a:lnSpc>
                <a:spcPct val="92000"/>
              </a:lnSpc>
              <a:spcAft>
                <a:spcPts val="240"/>
              </a:spcAft>
            </a:pPr>
            <a:r>
              <a:rPr sz="650" b="0" i="0">
                <a:solidFill>
                  <a:srgbClr val="1F2937"/>
                </a:solidFill>
                <a:latin typeface="Calibri"/>
              </a:rPr>
              <a:t>–  All four quality gates passing</a:t>
            </a:r>
          </a:p>
          <a:p>
            <a:pPr algn="l">
              <a:lnSpc>
                <a:spcPct val="92000"/>
              </a:lnSpc>
              <a:spcAft>
                <a:spcPts val="240"/>
              </a:spcAft>
            </a:pPr>
            <a:r>
              <a:rPr sz="650" b="0" i="0">
                <a:solidFill>
                  <a:srgbClr val="1F2937"/>
                </a:solidFill>
                <a:latin typeface="Calibri"/>
              </a:rPr>
              <a:t>–  The independent Delft3D cross-check</a:t>
            </a:r>
          </a:p>
          <a:p>
            <a:pPr algn="l">
              <a:lnSpc>
                <a:spcPct val="92000"/>
              </a:lnSpc>
              <a:spcAft>
                <a:spcPts val="240"/>
              </a:spcAft>
            </a:pPr>
            <a:r>
              <a:rPr sz="650" b="0" i="0">
                <a:solidFill>
                  <a:srgbClr val="1F2937"/>
                </a:solidFill>
                <a:latin typeface="Calibri"/>
              </a:rPr>
              <a:t>–  Thirty-member uncertainty sweep</a:t>
            </a:r>
          </a:p>
          <a:p>
            <a:pPr algn="l">
              <a:lnSpc>
                <a:spcPct val="92000"/>
              </a:lnSpc>
              <a:spcAft>
                <a:spcPts val="240"/>
              </a:spcAft>
            </a:pPr>
            <a:r>
              <a:rPr sz="650" b="0" i="0">
                <a:solidFill>
                  <a:srgbClr val="1F2937"/>
                </a:solidFill>
                <a:latin typeface="Calibri"/>
              </a:rPr>
              <a:t>–  Offline-first caching</a:t>
            </a:r>
          </a:p>
          <a:p>
            <a:pPr algn="l">
              <a:lnSpc>
                <a:spcPct val="92000"/>
              </a:lnSpc>
              <a:spcAft>
                <a:spcPts val="240"/>
              </a:spcAft>
            </a:pPr>
            <a:r>
              <a:rPr sz="650" b="0" i="0">
                <a:solidFill>
                  <a:srgbClr val="1F2937"/>
                </a:solidFill>
                <a:latin typeface="Calibri"/>
              </a:rPr>
              <a:t>–  Single-command container</a:t>
            </a:r>
          </a:p>
        </p:txBody>
      </p:sp>
      <p:sp>
        <p:nvSpPr>
          <p:cNvPr id="33" name="Rounded Rectangle 32"/>
          <p:cNvSpPr/>
          <p:nvPr/>
        </p:nvSpPr>
        <p:spPr>
          <a:xfrm>
            <a:off x="8705088" y="3291840"/>
            <a:ext cx="3282696" cy="1280160"/>
          </a:xfrm>
          <a:prstGeom prst="roundRect">
            <a:avLst>
              <a:gd name="adj" fmla="val 6000"/>
            </a:avLst>
          </a:prstGeom>
          <a:solidFill>
            <a:srgbClr val="FDF7F0"/>
          </a:solidFill>
          <a:ln w="1524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34" name="Rounded Rectangle 33"/>
          <p:cNvSpPr/>
          <p:nvPr/>
        </p:nvSpPr>
        <p:spPr>
          <a:xfrm>
            <a:off x="8814816" y="3191256"/>
            <a:ext cx="731520" cy="219456"/>
          </a:xfrm>
          <a:prstGeom prst="roundRect">
            <a:avLst>
              <a:gd name="adj" fmla="val 3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92000"/>
              </a:lnSpc>
              <a:spcAft>
                <a:spcPts val="100"/>
              </a:spcAft>
            </a:pPr>
            <a:r>
              <a:rPr sz="760" b="1" i="0">
                <a:solidFill>
                  <a:srgbClr val="FFFFFF"/>
                </a:solidFill>
                <a:latin typeface="Calibri"/>
              </a:rPr>
              <a:t>NOW</a:t>
            </a:r>
          </a:p>
        </p:txBody>
      </p:sp>
      <p:sp>
        <p:nvSpPr>
          <p:cNvPr id="35" name="TextBox 34"/>
          <p:cNvSpPr txBox="1"/>
          <p:nvPr/>
        </p:nvSpPr>
        <p:spPr>
          <a:xfrm>
            <a:off x="8833104" y="3474720"/>
            <a:ext cx="3035808" cy="1024127"/>
          </a:xfrm>
          <a:prstGeom prst="rect">
            <a:avLst/>
          </a:prstGeom>
          <a:noFill/>
        </p:spPr>
        <p:txBody>
          <a:bodyPr wrap="square" anchor="t" lIns="18288" rIns="18288" tIns="0" bIns="0">
            <a:spAutoFit/>
          </a:bodyPr>
          <a:lstStyle/>
          <a:p>
            <a:pPr algn="l">
              <a:lnSpc>
                <a:spcPct val="92000"/>
              </a:lnSpc>
              <a:spcAft>
                <a:spcPts val="240"/>
              </a:spcAft>
            </a:pPr>
            <a:r>
              <a:rPr sz="650" b="0" i="0">
                <a:solidFill>
                  <a:srgbClr val="1F2937"/>
                </a:solidFill>
                <a:latin typeface="Calibri"/>
              </a:rPr>
              <a:t>–  Impact analysis, final pass</a:t>
            </a:r>
          </a:p>
          <a:p>
            <a:pPr algn="l">
              <a:lnSpc>
                <a:spcPct val="92000"/>
              </a:lnSpc>
              <a:spcAft>
                <a:spcPts val="240"/>
              </a:spcAft>
            </a:pPr>
            <a:r>
              <a:rPr sz="650" b="0" i="0">
                <a:solidFill>
                  <a:srgbClr val="1F2937"/>
                </a:solidFill>
                <a:latin typeface="Calibri"/>
              </a:rPr>
              <a:t>–  Near-dam 3D integration polish</a:t>
            </a:r>
          </a:p>
          <a:p>
            <a:pPr algn="l">
              <a:lnSpc>
                <a:spcPct val="92000"/>
              </a:lnSpc>
              <a:spcAft>
                <a:spcPts val="240"/>
              </a:spcAft>
            </a:pPr>
            <a:r>
              <a:rPr sz="650" b="0" i="0">
                <a:solidFill>
                  <a:srgbClr val="1F2937"/>
                </a:solidFill>
                <a:latin typeface="Calibri"/>
              </a:rPr>
              <a:t>–  Demo-day rehearsal and fallbacks</a:t>
            </a:r>
          </a:p>
        </p:txBody>
      </p:sp>
      <p:sp>
        <p:nvSpPr>
          <p:cNvPr id="36" name="Rounded Rectangle 35"/>
          <p:cNvSpPr/>
          <p:nvPr/>
        </p:nvSpPr>
        <p:spPr>
          <a:xfrm>
            <a:off x="8705088" y="4700016"/>
            <a:ext cx="3282696" cy="1170432"/>
          </a:xfrm>
          <a:prstGeom prst="roundRect">
            <a:avLst>
              <a:gd name="adj" fmla="val 6000"/>
            </a:avLst>
          </a:prstGeom>
          <a:solidFill>
            <a:srgbClr val="F0F8FC"/>
          </a:solidFill>
          <a:ln w="1524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37" name="Rounded Rectangle 36"/>
          <p:cNvSpPr/>
          <p:nvPr/>
        </p:nvSpPr>
        <p:spPr>
          <a:xfrm>
            <a:off x="8814816" y="4599431"/>
            <a:ext cx="731520" cy="219456"/>
          </a:xfrm>
          <a:prstGeom prst="roundRect">
            <a:avLst>
              <a:gd name="adj" fmla="val 3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92000"/>
              </a:lnSpc>
              <a:spcAft>
                <a:spcPts val="100"/>
              </a:spcAft>
            </a:pPr>
            <a:r>
              <a:rPr sz="760" b="1" i="0">
                <a:solidFill>
                  <a:srgbClr val="FFFFFF"/>
                </a:solidFill>
                <a:latin typeface="Calibri"/>
              </a:rPr>
              <a:t>NEXT</a:t>
            </a:r>
          </a:p>
        </p:txBody>
      </p:sp>
      <p:sp>
        <p:nvSpPr>
          <p:cNvPr id="38" name="TextBox 37"/>
          <p:cNvSpPr txBox="1"/>
          <p:nvPr/>
        </p:nvSpPr>
        <p:spPr>
          <a:xfrm>
            <a:off x="8833104" y="4882896"/>
            <a:ext cx="3035808" cy="914400"/>
          </a:xfrm>
          <a:prstGeom prst="rect">
            <a:avLst/>
          </a:prstGeom>
          <a:noFill/>
        </p:spPr>
        <p:txBody>
          <a:bodyPr wrap="square" anchor="t" lIns="18288" rIns="18288" tIns="0" bIns="0">
            <a:spAutoFit/>
          </a:bodyPr>
          <a:lstStyle/>
          <a:p>
            <a:pPr algn="l">
              <a:lnSpc>
                <a:spcPct val="92000"/>
              </a:lnSpc>
              <a:spcAft>
                <a:spcPts val="240"/>
              </a:spcAft>
            </a:pPr>
            <a:r>
              <a:rPr sz="650" b="0" i="0">
                <a:solidFill>
                  <a:srgbClr val="1F2937"/>
                </a:solidFill>
                <a:latin typeface="Calibri"/>
              </a:rPr>
              <a:t>–  Screen all five thousand registered dams</a:t>
            </a:r>
          </a:p>
          <a:p>
            <a:pPr algn="l">
              <a:lnSpc>
                <a:spcPct val="92000"/>
              </a:lnSpc>
              <a:spcAft>
                <a:spcPts val="240"/>
              </a:spcAft>
            </a:pPr>
            <a:r>
              <a:rPr sz="650" b="0" i="0">
                <a:solidFill>
                  <a:srgbClr val="1F2937"/>
                </a:solidFill>
                <a:latin typeface="Calibri"/>
              </a:rPr>
              <a:t>–  Hand results to district authorities directly</a:t>
            </a:r>
          </a:p>
          <a:p>
            <a:pPr algn="l">
              <a:lnSpc>
                <a:spcPct val="92000"/>
              </a:lnSpc>
              <a:spcAft>
                <a:spcPts val="240"/>
              </a:spcAft>
            </a:pPr>
            <a:r>
              <a:rPr sz="650" b="0" i="0">
                <a:solidFill>
                  <a:srgbClr val="1F2937"/>
                </a:solidFill>
                <a:latin typeface="Calibri"/>
              </a:rPr>
              <a:t>–  Alerts to the phones of people downstream</a:t>
            </a:r>
          </a:p>
          <a:p>
            <a:pPr algn="l">
              <a:lnSpc>
                <a:spcPct val="92000"/>
              </a:lnSpc>
              <a:spcAft>
                <a:spcPts val="240"/>
              </a:spcAft>
            </a:pPr>
            <a:r>
              <a:rPr sz="650" b="0" i="0">
                <a:solidFill>
                  <a:srgbClr val="1F2937"/>
                </a:solidFill>
                <a:latin typeface="Calibri"/>
              </a:rPr>
              <a:t>–  A hosted service for states without hardware</a:t>
            </a:r>
          </a:p>
          <a:p>
            <a:pPr algn="l">
              <a:lnSpc>
                <a:spcPct val="92000"/>
              </a:lnSpc>
              <a:spcAft>
                <a:spcPts val="240"/>
              </a:spcAft>
            </a:pPr>
            <a:r>
              <a:rPr sz="650" b="0" i="0">
                <a:solidFill>
                  <a:srgbClr val="1F2937"/>
                </a:solidFill>
                <a:latin typeface="Calibri"/>
              </a:rPr>
              <a:t>–  Feed Tier-2 detailed studies where warranted</a:t>
            </a:r>
          </a:p>
        </p:txBody>
      </p:sp>
      <p:sp>
        <p:nvSpPr>
          <p:cNvPr id="39" name="Rounded Rectangle 38"/>
          <p:cNvSpPr/>
          <p:nvPr/>
        </p:nvSpPr>
        <p:spPr>
          <a:xfrm rot="21582000">
            <a:off x="3712463" y="5266944"/>
            <a:ext cx="4754880" cy="1115568"/>
          </a:xfrm>
          <a:prstGeom prst="roundRect">
            <a:avLst>
              <a:gd name="adj" fmla="val 14000"/>
            </a:avLst>
          </a:prstGeom>
          <a:solidFill>
            <a:srgbClr val="FBF1E6"/>
          </a:solidFill>
          <a:ln w="1143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l">
              <a:lnSpc>
                <a:spcPct val="92000"/>
              </a:lnSpc>
              <a:spcAft>
                <a:spcPts val="100"/>
              </a:spcAft>
            </a:pPr>
            <a:r>
              <a:rPr sz="680" b="0" i="1">
                <a:solidFill>
                  <a:srgbClr val="824704"/>
                </a:solidFill>
                <a:latin typeface="Calibri"/>
              </a:rPr>
              <a:t>The framing matters as much as the software. FloodView is a first-pass screening instrument: it tells a state which of its dams deserve a full surveyed study, and in what order. It does not replace that study, and the reports say so on their own face rather than in a footnote.</a:t>
            </a:r>
          </a:p>
        </p:txBody>
      </p:sp>
      <p:sp>
        <p:nvSpPr>
          <p:cNvPr id="40" name="Rounded Rectangle 39"/>
          <p:cNvSpPr/>
          <p:nvPr/>
        </p:nvSpPr>
        <p:spPr>
          <a:xfrm rot="24000">
            <a:off x="201168" y="5779008"/>
            <a:ext cx="3291840" cy="603504"/>
          </a:xfrm>
          <a:prstGeom prst="roundRect">
            <a:avLst>
              <a:gd name="adj" fmla="val 14000"/>
            </a:avLst>
          </a:prstGeom>
          <a:solidFill>
            <a:srgbClr val="E6F3F9"/>
          </a:solidFill>
          <a:ln w="1143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l">
              <a:lnSpc>
                <a:spcPct val="92000"/>
              </a:lnSpc>
              <a:spcAft>
                <a:spcPts val="100"/>
              </a:spcAft>
            </a:pPr>
            <a:r>
              <a:rPr sz="660" b="0" i="1">
                <a:solidFill>
                  <a:srgbClr val="014F77"/>
                </a:solidFill>
                <a:latin typeface="Calibri"/>
              </a:rPr>
              <a:t>One laptop is enough to run all of this. Nothing here assumes a data centre, a licence server or a working connection.</a:t>
            </a:r>
          </a:p>
        </p:txBody>
      </p:sp>
      <p:sp>
        <p:nvSpPr>
          <p:cNvPr id="41" name="Rounded Rectangle 40"/>
          <p:cNvSpPr/>
          <p:nvPr/>
        </p:nvSpPr>
        <p:spPr>
          <a:xfrm>
            <a:off x="8705088" y="5998464"/>
            <a:ext cx="3282696" cy="384048"/>
          </a:xfrm>
          <a:prstGeom prst="roundRect">
            <a:avLst>
              <a:gd name="adj" fmla="val 14000"/>
            </a:avLst>
          </a:prstGeom>
          <a:solidFill>
            <a:srgbClr val="EDEEF0"/>
          </a:solidFill>
          <a:ln w="1143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ctr">
              <a:lnSpc>
                <a:spcPct val="92000"/>
              </a:lnSpc>
              <a:spcAft>
                <a:spcPts val="100"/>
              </a:spcAft>
            </a:pPr>
            <a:r>
              <a:rPr sz="620" b="0" i="1">
                <a:solidFill>
                  <a:srgbClr val="2B333F"/>
                </a:solidFill>
                <a:latin typeface="Calibri"/>
              </a:rPr>
              <a:t>None of the last block has been started. It is listed so the boundary between what runs and what is planned stays visible.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