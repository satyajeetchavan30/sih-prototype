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Different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coverage against the tools used for dam-break screening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421624" y="1115568"/>
            <a:ext cx="1078992" cy="4544568"/>
          </a:xfrm>
          <a:prstGeom prst="roundRect">
            <a:avLst>
              <a:gd name="adj" fmla="val 2542"/>
            </a:avLst>
          </a:prstGeom>
          <a:solidFill>
            <a:srgbClr val="EAF1F6"/>
          </a:solidFill>
          <a:ln w="12700">
            <a:solidFill>
              <a:srgbClr val="C9D8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29000" y="11887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Delft3D</a:t>
            </a:r>
            <a:endParaRPr lang="en-US" sz="9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434840" y="11887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HEC-RAS</a:t>
            </a:r>
            <a:endParaRPr lang="en-US" sz="9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40680" y="11887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DualSP</a:t>
            </a:r>
            <a:endParaRPr lang="en-US" sz="9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Hysics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1887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GeoClaw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11887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ANUGA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458200" y="11887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050" b="1" dirty="0">
                <a:solidFill>
                  <a:srgbClr val="14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FloodView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609344"/>
            <a:ext cx="8961120" cy="0"/>
          </a:xfrm>
          <a:prstGeom prst="line">
            <a:avLst/>
          </a:prstGeom>
          <a:noFill/>
          <a:ln w="15875">
            <a:solidFill>
              <a:srgbClr val="9AA7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1664208"/>
            <a:ext cx="2788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breach physics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5052" y="1757934"/>
            <a:ext cx="173736" cy="173736"/>
          </a:xfrm>
          <a:prstGeom prst="ellipse">
            <a:avLst/>
          </a:prstGeom>
          <a:solidFill>
            <a:srgbClr val="86B6EF"/>
          </a:solidFill>
          <a:ln w="12700">
            <a:solidFill>
              <a:srgbClr val="5E93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50892" y="1757934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29300" y="1730502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62572" y="1757934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8412" y="1757934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46820" y="1730502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043684"/>
            <a:ext cx="8961120" cy="0"/>
          </a:xfrm>
          <a:prstGeom prst="line">
            <a:avLst/>
          </a:prstGeom>
          <a:noFill/>
          <a:ln w="9525">
            <a:solidFill>
              <a:srgbClr val="E1E0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2061972"/>
            <a:ext cx="2788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km far-field range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17620" y="2128266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3460" y="2128266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6732" y="2155698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5140" y="2128266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40980" y="2128266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46820" y="2128266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2441448"/>
            <a:ext cx="8961120" cy="0"/>
          </a:xfrm>
          <a:prstGeom prst="line">
            <a:avLst/>
          </a:prstGeom>
          <a:noFill/>
          <a:ln w="9525">
            <a:solidFill>
              <a:srgbClr val="E1E0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" y="2459736"/>
            <a:ext cx="2788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+ mesh setup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845052" y="2553462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50892" y="2553462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6732" y="2553462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62572" y="2553462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8412" y="2553462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46820" y="2526030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2839212"/>
            <a:ext cx="8961120" cy="0"/>
          </a:xfrm>
          <a:prstGeom prst="line">
            <a:avLst/>
          </a:prstGeom>
          <a:noFill/>
          <a:ln w="9525">
            <a:solidFill>
              <a:srgbClr val="E1E0D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2920" y="2857500"/>
            <a:ext cx="2788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ensemble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845052" y="2951226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50892" y="2951226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56732" y="2951226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62572" y="2951226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68412" y="2951226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46820" y="2923794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" y="3236976"/>
            <a:ext cx="8961120" cy="0"/>
          </a:xfrm>
          <a:prstGeom prst="line">
            <a:avLst/>
          </a:prstGeom>
          <a:noFill/>
          <a:ln w="9525">
            <a:solidFill>
              <a:srgbClr val="E1E0D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02920" y="3255264"/>
            <a:ext cx="2788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Landslide-dam blockage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845052" y="3348990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50892" y="3348990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56732" y="3348990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62572" y="3348990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68412" y="3348990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46820" y="3321558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2920" y="3634740"/>
            <a:ext cx="8961120" cy="0"/>
          </a:xfrm>
          <a:prstGeom prst="line">
            <a:avLst/>
          </a:prstGeom>
          <a:noFill/>
          <a:ln w="9525">
            <a:solidFill>
              <a:srgbClr val="E1E0D9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02920" y="3653028"/>
            <a:ext cx="2788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terrain (DEM) revision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845052" y="3746754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50892" y="3746754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856732" y="3746754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62572" y="3746754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68412" y="3746754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46820" y="3719322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2920" y="4032504"/>
            <a:ext cx="8961120" cy="0"/>
          </a:xfrm>
          <a:prstGeom prst="line">
            <a:avLst/>
          </a:prstGeom>
          <a:noFill/>
          <a:ln w="9525">
            <a:solidFill>
              <a:srgbClr val="E1E0D9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02920" y="4050792"/>
            <a:ext cx="2788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cross-check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3845052" y="4144518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50892" y="4144518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856732" y="4144518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862572" y="4144518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8412" y="4144518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846820" y="4117086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02920" y="4430268"/>
            <a:ext cx="8961120" cy="0"/>
          </a:xfrm>
          <a:prstGeom prst="line">
            <a:avLst/>
          </a:prstGeom>
          <a:noFill/>
          <a:ln w="9525">
            <a:solidFill>
              <a:srgbClr val="E1E0D9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02920" y="4448556"/>
            <a:ext cx="2788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+ REST API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3845052" y="4542282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850892" y="4542282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856732" y="4542282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862572" y="4542282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868412" y="4542282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846820" y="4514850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2920" y="4828032"/>
            <a:ext cx="8961120" cy="0"/>
          </a:xfrm>
          <a:prstGeom prst="line">
            <a:avLst/>
          </a:prstGeom>
          <a:noFill/>
          <a:ln w="9525">
            <a:solidFill>
              <a:srgbClr val="E1E0D9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02920" y="4846320"/>
            <a:ext cx="2788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operation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3845052" y="4940046"/>
            <a:ext cx="173736" cy="173736"/>
          </a:xfrm>
          <a:prstGeom prst="ellipse">
            <a:avLst/>
          </a:prstGeom>
          <a:solidFill>
            <a:srgbClr val="86B6EF"/>
          </a:solidFill>
          <a:ln w="12700">
            <a:solidFill>
              <a:srgbClr val="5E93C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850892" y="4940046"/>
            <a:ext cx="173736" cy="173736"/>
          </a:xfrm>
          <a:prstGeom prst="ellipse">
            <a:avLst/>
          </a:prstGeom>
          <a:solidFill>
            <a:srgbClr val="86B6EF"/>
          </a:solidFill>
          <a:ln w="12700">
            <a:solidFill>
              <a:srgbClr val="5E93C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56732" y="4940046"/>
            <a:ext cx="173736" cy="173736"/>
          </a:xfrm>
          <a:prstGeom prst="ellipse">
            <a:avLst/>
          </a:prstGeom>
          <a:solidFill>
            <a:srgbClr val="86B6EF"/>
          </a:solidFill>
          <a:ln w="12700">
            <a:solidFill>
              <a:srgbClr val="5E93C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862572" y="4940046"/>
            <a:ext cx="173736" cy="173736"/>
          </a:xfrm>
          <a:prstGeom prst="ellipse">
            <a:avLst/>
          </a:prstGeom>
          <a:solidFill>
            <a:srgbClr val="86B6EF"/>
          </a:solidFill>
          <a:ln w="12700">
            <a:solidFill>
              <a:srgbClr val="5E93C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868412" y="4940046"/>
            <a:ext cx="173736" cy="173736"/>
          </a:xfrm>
          <a:prstGeom prst="ellipse">
            <a:avLst/>
          </a:prstGeom>
          <a:solidFill>
            <a:srgbClr val="86B6EF"/>
          </a:solidFill>
          <a:ln w="12700">
            <a:solidFill>
              <a:srgbClr val="5E93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846820" y="4912614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02920" y="5225796"/>
            <a:ext cx="8961120" cy="0"/>
          </a:xfrm>
          <a:prstGeom prst="line">
            <a:avLst/>
          </a:prstGeom>
          <a:noFill/>
          <a:ln w="9525">
            <a:solidFill>
              <a:srgbClr val="E1E0D9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502920" y="5244084"/>
            <a:ext cx="2788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assessment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3845052" y="5337810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850892" y="5337810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56732" y="5337810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862572" y="5337810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868412" y="5337810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846820" y="5310378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02920" y="5907024"/>
            <a:ext cx="192024" cy="192024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758952" y="58613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capability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2194560" y="5907024"/>
            <a:ext cx="169164" cy="169164"/>
          </a:xfrm>
          <a:prstGeom prst="ellipse">
            <a:avLst/>
          </a:prstGeom>
          <a:solidFill>
            <a:srgbClr val="86B6EF"/>
          </a:solidFill>
          <a:ln w="15875">
            <a:solidFill>
              <a:srgbClr val="5E93CC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2450592" y="58613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or manual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3886200" y="5907024"/>
            <a:ext cx="169164" cy="16916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4142232" y="58613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9875520" y="1645920"/>
            <a:ext cx="1810512" cy="2331720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 w="25400">
            <a:solidFill>
              <a:srgbClr val="1B2A38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10058400" y="1792224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10</a:t>
            </a:r>
            <a:endParaRPr lang="en-US" sz="3400" dirty="0"/>
          </a:p>
        </p:txBody>
      </p:sp>
      <p:sp>
        <p:nvSpPr>
          <p:cNvPr id="99" name="Text 97"/>
          <p:cNvSpPr txBox="1"/>
          <p:nvPr/>
        </p:nvSpPr>
        <p:spPr>
          <a:xfrm>
            <a:off x="10058400" y="2395728"/>
            <a:ext cx="1444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on this list exist in no other screening tool — automated setup, uncertainty ensembles, landslide-dam blockage, live terrain revision, satellite cross-check and impact assessment.</a:t>
            </a:r>
            <a:endParaRPr lang="en-US" sz="1050" dirty="0"/>
          </a:p>
        </p:txBody>
      </p:sp>
      <p:sp>
        <p:nvSpPr>
          <p:cNvPr id="100" name="Text 98"/>
          <p:cNvSpPr txBox="1"/>
          <p:nvPr/>
        </p:nvSpPr>
        <p:spPr>
          <a:xfrm>
            <a:off x="502920" y="6272784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assessed on published capability of each tool; partial = achievable only with manual work or external tooling.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Different — Capability Matrix</dc:title>
  <dc:subject>PptxGenJS Presentation</dc:subject>
  <dc:creator>PptxGenJS</dc:creator>
  <cp:lastModifiedBy>PptxGenJS</cp:lastModifiedBy>
  <cp:revision>1</cp:revision>
  <dcterms:created xsi:type="dcterms:W3CDTF">2026-09-04T08:58:55Z</dcterms:created>
  <dcterms:modified xsi:type="dcterms:W3CDTF">2026-09-04T08:58:55Z</dcterms:modified>
</cp:coreProperties>
</file>